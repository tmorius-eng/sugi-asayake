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7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7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Relationship Id="rId7" Type="http://schemas.openxmlformats.org/officeDocument/2006/relationships/image" Target="../media/image2.png"/><Relationship Id="rId8" Type="http://schemas.openxmlformats.org/officeDocument/2006/relationships/image" Target="../media/image7.png"/><Relationship Id="rId9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Relationship Id="rId7" Type="http://schemas.openxmlformats.org/officeDocument/2006/relationships/image" Target="../media/image2.png"/><Relationship Id="rId8" Type="http://schemas.openxmlformats.org/officeDocument/2006/relationships/image" Target="../media/image7.png"/><Relationship Id="rId9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low"/>
          <p:cNvSpPr/>
          <p:nvPr/>
        </p:nvSpPr>
        <p:spPr>
          <a:xfrm>
            <a:off x="7680960" y="3566160"/>
            <a:ext cx="4206240" cy="4206240"/>
          </a:xfrm>
          <a:prstGeom prst="ellipse">
            <a:avLst/>
          </a:prstGeom>
          <a:solidFill>
            <a:srgbClr val="3A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216"/>
              </a:gs>
              <a:gs pos="100000">
                <a:srgbClr val="2A1418"/>
              </a:gs>
            </a:gsLst>
            <a:lin scaled="0" ang="198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un"/>
          <p:cNvSpPr/>
          <p:nvPr/>
        </p:nvSpPr>
        <p:spPr>
          <a:xfrm>
            <a:off x="8138160" y="4023360"/>
            <a:ext cx="3291840" cy="329184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1143000" dist="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ule"/>
          <p:cNvSpPr/>
          <p:nvPr/>
        </p:nvSpPr>
        <p:spPr>
          <a:xfrm>
            <a:off x="0" y="598932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kicker"/>
          <p:cNvSpPr txBox="1"/>
          <p:nvPr/>
        </p:nvSpPr>
        <p:spPr>
          <a:xfrm>
            <a:off x="-11978640" y="1737360"/>
            <a:ext cx="749807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A41E"/>
                </a:solidFill>
                <a:latin typeface="Segoe UI"/>
              </a:rPr>
              <a:t>SUGI ASAYAKE ONLINE STORE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-11978640" y="2148840"/>
            <a:ext cx="768096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Yu Gothic UI"/>
              </a:rPr>
              <a:t>日本品質を、</a:t>
            </a:r>
          </a:p>
          <a:p>
            <a:pPr algn="l"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Yu Gothic UI"/>
              </a:rPr>
              <a:t>モンゴルのすべての家庭へ。</a:t>
            </a:r>
          </a:p>
        </p:txBody>
      </p:sp>
      <p:sp>
        <p:nvSpPr>
          <p:cNvPr id="8" name="sub"/>
          <p:cNvSpPr txBox="1"/>
          <p:nvPr/>
        </p:nvSpPr>
        <p:spPr>
          <a:xfrm>
            <a:off x="-11978640" y="4069080"/>
            <a:ext cx="7315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9AA3AD"/>
                </a:solidFill>
                <a:latin typeface="Segoe UI"/>
              </a:rPr>
              <a:t>Япон чанарыг Монголын гэр бүл бүрт — онлайн дэлгүүрийн танилцуулга</a:t>
            </a:r>
          </a:p>
        </p:txBody>
      </p:sp>
      <p:sp>
        <p:nvSpPr>
          <p:cNvPr id="9" name="meta"/>
          <p:cNvSpPr txBox="1"/>
          <p:nvPr/>
        </p:nvSpPr>
        <p:spPr>
          <a:xfrm>
            <a:off x="-11978640" y="5029200"/>
            <a:ext cx="73152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Yu Gothic UI"/>
              </a:rPr>
              <a:t>2026年9月 · 事業説明資料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3AD"/>
                </a:solidFill>
                <a:latin typeface="Segoe UI"/>
              </a:rPr>
              <a:t>Батмагнай Мөнхтөвшин · SUGI ASAYAKE Mongolia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low"/>
          <p:cNvSpPr/>
          <p:nvPr/>
        </p:nvSpPr>
        <p:spPr>
          <a:xfrm>
            <a:off x="7680960" y="594360"/>
            <a:ext cx="4206240" cy="4206240"/>
          </a:xfrm>
          <a:prstGeom prst="ellipse">
            <a:avLst/>
          </a:prstGeom>
          <a:solidFill>
            <a:srgbClr val="3A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216"/>
              </a:gs>
              <a:gs pos="100000">
                <a:srgbClr val="2A1418"/>
              </a:gs>
            </a:gsLst>
            <a:lin scaled="0" ang="198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un"/>
          <p:cNvSpPr/>
          <p:nvPr/>
        </p:nvSpPr>
        <p:spPr>
          <a:xfrm>
            <a:off x="8138160" y="1051560"/>
            <a:ext cx="3291840" cy="329184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1143000" dist="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ule"/>
          <p:cNvSpPr/>
          <p:nvPr/>
        </p:nvSpPr>
        <p:spPr>
          <a:xfrm>
            <a:off x="0" y="598932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kicker"/>
          <p:cNvSpPr txBox="1"/>
          <p:nvPr/>
        </p:nvSpPr>
        <p:spPr>
          <a:xfrm>
            <a:off x="822960" y="1737360"/>
            <a:ext cx="749807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A41E"/>
                </a:solidFill>
                <a:latin typeface="Segoe UI"/>
              </a:rPr>
              <a:t>SUGI ASAYAKE ONLINE STORE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822960" y="2148840"/>
            <a:ext cx="768096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Yu Gothic UI"/>
              </a:rPr>
              <a:t>日本品質を、</a:t>
            </a:r>
          </a:p>
          <a:p>
            <a:pPr algn="l"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Yu Gothic UI"/>
              </a:rPr>
              <a:t>モンゴルのすべての家庭へ。</a:t>
            </a:r>
          </a:p>
        </p:txBody>
      </p:sp>
      <p:sp>
        <p:nvSpPr>
          <p:cNvPr id="8" name="sub"/>
          <p:cNvSpPr txBox="1"/>
          <p:nvPr/>
        </p:nvSpPr>
        <p:spPr>
          <a:xfrm>
            <a:off x="822960" y="4069080"/>
            <a:ext cx="7315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9AA3AD"/>
                </a:solidFill>
                <a:latin typeface="Segoe UI"/>
              </a:rPr>
              <a:t>Япон чанарыг Монголын гэр бүл бүрт — онлайн дэлгүүрийн танилцуулга</a:t>
            </a:r>
          </a:p>
        </p:txBody>
      </p:sp>
      <p:sp>
        <p:nvSpPr>
          <p:cNvPr id="9" name="meta"/>
          <p:cNvSpPr txBox="1"/>
          <p:nvPr/>
        </p:nvSpPr>
        <p:spPr>
          <a:xfrm>
            <a:off x="822960" y="5029200"/>
            <a:ext cx="73152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Yu Gothic UI"/>
              </a:rPr>
              <a:t>2026年9月 · 事業説明資料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3AD"/>
                </a:solidFill>
                <a:latin typeface="Segoe UI"/>
              </a:rPr>
              <a:t>Батмагнай Мөнхтөвшин · SUGI ASAYAKE Mongolia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216"/>
              </a:gs>
              <a:gs pos="100000">
                <a:srgbClr val="1B202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96926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Yu Gothic UI"/>
              </a:rPr>
              <a:t>会社と事業機会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AD"/>
                </a:solidFill>
                <a:latin typeface="Segoe UI"/>
              </a:rPr>
              <a:t>Компани ба боломж</a:t>
            </a:r>
          </a:p>
        </p:txBody>
      </p:sp>
      <p:sp>
        <p:nvSpPr>
          <p:cNvPr id="6" name="hdr-n"/>
          <p:cNvSpPr txBox="1"/>
          <p:nvPr/>
        </p:nvSpPr>
        <p:spPr>
          <a:xfrm>
            <a:off x="10424160" y="502920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02</a:t>
            </a:r>
          </a:p>
        </p:txBody>
      </p:sp>
      <p:sp>
        <p:nvSpPr>
          <p:cNvPr id="7" name="hdr-foot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3AD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8" name="intro"/>
          <p:cNvSpPr txBox="1"/>
          <p:nvPr/>
        </p:nvSpPr>
        <p:spPr>
          <a:xfrm>
            <a:off x="777240" y="14173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AA3AD"/>
                </a:solidFill>
                <a:latin typeface="Yu Gothic UI"/>
              </a:rPr>
              <a:t>SUGI ASAYAKE は「日本の日常品質」をモンゴルに届けるブランド。ECはその次の成長段階。</a:t>
            </a:r>
          </a:p>
        </p:txBody>
      </p:sp>
      <p:sp>
        <p:nvSpPr>
          <p:cNvPr id="9" name="card0-sheet"/>
          <p:cNvSpPr/>
          <p:nvPr/>
        </p:nvSpPr>
        <p:spPr>
          <a:xfrm>
            <a:off x="548640" y="1874519"/>
            <a:ext cx="3515258" cy="411480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>
            <a:noFill/>
          </a:ln>
          <a:effectLst>
            <a:outerShdw blurRad="457200" dist="127000" dir="54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0-tab"/>
          <p:cNvSpPr/>
          <p:nvPr/>
        </p:nvSpPr>
        <p:spPr>
          <a:xfrm>
            <a:off x="548640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0-num"/>
          <p:cNvSpPr txBox="1"/>
          <p:nvPr/>
        </p:nvSpPr>
        <p:spPr>
          <a:xfrm>
            <a:off x="548640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card0-icon-bg"/>
          <p:cNvSpPr/>
          <p:nvPr/>
        </p:nvSpPr>
        <p:spPr>
          <a:xfrm>
            <a:off x="2966618" y="2130551"/>
            <a:ext cx="786384" cy="7863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card0-icon-ic" descr="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622" y="2303555"/>
            <a:ext cx="440376" cy="440376"/>
          </a:xfrm>
          <a:prstGeom prst="rect">
            <a:avLst/>
          </a:prstGeom>
        </p:spPr>
      </p:pic>
      <p:sp>
        <p:nvSpPr>
          <p:cNvPr id="14" name="card0-title"/>
          <p:cNvSpPr txBox="1"/>
          <p:nvPr/>
        </p:nvSpPr>
        <p:spPr>
          <a:xfrm>
            <a:off x="822960" y="3063239"/>
            <a:ext cx="296661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0F1216"/>
                </a:solidFill>
                <a:latin typeface="Yu Gothic UI"/>
              </a:rPr>
              <a:t>日本のドラッグストアの正規子会社</a:t>
            </a:r>
          </a:p>
        </p:txBody>
      </p:sp>
      <p:sp>
        <p:nvSpPr>
          <p:cNvPr id="15" name="card0-body"/>
          <p:cNvSpPr txBox="1"/>
          <p:nvPr/>
        </p:nvSpPr>
        <p:spPr>
          <a:xfrm>
            <a:off x="822960" y="3657599"/>
            <a:ext cx="2966618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B2027"/>
                </a:solidFill>
                <a:latin typeface="Yu Gothic UI"/>
              </a:rPr>
              <a:t>SUGI Drug Store Japan のモンゴル子会社。ウランバートル市内に4店舗を展開し、化粧品・医薬部外品・日用品・食品を正規ルートで輸入販売。</a:t>
            </a:r>
          </a:p>
        </p:txBody>
      </p:sp>
      <p:sp>
        <p:nvSpPr>
          <p:cNvPr id="16" name="card0-rule"/>
          <p:cNvSpPr/>
          <p:nvPr/>
        </p:nvSpPr>
        <p:spPr>
          <a:xfrm>
            <a:off x="822960" y="5120639"/>
            <a:ext cx="457200" cy="3657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0-mn"/>
          <p:cNvSpPr txBox="1"/>
          <p:nvPr/>
        </p:nvSpPr>
        <p:spPr>
          <a:xfrm>
            <a:off x="822960" y="5212079"/>
            <a:ext cx="296661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168"/>
                </a:solidFill>
                <a:latin typeface="Segoe UI"/>
              </a:rPr>
              <a:t>SUGI Drug Store Japan-ийн охин компани, УБ-д 4 салбар, албан ёсны импорт.</a:t>
            </a:r>
          </a:p>
        </p:txBody>
      </p:sp>
      <p:sp>
        <p:nvSpPr>
          <p:cNvPr id="18" name="card1-sheet"/>
          <p:cNvSpPr/>
          <p:nvPr/>
        </p:nvSpPr>
        <p:spPr>
          <a:xfrm>
            <a:off x="4338218" y="10104119"/>
            <a:ext cx="3515258" cy="411480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>
            <a:noFill/>
          </a:ln>
          <a:effectLst>
            <a:outerShdw blurRad="457200" dist="127000" dir="54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1-tab"/>
          <p:cNvSpPr/>
          <p:nvPr/>
        </p:nvSpPr>
        <p:spPr>
          <a:xfrm>
            <a:off x="4338218" y="101041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1-num"/>
          <p:cNvSpPr txBox="1"/>
          <p:nvPr/>
        </p:nvSpPr>
        <p:spPr>
          <a:xfrm>
            <a:off x="4338218" y="102138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1" name="card1-icon-bg"/>
          <p:cNvSpPr/>
          <p:nvPr/>
        </p:nvSpPr>
        <p:spPr>
          <a:xfrm>
            <a:off x="6756196" y="10360151"/>
            <a:ext cx="786384" cy="786384"/>
          </a:xfrm>
          <a:prstGeom prst="ellipse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card1-icon-ic" descr="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200" y="10533155"/>
            <a:ext cx="440376" cy="440376"/>
          </a:xfrm>
          <a:prstGeom prst="rect">
            <a:avLst/>
          </a:prstGeom>
        </p:spPr>
      </p:pic>
      <p:sp>
        <p:nvSpPr>
          <p:cNvPr id="23" name="card1-title"/>
          <p:cNvSpPr txBox="1"/>
          <p:nvPr/>
        </p:nvSpPr>
        <p:spPr>
          <a:xfrm>
            <a:off x="4612538" y="11292839"/>
            <a:ext cx="296661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0F1216"/>
                </a:solidFill>
                <a:latin typeface="Yu Gothic UI"/>
              </a:rPr>
              <a:t>9万人超の既存顧客基盤</a:t>
            </a:r>
          </a:p>
        </p:txBody>
      </p:sp>
      <p:sp>
        <p:nvSpPr>
          <p:cNvPr id="24" name="card1-body"/>
          <p:cNvSpPr txBox="1"/>
          <p:nvPr/>
        </p:nvSpPr>
        <p:spPr>
          <a:xfrm>
            <a:off x="4612538" y="11887199"/>
            <a:ext cx="2966618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B2027"/>
                </a:solidFill>
                <a:latin typeface="Yu Gothic UI"/>
              </a:rPr>
              <a:t>Facebook で 93,000 人以上のフォロワー。店舗で築いた信頼を、オンラインの購買に直接つなげる土台がすでにある。</a:t>
            </a:r>
          </a:p>
        </p:txBody>
      </p:sp>
      <p:sp>
        <p:nvSpPr>
          <p:cNvPr id="25" name="card1-rule"/>
          <p:cNvSpPr/>
          <p:nvPr/>
        </p:nvSpPr>
        <p:spPr>
          <a:xfrm>
            <a:off x="4612538" y="13350239"/>
            <a:ext cx="457200" cy="36576"/>
          </a:xfrm>
          <a:prstGeom prst="rect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1-mn"/>
          <p:cNvSpPr txBox="1"/>
          <p:nvPr/>
        </p:nvSpPr>
        <p:spPr>
          <a:xfrm>
            <a:off x="4612538" y="13441679"/>
            <a:ext cx="296661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168"/>
                </a:solidFill>
                <a:latin typeface="Segoe UI"/>
              </a:rPr>
              <a:t>Facebook-т 93,000+ дагагч — бэлэн харилцагчийн суурь.</a:t>
            </a:r>
          </a:p>
        </p:txBody>
      </p:sp>
      <p:sp>
        <p:nvSpPr>
          <p:cNvPr id="27" name="card2-sheet"/>
          <p:cNvSpPr/>
          <p:nvPr/>
        </p:nvSpPr>
        <p:spPr>
          <a:xfrm>
            <a:off x="8127796" y="10104119"/>
            <a:ext cx="3515258" cy="411480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>
            <a:noFill/>
          </a:ln>
          <a:effectLst>
            <a:outerShdw blurRad="457200" dist="127000" dir="54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2-tab"/>
          <p:cNvSpPr/>
          <p:nvPr/>
        </p:nvSpPr>
        <p:spPr>
          <a:xfrm>
            <a:off x="8127796" y="101041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2-num"/>
          <p:cNvSpPr txBox="1"/>
          <p:nvPr/>
        </p:nvSpPr>
        <p:spPr>
          <a:xfrm>
            <a:off x="8127796" y="102138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0" name="card2-icon-bg"/>
          <p:cNvSpPr/>
          <p:nvPr/>
        </p:nvSpPr>
        <p:spPr>
          <a:xfrm>
            <a:off x="10545774" y="10360151"/>
            <a:ext cx="786384" cy="786384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card2-icon-ic" descr="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8778" y="10533155"/>
            <a:ext cx="440376" cy="440376"/>
          </a:xfrm>
          <a:prstGeom prst="rect">
            <a:avLst/>
          </a:prstGeom>
        </p:spPr>
      </p:pic>
      <p:sp>
        <p:nvSpPr>
          <p:cNvPr id="32" name="card2-title"/>
          <p:cNvSpPr txBox="1"/>
          <p:nvPr/>
        </p:nvSpPr>
        <p:spPr>
          <a:xfrm>
            <a:off x="8402116" y="11292839"/>
            <a:ext cx="296661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0F1216"/>
                </a:solidFill>
                <a:latin typeface="Yu Gothic UI"/>
              </a:rPr>
              <a:t>自社ECで時間と場所の制約をなくす</a:t>
            </a:r>
          </a:p>
        </p:txBody>
      </p:sp>
      <p:sp>
        <p:nvSpPr>
          <p:cNvPr id="33" name="card2-body"/>
          <p:cNvSpPr txBox="1"/>
          <p:nvPr/>
        </p:nvSpPr>
        <p:spPr>
          <a:xfrm>
            <a:off x="8402116" y="11887199"/>
            <a:ext cx="2966618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B2027"/>
                </a:solidFill>
                <a:latin typeface="Yu Gothic UI"/>
              </a:rPr>
              <a:t>店舗の営業時間・立地に縛られない販売チャネル。在庫・注文・顧客データを一元化し、日本本社との連携を容易にする。</a:t>
            </a:r>
          </a:p>
        </p:txBody>
      </p:sp>
      <p:sp>
        <p:nvSpPr>
          <p:cNvPr id="34" name="card2-rule"/>
          <p:cNvSpPr/>
          <p:nvPr/>
        </p:nvSpPr>
        <p:spPr>
          <a:xfrm>
            <a:off x="8402116" y="13350239"/>
            <a:ext cx="457200" cy="36576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ard2-mn"/>
          <p:cNvSpPr txBox="1"/>
          <p:nvPr/>
        </p:nvSpPr>
        <p:spPr>
          <a:xfrm>
            <a:off x="8402116" y="13441679"/>
            <a:ext cx="296661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168"/>
                </a:solidFill>
                <a:latin typeface="Segoe UI"/>
              </a:rPr>
              <a:t>Дэлгүүрийн цаг, байршлаас хамаарахгүй өөрийн суваг; нэг системд бүх өгөгдөл.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216"/>
              </a:gs>
              <a:gs pos="100000">
                <a:srgbClr val="1B202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96926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Yu Gothic UI"/>
              </a:rPr>
              <a:t>会社と事業機会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AD"/>
                </a:solidFill>
                <a:latin typeface="Segoe UI"/>
              </a:rPr>
              <a:t>Компани ба боломж</a:t>
            </a:r>
          </a:p>
        </p:txBody>
      </p:sp>
      <p:sp>
        <p:nvSpPr>
          <p:cNvPr id="6" name="hdr-n"/>
          <p:cNvSpPr txBox="1"/>
          <p:nvPr/>
        </p:nvSpPr>
        <p:spPr>
          <a:xfrm>
            <a:off x="10424160" y="502920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02</a:t>
            </a:r>
          </a:p>
        </p:txBody>
      </p:sp>
      <p:sp>
        <p:nvSpPr>
          <p:cNvPr id="7" name="hdr-foot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3AD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8" name="intro"/>
          <p:cNvSpPr txBox="1"/>
          <p:nvPr/>
        </p:nvSpPr>
        <p:spPr>
          <a:xfrm>
            <a:off x="777240" y="14173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AA3AD"/>
                </a:solidFill>
                <a:latin typeface="Yu Gothic UI"/>
              </a:rPr>
              <a:t>SUGI ASAYAKE は「日本の日常品質」をモンゴルに届けるブランド。ECはその次の成長段階。</a:t>
            </a:r>
          </a:p>
        </p:txBody>
      </p:sp>
      <p:sp>
        <p:nvSpPr>
          <p:cNvPr id="9" name="card0-sheet"/>
          <p:cNvSpPr/>
          <p:nvPr/>
        </p:nvSpPr>
        <p:spPr>
          <a:xfrm>
            <a:off x="548640" y="1874519"/>
            <a:ext cx="3515258" cy="411480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>
            <a:noFill/>
          </a:ln>
          <a:effectLst>
            <a:outerShdw blurRad="457200" dist="127000" dir="54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0-tab"/>
          <p:cNvSpPr/>
          <p:nvPr/>
        </p:nvSpPr>
        <p:spPr>
          <a:xfrm>
            <a:off x="548640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0-num"/>
          <p:cNvSpPr txBox="1"/>
          <p:nvPr/>
        </p:nvSpPr>
        <p:spPr>
          <a:xfrm>
            <a:off x="548640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card0-icon-bg"/>
          <p:cNvSpPr/>
          <p:nvPr/>
        </p:nvSpPr>
        <p:spPr>
          <a:xfrm>
            <a:off x="2966618" y="2130551"/>
            <a:ext cx="786384" cy="7863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card0-icon-ic" descr="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622" y="2303555"/>
            <a:ext cx="440376" cy="440376"/>
          </a:xfrm>
          <a:prstGeom prst="rect">
            <a:avLst/>
          </a:prstGeom>
        </p:spPr>
      </p:pic>
      <p:sp>
        <p:nvSpPr>
          <p:cNvPr id="14" name="card0-title"/>
          <p:cNvSpPr txBox="1"/>
          <p:nvPr/>
        </p:nvSpPr>
        <p:spPr>
          <a:xfrm>
            <a:off x="822960" y="3063239"/>
            <a:ext cx="296661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0F1216"/>
                </a:solidFill>
                <a:latin typeface="Yu Gothic UI"/>
              </a:rPr>
              <a:t>日本のドラッグストアの正規子会社</a:t>
            </a:r>
          </a:p>
        </p:txBody>
      </p:sp>
      <p:sp>
        <p:nvSpPr>
          <p:cNvPr id="15" name="card0-body"/>
          <p:cNvSpPr txBox="1"/>
          <p:nvPr/>
        </p:nvSpPr>
        <p:spPr>
          <a:xfrm>
            <a:off x="822960" y="3657599"/>
            <a:ext cx="2966618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B2027"/>
                </a:solidFill>
                <a:latin typeface="Yu Gothic UI"/>
              </a:rPr>
              <a:t>SUGI Drug Store Japan のモンゴル子会社。ウランバートル市内に4店舗を展開し、化粧品・医薬部外品・日用品・食品を正規ルートで輸入販売。</a:t>
            </a:r>
          </a:p>
        </p:txBody>
      </p:sp>
      <p:sp>
        <p:nvSpPr>
          <p:cNvPr id="16" name="card0-rule"/>
          <p:cNvSpPr/>
          <p:nvPr/>
        </p:nvSpPr>
        <p:spPr>
          <a:xfrm>
            <a:off x="822960" y="5120639"/>
            <a:ext cx="457200" cy="3657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0-mn"/>
          <p:cNvSpPr txBox="1"/>
          <p:nvPr/>
        </p:nvSpPr>
        <p:spPr>
          <a:xfrm>
            <a:off x="822960" y="5212079"/>
            <a:ext cx="296661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168"/>
                </a:solidFill>
                <a:latin typeface="Segoe UI"/>
              </a:rPr>
              <a:t>SUGI Drug Store Japan-ийн охин компани, УБ-д 4 салбар, албан ёсны импорт.</a:t>
            </a:r>
          </a:p>
        </p:txBody>
      </p:sp>
      <p:sp>
        <p:nvSpPr>
          <p:cNvPr id="18" name="card1-sheet"/>
          <p:cNvSpPr/>
          <p:nvPr/>
        </p:nvSpPr>
        <p:spPr>
          <a:xfrm>
            <a:off x="4338218" y="1874519"/>
            <a:ext cx="3515258" cy="411480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>
            <a:noFill/>
          </a:ln>
          <a:effectLst>
            <a:outerShdw blurRad="457200" dist="127000" dir="54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1-tab"/>
          <p:cNvSpPr/>
          <p:nvPr/>
        </p:nvSpPr>
        <p:spPr>
          <a:xfrm>
            <a:off x="4338218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1-num"/>
          <p:cNvSpPr txBox="1"/>
          <p:nvPr/>
        </p:nvSpPr>
        <p:spPr>
          <a:xfrm>
            <a:off x="4338218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1" name="card1-icon-bg"/>
          <p:cNvSpPr/>
          <p:nvPr/>
        </p:nvSpPr>
        <p:spPr>
          <a:xfrm>
            <a:off x="6756196" y="2130551"/>
            <a:ext cx="786384" cy="786384"/>
          </a:xfrm>
          <a:prstGeom prst="ellipse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card1-icon-ic" descr="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200" y="2303555"/>
            <a:ext cx="440376" cy="440376"/>
          </a:xfrm>
          <a:prstGeom prst="rect">
            <a:avLst/>
          </a:prstGeom>
        </p:spPr>
      </p:pic>
      <p:sp>
        <p:nvSpPr>
          <p:cNvPr id="23" name="card1-title"/>
          <p:cNvSpPr txBox="1"/>
          <p:nvPr/>
        </p:nvSpPr>
        <p:spPr>
          <a:xfrm>
            <a:off x="4612538" y="3063239"/>
            <a:ext cx="296661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0F1216"/>
                </a:solidFill>
                <a:latin typeface="Yu Gothic UI"/>
              </a:rPr>
              <a:t>9万人超の既存顧客基盤</a:t>
            </a:r>
          </a:p>
        </p:txBody>
      </p:sp>
      <p:sp>
        <p:nvSpPr>
          <p:cNvPr id="24" name="card1-body"/>
          <p:cNvSpPr txBox="1"/>
          <p:nvPr/>
        </p:nvSpPr>
        <p:spPr>
          <a:xfrm>
            <a:off x="4612538" y="3657599"/>
            <a:ext cx="2966618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B2027"/>
                </a:solidFill>
                <a:latin typeface="Yu Gothic UI"/>
              </a:rPr>
              <a:t>Facebook で 93,000 人以上のフォロワー。店舗で築いた信頼を、オンラインの購買に直接つなげる土台がすでにある。</a:t>
            </a:r>
          </a:p>
        </p:txBody>
      </p:sp>
      <p:sp>
        <p:nvSpPr>
          <p:cNvPr id="25" name="card1-rule"/>
          <p:cNvSpPr/>
          <p:nvPr/>
        </p:nvSpPr>
        <p:spPr>
          <a:xfrm>
            <a:off x="4612538" y="5120639"/>
            <a:ext cx="457200" cy="36576"/>
          </a:xfrm>
          <a:prstGeom prst="rect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1-mn"/>
          <p:cNvSpPr txBox="1"/>
          <p:nvPr/>
        </p:nvSpPr>
        <p:spPr>
          <a:xfrm>
            <a:off x="4612538" y="5212079"/>
            <a:ext cx="296661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168"/>
                </a:solidFill>
                <a:latin typeface="Segoe UI"/>
              </a:rPr>
              <a:t>Facebook-т 93,000+ дагагч — бэлэн харилцагчийн суурь.</a:t>
            </a:r>
          </a:p>
        </p:txBody>
      </p:sp>
      <p:sp>
        <p:nvSpPr>
          <p:cNvPr id="27" name="card2-sheet"/>
          <p:cNvSpPr/>
          <p:nvPr/>
        </p:nvSpPr>
        <p:spPr>
          <a:xfrm>
            <a:off x="8127796" y="10104119"/>
            <a:ext cx="3515258" cy="411480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>
            <a:noFill/>
          </a:ln>
          <a:effectLst>
            <a:outerShdw blurRad="457200" dist="127000" dir="54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2-tab"/>
          <p:cNvSpPr/>
          <p:nvPr/>
        </p:nvSpPr>
        <p:spPr>
          <a:xfrm>
            <a:off x="8127796" y="101041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2-num"/>
          <p:cNvSpPr txBox="1"/>
          <p:nvPr/>
        </p:nvSpPr>
        <p:spPr>
          <a:xfrm>
            <a:off x="8127796" y="102138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0" name="card2-icon-bg"/>
          <p:cNvSpPr/>
          <p:nvPr/>
        </p:nvSpPr>
        <p:spPr>
          <a:xfrm>
            <a:off x="10545774" y="10360151"/>
            <a:ext cx="786384" cy="786384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card2-icon-ic" descr="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8778" y="10533155"/>
            <a:ext cx="440376" cy="440376"/>
          </a:xfrm>
          <a:prstGeom prst="rect">
            <a:avLst/>
          </a:prstGeom>
        </p:spPr>
      </p:pic>
      <p:sp>
        <p:nvSpPr>
          <p:cNvPr id="32" name="card2-title"/>
          <p:cNvSpPr txBox="1"/>
          <p:nvPr/>
        </p:nvSpPr>
        <p:spPr>
          <a:xfrm>
            <a:off x="8402116" y="11292839"/>
            <a:ext cx="296661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0F1216"/>
                </a:solidFill>
                <a:latin typeface="Yu Gothic UI"/>
              </a:rPr>
              <a:t>自社ECで時間と場所の制約をなくす</a:t>
            </a:r>
          </a:p>
        </p:txBody>
      </p:sp>
      <p:sp>
        <p:nvSpPr>
          <p:cNvPr id="33" name="card2-body"/>
          <p:cNvSpPr txBox="1"/>
          <p:nvPr/>
        </p:nvSpPr>
        <p:spPr>
          <a:xfrm>
            <a:off x="8402116" y="11887199"/>
            <a:ext cx="2966618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B2027"/>
                </a:solidFill>
                <a:latin typeface="Yu Gothic UI"/>
              </a:rPr>
              <a:t>店舗の営業時間・立地に縛られない販売チャネル。在庫・注文・顧客データを一元化し、日本本社との連携を容易にする。</a:t>
            </a:r>
          </a:p>
        </p:txBody>
      </p:sp>
      <p:sp>
        <p:nvSpPr>
          <p:cNvPr id="34" name="card2-rule"/>
          <p:cNvSpPr/>
          <p:nvPr/>
        </p:nvSpPr>
        <p:spPr>
          <a:xfrm>
            <a:off x="8402116" y="13350239"/>
            <a:ext cx="457200" cy="36576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ard2-mn"/>
          <p:cNvSpPr txBox="1"/>
          <p:nvPr/>
        </p:nvSpPr>
        <p:spPr>
          <a:xfrm>
            <a:off x="8402116" y="13441679"/>
            <a:ext cx="296661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168"/>
                </a:solidFill>
                <a:latin typeface="Segoe UI"/>
              </a:rPr>
              <a:t>Дэлгүүрийн цаг, байршлаас хамаарахгүй өөрийн суваг; нэг системд бүх өгөгдөл.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216"/>
              </a:gs>
              <a:gs pos="100000">
                <a:srgbClr val="1B202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96926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Yu Gothic UI"/>
              </a:rPr>
              <a:t>会社と事業機会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AD"/>
                </a:solidFill>
                <a:latin typeface="Segoe UI"/>
              </a:rPr>
              <a:t>Компани ба боломж</a:t>
            </a:r>
          </a:p>
        </p:txBody>
      </p:sp>
      <p:sp>
        <p:nvSpPr>
          <p:cNvPr id="6" name="hdr-n"/>
          <p:cNvSpPr txBox="1"/>
          <p:nvPr/>
        </p:nvSpPr>
        <p:spPr>
          <a:xfrm>
            <a:off x="10424160" y="502920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02</a:t>
            </a:r>
          </a:p>
        </p:txBody>
      </p:sp>
      <p:sp>
        <p:nvSpPr>
          <p:cNvPr id="7" name="hdr-foot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3AD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8" name="intro"/>
          <p:cNvSpPr txBox="1"/>
          <p:nvPr/>
        </p:nvSpPr>
        <p:spPr>
          <a:xfrm>
            <a:off x="777240" y="14173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AA3AD"/>
                </a:solidFill>
                <a:latin typeface="Yu Gothic UI"/>
              </a:rPr>
              <a:t>SUGI ASAYAKE は「日本の日常品質」をモンゴルに届けるブランド。ECはその次の成長段階。</a:t>
            </a:r>
          </a:p>
        </p:txBody>
      </p:sp>
      <p:sp>
        <p:nvSpPr>
          <p:cNvPr id="9" name="card0-sheet"/>
          <p:cNvSpPr/>
          <p:nvPr/>
        </p:nvSpPr>
        <p:spPr>
          <a:xfrm>
            <a:off x="548640" y="1874519"/>
            <a:ext cx="3515258" cy="411480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>
            <a:noFill/>
          </a:ln>
          <a:effectLst>
            <a:outerShdw blurRad="457200" dist="127000" dir="54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0-tab"/>
          <p:cNvSpPr/>
          <p:nvPr/>
        </p:nvSpPr>
        <p:spPr>
          <a:xfrm>
            <a:off x="548640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0-num"/>
          <p:cNvSpPr txBox="1"/>
          <p:nvPr/>
        </p:nvSpPr>
        <p:spPr>
          <a:xfrm>
            <a:off x="548640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card0-icon-bg"/>
          <p:cNvSpPr/>
          <p:nvPr/>
        </p:nvSpPr>
        <p:spPr>
          <a:xfrm>
            <a:off x="2966618" y="2130551"/>
            <a:ext cx="786384" cy="7863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card0-icon-ic" descr="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622" y="2303555"/>
            <a:ext cx="440376" cy="440376"/>
          </a:xfrm>
          <a:prstGeom prst="rect">
            <a:avLst/>
          </a:prstGeom>
        </p:spPr>
      </p:pic>
      <p:sp>
        <p:nvSpPr>
          <p:cNvPr id="14" name="card0-title"/>
          <p:cNvSpPr txBox="1"/>
          <p:nvPr/>
        </p:nvSpPr>
        <p:spPr>
          <a:xfrm>
            <a:off x="822960" y="3063239"/>
            <a:ext cx="296661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0F1216"/>
                </a:solidFill>
                <a:latin typeface="Yu Gothic UI"/>
              </a:rPr>
              <a:t>日本のドラッグストアの正規子会社</a:t>
            </a:r>
          </a:p>
        </p:txBody>
      </p:sp>
      <p:sp>
        <p:nvSpPr>
          <p:cNvPr id="15" name="card0-body"/>
          <p:cNvSpPr txBox="1"/>
          <p:nvPr/>
        </p:nvSpPr>
        <p:spPr>
          <a:xfrm>
            <a:off x="822960" y="3657599"/>
            <a:ext cx="2966618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B2027"/>
                </a:solidFill>
                <a:latin typeface="Yu Gothic UI"/>
              </a:rPr>
              <a:t>SUGI Drug Store Japan のモンゴル子会社。ウランバートル市内に4店舗を展開し、化粧品・医薬部外品・日用品・食品を正規ルートで輸入販売。</a:t>
            </a:r>
          </a:p>
        </p:txBody>
      </p:sp>
      <p:sp>
        <p:nvSpPr>
          <p:cNvPr id="16" name="card0-rule"/>
          <p:cNvSpPr/>
          <p:nvPr/>
        </p:nvSpPr>
        <p:spPr>
          <a:xfrm>
            <a:off x="822960" y="5120639"/>
            <a:ext cx="457200" cy="3657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0-mn"/>
          <p:cNvSpPr txBox="1"/>
          <p:nvPr/>
        </p:nvSpPr>
        <p:spPr>
          <a:xfrm>
            <a:off x="822960" y="5212079"/>
            <a:ext cx="296661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168"/>
                </a:solidFill>
                <a:latin typeface="Segoe UI"/>
              </a:rPr>
              <a:t>SUGI Drug Store Japan-ийн охин компани, УБ-д 4 салбар, албан ёсны импорт.</a:t>
            </a:r>
          </a:p>
        </p:txBody>
      </p:sp>
      <p:sp>
        <p:nvSpPr>
          <p:cNvPr id="18" name="card1-sheet"/>
          <p:cNvSpPr/>
          <p:nvPr/>
        </p:nvSpPr>
        <p:spPr>
          <a:xfrm>
            <a:off x="4338218" y="1874519"/>
            <a:ext cx="3515258" cy="411480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>
            <a:noFill/>
          </a:ln>
          <a:effectLst>
            <a:outerShdw blurRad="457200" dist="127000" dir="54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1-tab"/>
          <p:cNvSpPr/>
          <p:nvPr/>
        </p:nvSpPr>
        <p:spPr>
          <a:xfrm>
            <a:off x="4338218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1-num"/>
          <p:cNvSpPr txBox="1"/>
          <p:nvPr/>
        </p:nvSpPr>
        <p:spPr>
          <a:xfrm>
            <a:off x="4338218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1" name="card1-icon-bg"/>
          <p:cNvSpPr/>
          <p:nvPr/>
        </p:nvSpPr>
        <p:spPr>
          <a:xfrm>
            <a:off x="6756196" y="2130551"/>
            <a:ext cx="786384" cy="786384"/>
          </a:xfrm>
          <a:prstGeom prst="ellipse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card1-icon-ic" descr="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200" y="2303555"/>
            <a:ext cx="440376" cy="440376"/>
          </a:xfrm>
          <a:prstGeom prst="rect">
            <a:avLst/>
          </a:prstGeom>
        </p:spPr>
      </p:pic>
      <p:sp>
        <p:nvSpPr>
          <p:cNvPr id="23" name="card1-title"/>
          <p:cNvSpPr txBox="1"/>
          <p:nvPr/>
        </p:nvSpPr>
        <p:spPr>
          <a:xfrm>
            <a:off x="4612538" y="3063239"/>
            <a:ext cx="296661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0F1216"/>
                </a:solidFill>
                <a:latin typeface="Yu Gothic UI"/>
              </a:rPr>
              <a:t>9万人超の既存顧客基盤</a:t>
            </a:r>
          </a:p>
        </p:txBody>
      </p:sp>
      <p:sp>
        <p:nvSpPr>
          <p:cNvPr id="24" name="card1-body"/>
          <p:cNvSpPr txBox="1"/>
          <p:nvPr/>
        </p:nvSpPr>
        <p:spPr>
          <a:xfrm>
            <a:off x="4612538" y="3657599"/>
            <a:ext cx="2966618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B2027"/>
                </a:solidFill>
                <a:latin typeface="Yu Gothic UI"/>
              </a:rPr>
              <a:t>Facebook で 93,000 人以上のフォロワー。店舗で築いた信頼を、オンラインの購買に直接つなげる土台がすでにある。</a:t>
            </a:r>
          </a:p>
        </p:txBody>
      </p:sp>
      <p:sp>
        <p:nvSpPr>
          <p:cNvPr id="25" name="card1-rule"/>
          <p:cNvSpPr/>
          <p:nvPr/>
        </p:nvSpPr>
        <p:spPr>
          <a:xfrm>
            <a:off x="4612538" y="5120639"/>
            <a:ext cx="457200" cy="36576"/>
          </a:xfrm>
          <a:prstGeom prst="rect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1-mn"/>
          <p:cNvSpPr txBox="1"/>
          <p:nvPr/>
        </p:nvSpPr>
        <p:spPr>
          <a:xfrm>
            <a:off x="4612538" y="5212079"/>
            <a:ext cx="296661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168"/>
                </a:solidFill>
                <a:latin typeface="Segoe UI"/>
              </a:rPr>
              <a:t>Facebook-т 93,000+ дагагч — бэлэн харилцагчийн суурь.</a:t>
            </a:r>
          </a:p>
        </p:txBody>
      </p:sp>
      <p:sp>
        <p:nvSpPr>
          <p:cNvPr id="27" name="card2-sheet"/>
          <p:cNvSpPr/>
          <p:nvPr/>
        </p:nvSpPr>
        <p:spPr>
          <a:xfrm>
            <a:off x="8127796" y="1874519"/>
            <a:ext cx="3515258" cy="411480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>
            <a:noFill/>
          </a:ln>
          <a:effectLst>
            <a:outerShdw blurRad="457200" dist="127000" dir="54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2-tab"/>
          <p:cNvSpPr/>
          <p:nvPr/>
        </p:nvSpPr>
        <p:spPr>
          <a:xfrm>
            <a:off x="8127796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2-num"/>
          <p:cNvSpPr txBox="1"/>
          <p:nvPr/>
        </p:nvSpPr>
        <p:spPr>
          <a:xfrm>
            <a:off x="8127796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0" name="card2-icon-bg"/>
          <p:cNvSpPr/>
          <p:nvPr/>
        </p:nvSpPr>
        <p:spPr>
          <a:xfrm>
            <a:off x="10545774" y="2130551"/>
            <a:ext cx="786384" cy="786384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card2-icon-ic" descr="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8778" y="2303555"/>
            <a:ext cx="440376" cy="440376"/>
          </a:xfrm>
          <a:prstGeom prst="rect">
            <a:avLst/>
          </a:prstGeom>
        </p:spPr>
      </p:pic>
      <p:sp>
        <p:nvSpPr>
          <p:cNvPr id="32" name="card2-title"/>
          <p:cNvSpPr txBox="1"/>
          <p:nvPr/>
        </p:nvSpPr>
        <p:spPr>
          <a:xfrm>
            <a:off x="8402116" y="3063239"/>
            <a:ext cx="296661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0F1216"/>
                </a:solidFill>
                <a:latin typeface="Yu Gothic UI"/>
              </a:rPr>
              <a:t>自社ECで時間と場所の制約をなくす</a:t>
            </a:r>
          </a:p>
        </p:txBody>
      </p:sp>
      <p:sp>
        <p:nvSpPr>
          <p:cNvPr id="33" name="card2-body"/>
          <p:cNvSpPr txBox="1"/>
          <p:nvPr/>
        </p:nvSpPr>
        <p:spPr>
          <a:xfrm>
            <a:off x="8402116" y="3657599"/>
            <a:ext cx="2966618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B2027"/>
                </a:solidFill>
                <a:latin typeface="Yu Gothic UI"/>
              </a:rPr>
              <a:t>店舗の営業時間・立地に縛られない販売チャネル。在庫・注文・顧客データを一元化し、日本本社との連携を容易にする。</a:t>
            </a:r>
          </a:p>
        </p:txBody>
      </p:sp>
      <p:sp>
        <p:nvSpPr>
          <p:cNvPr id="34" name="card2-rule"/>
          <p:cNvSpPr/>
          <p:nvPr/>
        </p:nvSpPr>
        <p:spPr>
          <a:xfrm>
            <a:off x="8402116" y="5120639"/>
            <a:ext cx="457200" cy="36576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ard2-mn"/>
          <p:cNvSpPr txBox="1"/>
          <p:nvPr/>
        </p:nvSpPr>
        <p:spPr>
          <a:xfrm>
            <a:off x="8402116" y="5212079"/>
            <a:ext cx="296661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168"/>
                </a:solidFill>
                <a:latin typeface="Segoe UI"/>
              </a:rPr>
              <a:t>Дэлгүүрийн цаг, байршлаас хамаарахгүй өөрийн суваг; нэг системд бүх өгөгдөл.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AF7"/>
              </a:gs>
              <a:gs pos="100000">
                <a:srgbClr val="ECEEE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96926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216"/>
                </a:solidFill>
                <a:latin typeface="Yu Gothic UI"/>
              </a:rPr>
              <a:t>サイト概要 — ドラッグストアの体験をオンラインに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168"/>
                </a:solidFill>
                <a:latin typeface="Segoe UI"/>
              </a:rPr>
              <a:t>Сайтын ерөнхий дүр зураг</a:t>
            </a:r>
          </a:p>
        </p:txBody>
      </p:sp>
      <p:sp>
        <p:nvSpPr>
          <p:cNvPr id="6" name="hdr-n"/>
          <p:cNvSpPr txBox="1"/>
          <p:nvPr/>
        </p:nvSpPr>
        <p:spPr>
          <a:xfrm>
            <a:off x="10424160" y="502920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03</a:t>
            </a:r>
          </a:p>
        </p:txBody>
      </p:sp>
      <p:sp>
        <p:nvSpPr>
          <p:cNvPr id="7" name="hdr-foot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B6168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8" name="home-frame"/>
          <p:cNvSpPr/>
          <p:nvPr/>
        </p:nvSpPr>
        <p:spPr>
          <a:xfrm>
            <a:off x="548640" y="10012680"/>
            <a:ext cx="6949440" cy="4308652"/>
          </a:xfrm>
          <a:prstGeom prst="roundRect">
            <a:avLst>
              <a:gd name="adj" fmla="val 3000"/>
            </a:avLst>
          </a:prstGeom>
          <a:solidFill>
            <a:srgbClr val="1B2027"/>
          </a:solidFill>
          <a:ln>
            <a:noFill/>
          </a:ln>
          <a:effectLst>
            <a:outerShdw blurRad="508000" dist="177800" dir="54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home-img" descr="slid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0158984"/>
            <a:ext cx="6656832" cy="4016044"/>
          </a:xfrm>
          <a:prstGeom prst="rect">
            <a:avLst/>
          </a:prstGeom>
        </p:spPr>
      </p:pic>
      <p:sp>
        <p:nvSpPr>
          <p:cNvPr id="10" name="home-base"/>
          <p:cNvSpPr/>
          <p:nvPr/>
        </p:nvSpPr>
        <p:spPr>
          <a:xfrm>
            <a:off x="228600" y="14321332"/>
            <a:ext cx="7589520" cy="146304"/>
          </a:xfrm>
          <a:prstGeom prst="roundRect">
            <a:avLst>
              <a:gd name="adj" fmla="val 50000"/>
            </a:avLst>
          </a:prstGeom>
          <a:solidFill>
            <a:srgbClr val="2A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ll0"/>
          <p:cNvSpPr/>
          <p:nvPr/>
        </p:nvSpPr>
        <p:spPr>
          <a:xfrm>
            <a:off x="7818120" y="10012680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ill0-bg"/>
          <p:cNvSpPr/>
          <p:nvPr/>
        </p:nvSpPr>
        <p:spPr>
          <a:xfrm>
            <a:off x="7955279" y="10131552"/>
            <a:ext cx="512064" cy="51206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ll0-ic" descr="langu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933" y="10244206"/>
            <a:ext cx="286756" cy="286756"/>
          </a:xfrm>
          <a:prstGeom prst="rect">
            <a:avLst/>
          </a:prstGeom>
        </p:spPr>
      </p:pic>
      <p:sp>
        <p:nvSpPr>
          <p:cNvPr id="14" name="pill0-t"/>
          <p:cNvSpPr txBox="1"/>
          <p:nvPr/>
        </p:nvSpPr>
        <p:spPr>
          <a:xfrm>
            <a:off x="8595360" y="10085832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1216"/>
                </a:solidFill>
                <a:latin typeface="Yu Gothic UI"/>
              </a:rPr>
              <a:t>3言語表示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5B6168"/>
                </a:solidFill>
                <a:latin typeface="Segoe UI"/>
              </a:rPr>
              <a:t>Монгол / English / 日本語</a:t>
            </a:r>
          </a:p>
        </p:txBody>
      </p:sp>
      <p:sp>
        <p:nvSpPr>
          <p:cNvPr id="15" name="pill1"/>
          <p:cNvSpPr/>
          <p:nvPr/>
        </p:nvSpPr>
        <p:spPr>
          <a:xfrm>
            <a:off x="7818120" y="10908792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ill1-bg"/>
          <p:cNvSpPr/>
          <p:nvPr/>
        </p:nvSpPr>
        <p:spPr>
          <a:xfrm>
            <a:off x="7955279" y="11027664"/>
            <a:ext cx="512064" cy="512064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ll1-ic" descr="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933" y="11140318"/>
            <a:ext cx="286756" cy="286756"/>
          </a:xfrm>
          <a:prstGeom prst="rect">
            <a:avLst/>
          </a:prstGeom>
        </p:spPr>
      </p:pic>
      <p:sp>
        <p:nvSpPr>
          <p:cNvPr id="18" name="pill1-t"/>
          <p:cNvSpPr txBox="1"/>
          <p:nvPr/>
        </p:nvSpPr>
        <p:spPr>
          <a:xfrm>
            <a:off x="8595360" y="10981944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1216"/>
                </a:solidFill>
                <a:latin typeface="Yu Gothic UI"/>
              </a:rPr>
              <a:t>スマホ優先・PWA・ダークモード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5B6168"/>
                </a:solidFill>
                <a:latin typeface="Segoe UI"/>
              </a:rPr>
              <a:t>Утсанд, PWA, харанхуй горим</a:t>
            </a:r>
          </a:p>
        </p:txBody>
      </p:sp>
      <p:sp>
        <p:nvSpPr>
          <p:cNvPr id="19" name="pill2"/>
          <p:cNvSpPr/>
          <p:nvPr/>
        </p:nvSpPr>
        <p:spPr>
          <a:xfrm>
            <a:off x="7818120" y="11804904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ill2-bg"/>
          <p:cNvSpPr/>
          <p:nvPr/>
        </p:nvSpPr>
        <p:spPr>
          <a:xfrm>
            <a:off x="7955279" y="11923776"/>
            <a:ext cx="512064" cy="51206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ll2-ic" descr="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7933" y="12036430"/>
            <a:ext cx="286756" cy="286756"/>
          </a:xfrm>
          <a:prstGeom prst="rect">
            <a:avLst/>
          </a:prstGeom>
        </p:spPr>
      </p:pic>
      <p:sp>
        <p:nvSpPr>
          <p:cNvPr id="22" name="pill2-t"/>
          <p:cNvSpPr txBox="1"/>
          <p:nvPr/>
        </p:nvSpPr>
        <p:spPr>
          <a:xfrm>
            <a:off x="8595360" y="11878056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1216"/>
                </a:solidFill>
                <a:latin typeface="Yu Gothic UI"/>
              </a:rPr>
              <a:t>ブランド・カテゴリーを管理画面から編集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5B6168"/>
                </a:solidFill>
                <a:latin typeface="Segoe UI"/>
              </a:rPr>
              <a:t>Брэнд, ангилал бүгд админаас</a:t>
            </a:r>
          </a:p>
        </p:txBody>
      </p:sp>
      <p:sp>
        <p:nvSpPr>
          <p:cNvPr id="23" name="pill3"/>
          <p:cNvSpPr/>
          <p:nvPr/>
        </p:nvSpPr>
        <p:spPr>
          <a:xfrm>
            <a:off x="7818120" y="12701016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ill3-bg"/>
          <p:cNvSpPr/>
          <p:nvPr/>
        </p:nvSpPr>
        <p:spPr>
          <a:xfrm>
            <a:off x="7955279" y="12819888"/>
            <a:ext cx="512064" cy="512064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ll3-ic" descr="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933" y="12932542"/>
            <a:ext cx="286756" cy="286756"/>
          </a:xfrm>
          <a:prstGeom prst="rect">
            <a:avLst/>
          </a:prstGeom>
        </p:spPr>
      </p:pic>
      <p:sp>
        <p:nvSpPr>
          <p:cNvPr id="26" name="pill3-t"/>
          <p:cNvSpPr txBox="1"/>
          <p:nvPr/>
        </p:nvSpPr>
        <p:spPr>
          <a:xfrm>
            <a:off x="8595360" y="12774168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1216"/>
                </a:solidFill>
                <a:latin typeface="Yu Gothic UI"/>
              </a:rPr>
              <a:t>肌質・髪質プロフィールに基づく提案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5B6168"/>
                </a:solidFill>
                <a:latin typeface="Segoe UI"/>
              </a:rPr>
              <a:t>Профайлд суурилсан санал</a:t>
            </a:r>
          </a:p>
        </p:txBody>
      </p:sp>
      <p:sp>
        <p:nvSpPr>
          <p:cNvPr id="27" name="pill4"/>
          <p:cNvSpPr/>
          <p:nvPr/>
        </p:nvSpPr>
        <p:spPr>
          <a:xfrm>
            <a:off x="7818120" y="13597128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ill4-bg"/>
          <p:cNvSpPr/>
          <p:nvPr/>
        </p:nvSpPr>
        <p:spPr>
          <a:xfrm>
            <a:off x="7955279" y="13716000"/>
            <a:ext cx="512064" cy="51206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ll4-ic" descr="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7933" y="13828654"/>
            <a:ext cx="286756" cy="286756"/>
          </a:xfrm>
          <a:prstGeom prst="rect">
            <a:avLst/>
          </a:prstGeom>
        </p:spPr>
      </p:pic>
      <p:sp>
        <p:nvSpPr>
          <p:cNvPr id="30" name="pill4-t"/>
          <p:cNvSpPr txBox="1"/>
          <p:nvPr/>
        </p:nvSpPr>
        <p:spPr>
          <a:xfrm>
            <a:off x="8595360" y="13670280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1216"/>
                </a:solidFill>
                <a:latin typeface="Yu Gothic UI"/>
              </a:rPr>
              <a:t>Cookie同意・WCAG 2.2 AA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5B6168"/>
                </a:solidFill>
                <a:latin typeface="Segoe UI"/>
              </a:rPr>
              <a:t>Күкийн зөвшөөрөл, хүртээмж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AF7"/>
              </a:gs>
              <a:gs pos="100000">
                <a:srgbClr val="ECEEE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96926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216"/>
                </a:solidFill>
                <a:latin typeface="Yu Gothic UI"/>
              </a:rPr>
              <a:t>サイト概要 — ドラッグストアの体験をオンラインに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168"/>
                </a:solidFill>
                <a:latin typeface="Segoe UI"/>
              </a:rPr>
              <a:t>Сайтын ерөнхий дүр зураг</a:t>
            </a:r>
          </a:p>
        </p:txBody>
      </p:sp>
      <p:sp>
        <p:nvSpPr>
          <p:cNvPr id="6" name="hdr-n"/>
          <p:cNvSpPr txBox="1"/>
          <p:nvPr/>
        </p:nvSpPr>
        <p:spPr>
          <a:xfrm>
            <a:off x="10424160" y="502920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03</a:t>
            </a:r>
          </a:p>
        </p:txBody>
      </p:sp>
      <p:sp>
        <p:nvSpPr>
          <p:cNvPr id="7" name="hdr-foot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B6168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8" name="home-frame"/>
          <p:cNvSpPr/>
          <p:nvPr/>
        </p:nvSpPr>
        <p:spPr>
          <a:xfrm>
            <a:off x="548640" y="1783080"/>
            <a:ext cx="6949440" cy="4308652"/>
          </a:xfrm>
          <a:prstGeom prst="roundRect">
            <a:avLst>
              <a:gd name="adj" fmla="val 3000"/>
            </a:avLst>
          </a:prstGeom>
          <a:solidFill>
            <a:srgbClr val="1B2027"/>
          </a:solidFill>
          <a:ln>
            <a:noFill/>
          </a:ln>
          <a:effectLst>
            <a:outerShdw blurRad="508000" dist="177800" dir="54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home-img" descr="slid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929384"/>
            <a:ext cx="6656832" cy="4016044"/>
          </a:xfrm>
          <a:prstGeom prst="rect">
            <a:avLst/>
          </a:prstGeom>
        </p:spPr>
      </p:pic>
      <p:sp>
        <p:nvSpPr>
          <p:cNvPr id="10" name="home-base"/>
          <p:cNvSpPr/>
          <p:nvPr/>
        </p:nvSpPr>
        <p:spPr>
          <a:xfrm>
            <a:off x="228600" y="6091732"/>
            <a:ext cx="7589520" cy="146304"/>
          </a:xfrm>
          <a:prstGeom prst="roundRect">
            <a:avLst>
              <a:gd name="adj" fmla="val 50000"/>
            </a:avLst>
          </a:prstGeom>
          <a:solidFill>
            <a:srgbClr val="2A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ll0"/>
          <p:cNvSpPr/>
          <p:nvPr/>
        </p:nvSpPr>
        <p:spPr>
          <a:xfrm>
            <a:off x="7818120" y="1783080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ill0-bg"/>
          <p:cNvSpPr/>
          <p:nvPr/>
        </p:nvSpPr>
        <p:spPr>
          <a:xfrm>
            <a:off x="7955279" y="1901952"/>
            <a:ext cx="512064" cy="51206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ll0-ic" descr="langu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933" y="2014606"/>
            <a:ext cx="286756" cy="286756"/>
          </a:xfrm>
          <a:prstGeom prst="rect">
            <a:avLst/>
          </a:prstGeom>
        </p:spPr>
      </p:pic>
      <p:sp>
        <p:nvSpPr>
          <p:cNvPr id="14" name="pill0-t"/>
          <p:cNvSpPr txBox="1"/>
          <p:nvPr/>
        </p:nvSpPr>
        <p:spPr>
          <a:xfrm>
            <a:off x="8595360" y="1856232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1216"/>
                </a:solidFill>
                <a:latin typeface="Yu Gothic UI"/>
              </a:rPr>
              <a:t>3言語表示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5B6168"/>
                </a:solidFill>
                <a:latin typeface="Segoe UI"/>
              </a:rPr>
              <a:t>Монгол / English / 日本語</a:t>
            </a:r>
          </a:p>
        </p:txBody>
      </p:sp>
      <p:sp>
        <p:nvSpPr>
          <p:cNvPr id="15" name="pill1"/>
          <p:cNvSpPr/>
          <p:nvPr/>
        </p:nvSpPr>
        <p:spPr>
          <a:xfrm>
            <a:off x="7818120" y="2679192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ill1-bg"/>
          <p:cNvSpPr/>
          <p:nvPr/>
        </p:nvSpPr>
        <p:spPr>
          <a:xfrm>
            <a:off x="7955279" y="2798064"/>
            <a:ext cx="512064" cy="512064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ll1-ic" descr="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933" y="2910718"/>
            <a:ext cx="286756" cy="286756"/>
          </a:xfrm>
          <a:prstGeom prst="rect">
            <a:avLst/>
          </a:prstGeom>
        </p:spPr>
      </p:pic>
      <p:sp>
        <p:nvSpPr>
          <p:cNvPr id="18" name="pill1-t"/>
          <p:cNvSpPr txBox="1"/>
          <p:nvPr/>
        </p:nvSpPr>
        <p:spPr>
          <a:xfrm>
            <a:off x="8595360" y="2752344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1216"/>
                </a:solidFill>
                <a:latin typeface="Yu Gothic UI"/>
              </a:rPr>
              <a:t>スマホ優先・PWA・ダークモード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5B6168"/>
                </a:solidFill>
                <a:latin typeface="Segoe UI"/>
              </a:rPr>
              <a:t>Утсанд, PWA, харанхуй горим</a:t>
            </a:r>
          </a:p>
        </p:txBody>
      </p:sp>
      <p:sp>
        <p:nvSpPr>
          <p:cNvPr id="19" name="pill2"/>
          <p:cNvSpPr/>
          <p:nvPr/>
        </p:nvSpPr>
        <p:spPr>
          <a:xfrm>
            <a:off x="7818120" y="3575304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ill2-bg"/>
          <p:cNvSpPr/>
          <p:nvPr/>
        </p:nvSpPr>
        <p:spPr>
          <a:xfrm>
            <a:off x="7955279" y="3694176"/>
            <a:ext cx="512064" cy="51206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ll2-ic" descr="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7933" y="3806830"/>
            <a:ext cx="286756" cy="286756"/>
          </a:xfrm>
          <a:prstGeom prst="rect">
            <a:avLst/>
          </a:prstGeom>
        </p:spPr>
      </p:pic>
      <p:sp>
        <p:nvSpPr>
          <p:cNvPr id="22" name="pill2-t"/>
          <p:cNvSpPr txBox="1"/>
          <p:nvPr/>
        </p:nvSpPr>
        <p:spPr>
          <a:xfrm>
            <a:off x="8595360" y="3648456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1216"/>
                </a:solidFill>
                <a:latin typeface="Yu Gothic UI"/>
              </a:rPr>
              <a:t>ブランド・カテゴリーを管理画面から編集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5B6168"/>
                </a:solidFill>
                <a:latin typeface="Segoe UI"/>
              </a:rPr>
              <a:t>Брэнд, ангилал бүгд админаас</a:t>
            </a:r>
          </a:p>
        </p:txBody>
      </p:sp>
      <p:sp>
        <p:nvSpPr>
          <p:cNvPr id="23" name="pill3"/>
          <p:cNvSpPr/>
          <p:nvPr/>
        </p:nvSpPr>
        <p:spPr>
          <a:xfrm>
            <a:off x="7818120" y="4471416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ill3-bg"/>
          <p:cNvSpPr/>
          <p:nvPr/>
        </p:nvSpPr>
        <p:spPr>
          <a:xfrm>
            <a:off x="7955279" y="4590288"/>
            <a:ext cx="512064" cy="512064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ll3-ic" descr="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933" y="4702942"/>
            <a:ext cx="286756" cy="286756"/>
          </a:xfrm>
          <a:prstGeom prst="rect">
            <a:avLst/>
          </a:prstGeom>
        </p:spPr>
      </p:pic>
      <p:sp>
        <p:nvSpPr>
          <p:cNvPr id="26" name="pill3-t"/>
          <p:cNvSpPr txBox="1"/>
          <p:nvPr/>
        </p:nvSpPr>
        <p:spPr>
          <a:xfrm>
            <a:off x="8595360" y="4544568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1216"/>
                </a:solidFill>
                <a:latin typeface="Yu Gothic UI"/>
              </a:rPr>
              <a:t>肌質・髪質プロフィールに基づく提案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5B6168"/>
                </a:solidFill>
                <a:latin typeface="Segoe UI"/>
              </a:rPr>
              <a:t>Профайлд суурилсан санал</a:t>
            </a:r>
          </a:p>
        </p:txBody>
      </p:sp>
      <p:sp>
        <p:nvSpPr>
          <p:cNvPr id="27" name="pill4"/>
          <p:cNvSpPr/>
          <p:nvPr/>
        </p:nvSpPr>
        <p:spPr>
          <a:xfrm>
            <a:off x="7818120" y="5367528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ill4-bg"/>
          <p:cNvSpPr/>
          <p:nvPr/>
        </p:nvSpPr>
        <p:spPr>
          <a:xfrm>
            <a:off x="7955279" y="5486400"/>
            <a:ext cx="512064" cy="51206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ll4-ic" descr="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7933" y="5599054"/>
            <a:ext cx="286756" cy="286756"/>
          </a:xfrm>
          <a:prstGeom prst="rect">
            <a:avLst/>
          </a:prstGeom>
        </p:spPr>
      </p:pic>
      <p:sp>
        <p:nvSpPr>
          <p:cNvPr id="30" name="pill4-t"/>
          <p:cNvSpPr txBox="1"/>
          <p:nvPr/>
        </p:nvSpPr>
        <p:spPr>
          <a:xfrm>
            <a:off x="8595360" y="5440680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1216"/>
                </a:solidFill>
                <a:latin typeface="Yu Gothic UI"/>
              </a:rPr>
              <a:t>Cookie同意・WCAG 2.2 AA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5B6168"/>
                </a:solidFill>
                <a:latin typeface="Segoe UI"/>
              </a:rPr>
              <a:t>Күкийн зөвшөөрөл, хүртээмж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216"/>
              </a:gs>
              <a:gs pos="100000">
                <a:srgbClr val="1B202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96926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Yu Gothic UI"/>
              </a:rPr>
              <a:t>商品ページ — 信頼される情報設計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AD"/>
                </a:solidFill>
                <a:latin typeface="Segoe UI"/>
              </a:rPr>
              <a:t>Барааны хуудас</a:t>
            </a:r>
          </a:p>
        </p:txBody>
      </p:sp>
      <p:sp>
        <p:nvSpPr>
          <p:cNvPr id="6" name="hdr-n"/>
          <p:cNvSpPr txBox="1"/>
          <p:nvPr/>
        </p:nvSpPr>
        <p:spPr>
          <a:xfrm>
            <a:off x="10424160" y="502920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04</a:t>
            </a:r>
          </a:p>
        </p:txBody>
      </p:sp>
      <p:sp>
        <p:nvSpPr>
          <p:cNvPr id="7" name="hdr-foot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3AD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8" name="card0-sheet"/>
          <p:cNvSpPr/>
          <p:nvPr/>
        </p:nvSpPr>
        <p:spPr>
          <a:xfrm>
            <a:off x="548640" y="1874519"/>
            <a:ext cx="2567863" cy="411480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>
            <a:noFill/>
          </a:ln>
          <a:effectLst>
            <a:outerShdw blurRad="457200" dist="127000" dir="54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rd0-tab"/>
          <p:cNvSpPr/>
          <p:nvPr/>
        </p:nvSpPr>
        <p:spPr>
          <a:xfrm>
            <a:off x="548640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0-num"/>
          <p:cNvSpPr txBox="1"/>
          <p:nvPr/>
        </p:nvSpPr>
        <p:spPr>
          <a:xfrm>
            <a:off x="548640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card0-icon-bg"/>
          <p:cNvSpPr/>
          <p:nvPr/>
        </p:nvSpPr>
        <p:spPr>
          <a:xfrm>
            <a:off x="2019223" y="2130551"/>
            <a:ext cx="786384" cy="7863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card0-icon-ic" descr="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227" y="2303555"/>
            <a:ext cx="440376" cy="440376"/>
          </a:xfrm>
          <a:prstGeom prst="rect">
            <a:avLst/>
          </a:prstGeom>
        </p:spPr>
      </p:pic>
      <p:sp>
        <p:nvSpPr>
          <p:cNvPr id="13" name="card0-title"/>
          <p:cNvSpPr txBox="1"/>
          <p:nvPr/>
        </p:nvSpPr>
        <p:spPr>
          <a:xfrm>
            <a:off x="822960" y="3063239"/>
            <a:ext cx="2019223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0F1216"/>
                </a:solidFill>
                <a:latin typeface="Yu Gothic UI"/>
              </a:rPr>
              <a:t>JANコードで検索される</a:t>
            </a:r>
          </a:p>
        </p:txBody>
      </p:sp>
      <p:sp>
        <p:nvSpPr>
          <p:cNvPr id="14" name="card0-body"/>
          <p:cNvSpPr txBox="1"/>
          <p:nvPr/>
        </p:nvSpPr>
        <p:spPr>
          <a:xfrm>
            <a:off x="822960" y="3657599"/>
            <a:ext cx="2019223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B2027"/>
                </a:solidFill>
                <a:latin typeface="Yu Gothic UI"/>
              </a:rPr>
              <a:t>構造化データ・サイトマップ・バーコード先頭の説明文。Google で商品コードを検索すれば当店のページが候補に。</a:t>
            </a:r>
          </a:p>
        </p:txBody>
      </p:sp>
      <p:sp>
        <p:nvSpPr>
          <p:cNvPr id="15" name="card0-rule"/>
          <p:cNvSpPr/>
          <p:nvPr/>
        </p:nvSpPr>
        <p:spPr>
          <a:xfrm>
            <a:off x="822960" y="5120639"/>
            <a:ext cx="457200" cy="3657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0-mn"/>
          <p:cNvSpPr txBox="1"/>
          <p:nvPr/>
        </p:nvSpPr>
        <p:spPr>
          <a:xfrm>
            <a:off x="822960" y="5212079"/>
            <a:ext cx="2019223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168"/>
                </a:solidFill>
                <a:latin typeface="Segoe UI"/>
              </a:rPr>
              <a:t>JAN кодоор Google-д олдох SEO.</a:t>
            </a:r>
          </a:p>
        </p:txBody>
      </p:sp>
      <p:sp>
        <p:nvSpPr>
          <p:cNvPr id="17" name="card1-sheet"/>
          <p:cNvSpPr/>
          <p:nvPr/>
        </p:nvSpPr>
        <p:spPr>
          <a:xfrm>
            <a:off x="3390823" y="10104119"/>
            <a:ext cx="2567863" cy="411480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>
            <a:noFill/>
          </a:ln>
          <a:effectLst>
            <a:outerShdw blurRad="457200" dist="127000" dir="54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1-tab"/>
          <p:cNvSpPr/>
          <p:nvPr/>
        </p:nvSpPr>
        <p:spPr>
          <a:xfrm>
            <a:off x="3390823" y="101041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1-num"/>
          <p:cNvSpPr txBox="1"/>
          <p:nvPr/>
        </p:nvSpPr>
        <p:spPr>
          <a:xfrm>
            <a:off x="3390823" y="102138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0" name="card1-icon-bg"/>
          <p:cNvSpPr/>
          <p:nvPr/>
        </p:nvSpPr>
        <p:spPr>
          <a:xfrm>
            <a:off x="4861406" y="10360151"/>
            <a:ext cx="786384" cy="78638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card1-icon-ic" descr="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410" y="10533155"/>
            <a:ext cx="440376" cy="440376"/>
          </a:xfrm>
          <a:prstGeom prst="rect">
            <a:avLst/>
          </a:prstGeom>
        </p:spPr>
      </p:pic>
      <p:sp>
        <p:nvSpPr>
          <p:cNvPr id="22" name="card1-title"/>
          <p:cNvSpPr txBox="1"/>
          <p:nvPr/>
        </p:nvSpPr>
        <p:spPr>
          <a:xfrm>
            <a:off x="3665143" y="11292839"/>
            <a:ext cx="2019223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0F1216"/>
                </a:solidFill>
                <a:latin typeface="Yu Gothic UI"/>
              </a:rPr>
              <a:t>写真の上に内容量・成分・原産国</a:t>
            </a:r>
          </a:p>
        </p:txBody>
      </p:sp>
      <p:sp>
        <p:nvSpPr>
          <p:cNvPr id="23" name="card1-body"/>
          <p:cNvSpPr txBox="1"/>
          <p:nvPr/>
        </p:nvSpPr>
        <p:spPr>
          <a:xfrm>
            <a:off x="3665143" y="11887199"/>
            <a:ext cx="2019223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B2027"/>
                </a:solidFill>
                <a:latin typeface="Yu Gothic UI"/>
              </a:rPr>
              <a:t>内容量、成分表示、原産国、使用期限を商品写真の上にカードで表示。日本語の成分もそのまま掲載できる。</a:t>
            </a:r>
          </a:p>
        </p:txBody>
      </p:sp>
      <p:sp>
        <p:nvSpPr>
          <p:cNvPr id="24" name="card1-rule"/>
          <p:cNvSpPr/>
          <p:nvPr/>
        </p:nvSpPr>
        <p:spPr>
          <a:xfrm>
            <a:off x="3665143" y="13350239"/>
            <a:ext cx="457200" cy="3657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1-mn"/>
          <p:cNvSpPr txBox="1"/>
          <p:nvPr/>
        </p:nvSpPr>
        <p:spPr>
          <a:xfrm>
            <a:off x="3665143" y="13441679"/>
            <a:ext cx="2019223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168"/>
                </a:solidFill>
                <a:latin typeface="Segoe UI"/>
              </a:rPr>
              <a:t>Хэмжээ, найрлага, гарал, хугацаа зурган дээр.</a:t>
            </a:r>
          </a:p>
        </p:txBody>
      </p:sp>
      <p:sp>
        <p:nvSpPr>
          <p:cNvPr id="26" name="card2-sheet"/>
          <p:cNvSpPr/>
          <p:nvPr/>
        </p:nvSpPr>
        <p:spPr>
          <a:xfrm>
            <a:off x="6233006" y="10104119"/>
            <a:ext cx="2567863" cy="411480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>
            <a:noFill/>
          </a:ln>
          <a:effectLst>
            <a:outerShdw blurRad="457200" dist="127000" dir="54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2-tab"/>
          <p:cNvSpPr/>
          <p:nvPr/>
        </p:nvSpPr>
        <p:spPr>
          <a:xfrm>
            <a:off x="6233006" y="101041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2-num"/>
          <p:cNvSpPr txBox="1"/>
          <p:nvPr/>
        </p:nvSpPr>
        <p:spPr>
          <a:xfrm>
            <a:off x="6233006" y="102138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9" name="card2-icon-bg"/>
          <p:cNvSpPr/>
          <p:nvPr/>
        </p:nvSpPr>
        <p:spPr>
          <a:xfrm>
            <a:off x="7703589" y="10360151"/>
            <a:ext cx="786384" cy="786384"/>
          </a:xfrm>
          <a:prstGeom prst="ellipse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card2-icon-ic" descr="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6593" y="10533155"/>
            <a:ext cx="440376" cy="440376"/>
          </a:xfrm>
          <a:prstGeom prst="rect">
            <a:avLst/>
          </a:prstGeom>
        </p:spPr>
      </p:pic>
      <p:sp>
        <p:nvSpPr>
          <p:cNvPr id="31" name="card2-title"/>
          <p:cNvSpPr txBox="1"/>
          <p:nvPr/>
        </p:nvSpPr>
        <p:spPr>
          <a:xfrm>
            <a:off x="6507326" y="11292839"/>
            <a:ext cx="2019223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0F1216"/>
                </a:solidFill>
                <a:latin typeface="Yu Gothic UI"/>
              </a:rPr>
              <a:t>レビュー・Q&amp;A・共有</a:t>
            </a:r>
          </a:p>
        </p:txBody>
      </p:sp>
      <p:sp>
        <p:nvSpPr>
          <p:cNvPr id="32" name="card2-body"/>
          <p:cNvSpPr txBox="1"/>
          <p:nvPr/>
        </p:nvSpPr>
        <p:spPr>
          <a:xfrm>
            <a:off x="6507326" y="11887199"/>
            <a:ext cx="2019223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B2027"/>
                </a:solidFill>
                <a:latin typeface="Yu Gothic UI"/>
              </a:rPr>
              <a:t>購入者だけがレビュー。返信・いいね・Q&amp;A、投稿への特典。Facebook / Messenger / X / Telegram に商品画像付きで共有。</a:t>
            </a:r>
          </a:p>
        </p:txBody>
      </p:sp>
      <p:sp>
        <p:nvSpPr>
          <p:cNvPr id="33" name="card2-rule"/>
          <p:cNvSpPr/>
          <p:nvPr/>
        </p:nvSpPr>
        <p:spPr>
          <a:xfrm>
            <a:off x="6507326" y="13350239"/>
            <a:ext cx="457200" cy="36576"/>
          </a:xfrm>
          <a:prstGeom prst="rect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ard2-mn"/>
          <p:cNvSpPr txBox="1"/>
          <p:nvPr/>
        </p:nvSpPr>
        <p:spPr>
          <a:xfrm>
            <a:off x="6507326" y="13441679"/>
            <a:ext cx="2019223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168"/>
                </a:solidFill>
                <a:latin typeface="Segoe UI"/>
              </a:rPr>
              <a:t>Сэтгэгдэл, Q&amp;A, урамшуулал, сошиалд хуваалцах.</a:t>
            </a:r>
          </a:p>
        </p:txBody>
      </p:sp>
      <p:sp>
        <p:nvSpPr>
          <p:cNvPr id="35" name="card3-sheet"/>
          <p:cNvSpPr/>
          <p:nvPr/>
        </p:nvSpPr>
        <p:spPr>
          <a:xfrm>
            <a:off x="9075189" y="10104119"/>
            <a:ext cx="2567863" cy="411480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>
            <a:noFill/>
          </a:ln>
          <a:effectLst>
            <a:outerShdw blurRad="457200" dist="127000" dir="54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ard3-tab"/>
          <p:cNvSpPr/>
          <p:nvPr/>
        </p:nvSpPr>
        <p:spPr>
          <a:xfrm>
            <a:off x="9075189" y="101041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ard3-num"/>
          <p:cNvSpPr txBox="1"/>
          <p:nvPr/>
        </p:nvSpPr>
        <p:spPr>
          <a:xfrm>
            <a:off x="9075189" y="102138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8" name="card3-icon-bg"/>
          <p:cNvSpPr/>
          <p:nvPr/>
        </p:nvSpPr>
        <p:spPr>
          <a:xfrm>
            <a:off x="10545772" y="10360151"/>
            <a:ext cx="786384" cy="786384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card3-icon-ic" descr="gif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776" y="10533155"/>
            <a:ext cx="440376" cy="440376"/>
          </a:xfrm>
          <a:prstGeom prst="rect">
            <a:avLst/>
          </a:prstGeom>
        </p:spPr>
      </p:pic>
      <p:sp>
        <p:nvSpPr>
          <p:cNvPr id="40" name="card3-title"/>
          <p:cNvSpPr txBox="1"/>
          <p:nvPr/>
        </p:nvSpPr>
        <p:spPr>
          <a:xfrm>
            <a:off x="9349509" y="11292839"/>
            <a:ext cx="2019223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0F1216"/>
                </a:solidFill>
                <a:latin typeface="Yu Gothic UI"/>
              </a:rPr>
              <a:t>ギフトカードとバリエーション</a:t>
            </a:r>
          </a:p>
        </p:txBody>
      </p:sp>
      <p:sp>
        <p:nvSpPr>
          <p:cNvPr id="41" name="card3-body"/>
          <p:cNvSpPr txBox="1"/>
          <p:nvPr/>
        </p:nvSpPr>
        <p:spPr>
          <a:xfrm>
            <a:off x="9349509" y="11887199"/>
            <a:ext cx="2019223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B2027"/>
                </a:solidFill>
                <a:latin typeface="Yu Gothic UI"/>
              </a:rPr>
              <a:t>デジタルギフトカードをその場で発行。サイズ・色のバリエーション、関連商品、レシピ提案。</a:t>
            </a:r>
          </a:p>
        </p:txBody>
      </p:sp>
      <p:sp>
        <p:nvSpPr>
          <p:cNvPr id="42" name="card3-rule"/>
          <p:cNvSpPr/>
          <p:nvPr/>
        </p:nvSpPr>
        <p:spPr>
          <a:xfrm>
            <a:off x="9349509" y="13350239"/>
            <a:ext cx="457200" cy="36576"/>
          </a:xfrm>
          <a:prstGeom prst="rect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ard3-mn"/>
          <p:cNvSpPr txBox="1"/>
          <p:nvPr/>
        </p:nvSpPr>
        <p:spPr>
          <a:xfrm>
            <a:off x="9349509" y="13441679"/>
            <a:ext cx="2019223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168"/>
                </a:solidFill>
                <a:latin typeface="Segoe UI"/>
              </a:rPr>
              <a:t>Бэлгийн карт, variant, холбоотой бараа.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216"/>
              </a:gs>
              <a:gs pos="100000">
                <a:srgbClr val="1B202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96926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Yu Gothic UI"/>
              </a:rPr>
              <a:t>商品ページ — 信頼される情報設計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AD"/>
                </a:solidFill>
                <a:latin typeface="Segoe UI"/>
              </a:rPr>
              <a:t>Барааны хуудас</a:t>
            </a:r>
          </a:p>
        </p:txBody>
      </p:sp>
      <p:sp>
        <p:nvSpPr>
          <p:cNvPr id="6" name="hdr-n"/>
          <p:cNvSpPr txBox="1"/>
          <p:nvPr/>
        </p:nvSpPr>
        <p:spPr>
          <a:xfrm>
            <a:off x="10424160" y="502920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04</a:t>
            </a:r>
          </a:p>
        </p:txBody>
      </p:sp>
      <p:sp>
        <p:nvSpPr>
          <p:cNvPr id="7" name="hdr-foot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3AD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8" name="card0-sheet"/>
          <p:cNvSpPr/>
          <p:nvPr/>
        </p:nvSpPr>
        <p:spPr>
          <a:xfrm>
            <a:off x="548640" y="1874519"/>
            <a:ext cx="2567863" cy="411480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>
            <a:noFill/>
          </a:ln>
          <a:effectLst>
            <a:outerShdw blurRad="457200" dist="127000" dir="54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rd0-tab"/>
          <p:cNvSpPr/>
          <p:nvPr/>
        </p:nvSpPr>
        <p:spPr>
          <a:xfrm>
            <a:off x="548640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0-num"/>
          <p:cNvSpPr txBox="1"/>
          <p:nvPr/>
        </p:nvSpPr>
        <p:spPr>
          <a:xfrm>
            <a:off x="548640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card0-icon-bg"/>
          <p:cNvSpPr/>
          <p:nvPr/>
        </p:nvSpPr>
        <p:spPr>
          <a:xfrm>
            <a:off x="2019223" y="2130551"/>
            <a:ext cx="786384" cy="7863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card0-icon-ic" descr="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227" y="2303555"/>
            <a:ext cx="440376" cy="440376"/>
          </a:xfrm>
          <a:prstGeom prst="rect">
            <a:avLst/>
          </a:prstGeom>
        </p:spPr>
      </p:pic>
      <p:sp>
        <p:nvSpPr>
          <p:cNvPr id="13" name="card0-title"/>
          <p:cNvSpPr txBox="1"/>
          <p:nvPr/>
        </p:nvSpPr>
        <p:spPr>
          <a:xfrm>
            <a:off x="822960" y="3063239"/>
            <a:ext cx="2019223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0F1216"/>
                </a:solidFill>
                <a:latin typeface="Yu Gothic UI"/>
              </a:rPr>
              <a:t>JANコードで検索される</a:t>
            </a:r>
          </a:p>
        </p:txBody>
      </p:sp>
      <p:sp>
        <p:nvSpPr>
          <p:cNvPr id="14" name="card0-body"/>
          <p:cNvSpPr txBox="1"/>
          <p:nvPr/>
        </p:nvSpPr>
        <p:spPr>
          <a:xfrm>
            <a:off x="822960" y="3657599"/>
            <a:ext cx="2019223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B2027"/>
                </a:solidFill>
                <a:latin typeface="Yu Gothic UI"/>
              </a:rPr>
              <a:t>構造化データ・サイトマップ・バーコード先頭の説明文。Google で商品コードを検索すれば当店のページが候補に。</a:t>
            </a:r>
          </a:p>
        </p:txBody>
      </p:sp>
      <p:sp>
        <p:nvSpPr>
          <p:cNvPr id="15" name="card0-rule"/>
          <p:cNvSpPr/>
          <p:nvPr/>
        </p:nvSpPr>
        <p:spPr>
          <a:xfrm>
            <a:off x="822960" y="5120639"/>
            <a:ext cx="457200" cy="3657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0-mn"/>
          <p:cNvSpPr txBox="1"/>
          <p:nvPr/>
        </p:nvSpPr>
        <p:spPr>
          <a:xfrm>
            <a:off x="822960" y="5212079"/>
            <a:ext cx="2019223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168"/>
                </a:solidFill>
                <a:latin typeface="Segoe UI"/>
              </a:rPr>
              <a:t>JAN кодоор Google-д олдох SEO.</a:t>
            </a:r>
          </a:p>
        </p:txBody>
      </p:sp>
      <p:sp>
        <p:nvSpPr>
          <p:cNvPr id="17" name="card1-sheet"/>
          <p:cNvSpPr/>
          <p:nvPr/>
        </p:nvSpPr>
        <p:spPr>
          <a:xfrm>
            <a:off x="3390823" y="1874519"/>
            <a:ext cx="2567863" cy="411480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>
            <a:noFill/>
          </a:ln>
          <a:effectLst>
            <a:outerShdw blurRad="457200" dist="127000" dir="54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1-tab"/>
          <p:cNvSpPr/>
          <p:nvPr/>
        </p:nvSpPr>
        <p:spPr>
          <a:xfrm>
            <a:off x="3390823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1-num"/>
          <p:cNvSpPr txBox="1"/>
          <p:nvPr/>
        </p:nvSpPr>
        <p:spPr>
          <a:xfrm>
            <a:off x="3390823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0" name="card1-icon-bg"/>
          <p:cNvSpPr/>
          <p:nvPr/>
        </p:nvSpPr>
        <p:spPr>
          <a:xfrm>
            <a:off x="4861406" y="2130551"/>
            <a:ext cx="786384" cy="78638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card1-icon-ic" descr="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410" y="2303555"/>
            <a:ext cx="440376" cy="440376"/>
          </a:xfrm>
          <a:prstGeom prst="rect">
            <a:avLst/>
          </a:prstGeom>
        </p:spPr>
      </p:pic>
      <p:sp>
        <p:nvSpPr>
          <p:cNvPr id="22" name="card1-title"/>
          <p:cNvSpPr txBox="1"/>
          <p:nvPr/>
        </p:nvSpPr>
        <p:spPr>
          <a:xfrm>
            <a:off x="3665143" y="3063239"/>
            <a:ext cx="2019223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0F1216"/>
                </a:solidFill>
                <a:latin typeface="Yu Gothic UI"/>
              </a:rPr>
              <a:t>写真の上に内容量・成分・原産国</a:t>
            </a:r>
          </a:p>
        </p:txBody>
      </p:sp>
      <p:sp>
        <p:nvSpPr>
          <p:cNvPr id="23" name="card1-body"/>
          <p:cNvSpPr txBox="1"/>
          <p:nvPr/>
        </p:nvSpPr>
        <p:spPr>
          <a:xfrm>
            <a:off x="3665143" y="3657599"/>
            <a:ext cx="2019223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B2027"/>
                </a:solidFill>
                <a:latin typeface="Yu Gothic UI"/>
              </a:rPr>
              <a:t>内容量、成分表示、原産国、使用期限を商品写真の上にカードで表示。日本語の成分もそのまま掲載できる。</a:t>
            </a:r>
          </a:p>
        </p:txBody>
      </p:sp>
      <p:sp>
        <p:nvSpPr>
          <p:cNvPr id="24" name="card1-rule"/>
          <p:cNvSpPr/>
          <p:nvPr/>
        </p:nvSpPr>
        <p:spPr>
          <a:xfrm>
            <a:off x="3665143" y="5120639"/>
            <a:ext cx="457200" cy="3657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1-mn"/>
          <p:cNvSpPr txBox="1"/>
          <p:nvPr/>
        </p:nvSpPr>
        <p:spPr>
          <a:xfrm>
            <a:off x="3665143" y="5212079"/>
            <a:ext cx="2019223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168"/>
                </a:solidFill>
                <a:latin typeface="Segoe UI"/>
              </a:rPr>
              <a:t>Хэмжээ, найрлага, гарал, хугацаа зурган дээр.</a:t>
            </a:r>
          </a:p>
        </p:txBody>
      </p:sp>
      <p:sp>
        <p:nvSpPr>
          <p:cNvPr id="26" name="card2-sheet"/>
          <p:cNvSpPr/>
          <p:nvPr/>
        </p:nvSpPr>
        <p:spPr>
          <a:xfrm>
            <a:off x="6233006" y="10104119"/>
            <a:ext cx="2567863" cy="411480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>
            <a:noFill/>
          </a:ln>
          <a:effectLst>
            <a:outerShdw blurRad="457200" dist="127000" dir="54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2-tab"/>
          <p:cNvSpPr/>
          <p:nvPr/>
        </p:nvSpPr>
        <p:spPr>
          <a:xfrm>
            <a:off x="6233006" y="101041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2-num"/>
          <p:cNvSpPr txBox="1"/>
          <p:nvPr/>
        </p:nvSpPr>
        <p:spPr>
          <a:xfrm>
            <a:off x="6233006" y="102138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9" name="card2-icon-bg"/>
          <p:cNvSpPr/>
          <p:nvPr/>
        </p:nvSpPr>
        <p:spPr>
          <a:xfrm>
            <a:off x="7703589" y="10360151"/>
            <a:ext cx="786384" cy="786384"/>
          </a:xfrm>
          <a:prstGeom prst="ellipse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card2-icon-ic" descr="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6593" y="10533155"/>
            <a:ext cx="440376" cy="440376"/>
          </a:xfrm>
          <a:prstGeom prst="rect">
            <a:avLst/>
          </a:prstGeom>
        </p:spPr>
      </p:pic>
      <p:sp>
        <p:nvSpPr>
          <p:cNvPr id="31" name="card2-title"/>
          <p:cNvSpPr txBox="1"/>
          <p:nvPr/>
        </p:nvSpPr>
        <p:spPr>
          <a:xfrm>
            <a:off x="6507326" y="11292839"/>
            <a:ext cx="2019223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0F1216"/>
                </a:solidFill>
                <a:latin typeface="Yu Gothic UI"/>
              </a:rPr>
              <a:t>レビュー・Q&amp;A・共有</a:t>
            </a:r>
          </a:p>
        </p:txBody>
      </p:sp>
      <p:sp>
        <p:nvSpPr>
          <p:cNvPr id="32" name="card2-body"/>
          <p:cNvSpPr txBox="1"/>
          <p:nvPr/>
        </p:nvSpPr>
        <p:spPr>
          <a:xfrm>
            <a:off x="6507326" y="11887199"/>
            <a:ext cx="2019223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B2027"/>
                </a:solidFill>
                <a:latin typeface="Yu Gothic UI"/>
              </a:rPr>
              <a:t>購入者だけがレビュー。返信・いいね・Q&amp;A、投稿への特典。Facebook / Messenger / X / Telegram に商品画像付きで共有。</a:t>
            </a:r>
          </a:p>
        </p:txBody>
      </p:sp>
      <p:sp>
        <p:nvSpPr>
          <p:cNvPr id="33" name="card2-rule"/>
          <p:cNvSpPr/>
          <p:nvPr/>
        </p:nvSpPr>
        <p:spPr>
          <a:xfrm>
            <a:off x="6507326" y="13350239"/>
            <a:ext cx="457200" cy="36576"/>
          </a:xfrm>
          <a:prstGeom prst="rect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ard2-mn"/>
          <p:cNvSpPr txBox="1"/>
          <p:nvPr/>
        </p:nvSpPr>
        <p:spPr>
          <a:xfrm>
            <a:off x="6507326" y="13441679"/>
            <a:ext cx="2019223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168"/>
                </a:solidFill>
                <a:latin typeface="Segoe UI"/>
              </a:rPr>
              <a:t>Сэтгэгдэл, Q&amp;A, урамшуулал, сошиалд хуваалцах.</a:t>
            </a:r>
          </a:p>
        </p:txBody>
      </p:sp>
      <p:sp>
        <p:nvSpPr>
          <p:cNvPr id="35" name="card3-sheet"/>
          <p:cNvSpPr/>
          <p:nvPr/>
        </p:nvSpPr>
        <p:spPr>
          <a:xfrm>
            <a:off x="9075189" y="10104119"/>
            <a:ext cx="2567863" cy="411480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>
            <a:noFill/>
          </a:ln>
          <a:effectLst>
            <a:outerShdw blurRad="457200" dist="127000" dir="54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ard3-tab"/>
          <p:cNvSpPr/>
          <p:nvPr/>
        </p:nvSpPr>
        <p:spPr>
          <a:xfrm>
            <a:off x="9075189" y="101041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ard3-num"/>
          <p:cNvSpPr txBox="1"/>
          <p:nvPr/>
        </p:nvSpPr>
        <p:spPr>
          <a:xfrm>
            <a:off x="9075189" y="102138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8" name="card3-icon-bg"/>
          <p:cNvSpPr/>
          <p:nvPr/>
        </p:nvSpPr>
        <p:spPr>
          <a:xfrm>
            <a:off x="10545772" y="10360151"/>
            <a:ext cx="786384" cy="786384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card3-icon-ic" descr="gif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776" y="10533155"/>
            <a:ext cx="440376" cy="440376"/>
          </a:xfrm>
          <a:prstGeom prst="rect">
            <a:avLst/>
          </a:prstGeom>
        </p:spPr>
      </p:pic>
      <p:sp>
        <p:nvSpPr>
          <p:cNvPr id="40" name="card3-title"/>
          <p:cNvSpPr txBox="1"/>
          <p:nvPr/>
        </p:nvSpPr>
        <p:spPr>
          <a:xfrm>
            <a:off x="9349509" y="11292839"/>
            <a:ext cx="2019223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0F1216"/>
                </a:solidFill>
                <a:latin typeface="Yu Gothic UI"/>
              </a:rPr>
              <a:t>ギフトカードとバリエーション</a:t>
            </a:r>
          </a:p>
        </p:txBody>
      </p:sp>
      <p:sp>
        <p:nvSpPr>
          <p:cNvPr id="41" name="card3-body"/>
          <p:cNvSpPr txBox="1"/>
          <p:nvPr/>
        </p:nvSpPr>
        <p:spPr>
          <a:xfrm>
            <a:off x="9349509" y="11887199"/>
            <a:ext cx="2019223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B2027"/>
                </a:solidFill>
                <a:latin typeface="Yu Gothic UI"/>
              </a:rPr>
              <a:t>デジタルギフトカードをその場で発行。サイズ・色のバリエーション、関連商品、レシピ提案。</a:t>
            </a:r>
          </a:p>
        </p:txBody>
      </p:sp>
      <p:sp>
        <p:nvSpPr>
          <p:cNvPr id="42" name="card3-rule"/>
          <p:cNvSpPr/>
          <p:nvPr/>
        </p:nvSpPr>
        <p:spPr>
          <a:xfrm>
            <a:off x="9349509" y="13350239"/>
            <a:ext cx="457200" cy="36576"/>
          </a:xfrm>
          <a:prstGeom prst="rect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ard3-mn"/>
          <p:cNvSpPr txBox="1"/>
          <p:nvPr/>
        </p:nvSpPr>
        <p:spPr>
          <a:xfrm>
            <a:off x="9349509" y="13441679"/>
            <a:ext cx="2019223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168"/>
                </a:solidFill>
                <a:latin typeface="Segoe UI"/>
              </a:rPr>
              <a:t>Бэлгийн карт, variant, холбоотой бараа.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216"/>
              </a:gs>
              <a:gs pos="100000">
                <a:srgbClr val="1B202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96926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Yu Gothic UI"/>
              </a:rPr>
              <a:t>商品ページ — 信頼される情報設計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AD"/>
                </a:solidFill>
                <a:latin typeface="Segoe UI"/>
              </a:rPr>
              <a:t>Барааны хуудас</a:t>
            </a:r>
          </a:p>
        </p:txBody>
      </p:sp>
      <p:sp>
        <p:nvSpPr>
          <p:cNvPr id="6" name="hdr-n"/>
          <p:cNvSpPr txBox="1"/>
          <p:nvPr/>
        </p:nvSpPr>
        <p:spPr>
          <a:xfrm>
            <a:off x="10424160" y="502920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04</a:t>
            </a:r>
          </a:p>
        </p:txBody>
      </p:sp>
      <p:sp>
        <p:nvSpPr>
          <p:cNvPr id="7" name="hdr-foot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3AD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8" name="card0-sheet"/>
          <p:cNvSpPr/>
          <p:nvPr/>
        </p:nvSpPr>
        <p:spPr>
          <a:xfrm>
            <a:off x="548640" y="1874519"/>
            <a:ext cx="2567863" cy="411480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>
            <a:noFill/>
          </a:ln>
          <a:effectLst>
            <a:outerShdw blurRad="457200" dist="127000" dir="54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rd0-tab"/>
          <p:cNvSpPr/>
          <p:nvPr/>
        </p:nvSpPr>
        <p:spPr>
          <a:xfrm>
            <a:off x="548640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0-num"/>
          <p:cNvSpPr txBox="1"/>
          <p:nvPr/>
        </p:nvSpPr>
        <p:spPr>
          <a:xfrm>
            <a:off x="548640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card0-icon-bg"/>
          <p:cNvSpPr/>
          <p:nvPr/>
        </p:nvSpPr>
        <p:spPr>
          <a:xfrm>
            <a:off x="2019223" y="2130551"/>
            <a:ext cx="786384" cy="7863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card0-icon-ic" descr="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227" y="2303555"/>
            <a:ext cx="440376" cy="440376"/>
          </a:xfrm>
          <a:prstGeom prst="rect">
            <a:avLst/>
          </a:prstGeom>
        </p:spPr>
      </p:pic>
      <p:sp>
        <p:nvSpPr>
          <p:cNvPr id="13" name="card0-title"/>
          <p:cNvSpPr txBox="1"/>
          <p:nvPr/>
        </p:nvSpPr>
        <p:spPr>
          <a:xfrm>
            <a:off x="822960" y="3063239"/>
            <a:ext cx="2019223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0F1216"/>
                </a:solidFill>
                <a:latin typeface="Yu Gothic UI"/>
              </a:rPr>
              <a:t>JANコードで検索される</a:t>
            </a:r>
          </a:p>
        </p:txBody>
      </p:sp>
      <p:sp>
        <p:nvSpPr>
          <p:cNvPr id="14" name="card0-body"/>
          <p:cNvSpPr txBox="1"/>
          <p:nvPr/>
        </p:nvSpPr>
        <p:spPr>
          <a:xfrm>
            <a:off x="822960" y="3657599"/>
            <a:ext cx="2019223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B2027"/>
                </a:solidFill>
                <a:latin typeface="Yu Gothic UI"/>
              </a:rPr>
              <a:t>構造化データ・サイトマップ・バーコード先頭の説明文。Google で商品コードを検索すれば当店のページが候補に。</a:t>
            </a:r>
          </a:p>
        </p:txBody>
      </p:sp>
      <p:sp>
        <p:nvSpPr>
          <p:cNvPr id="15" name="card0-rule"/>
          <p:cNvSpPr/>
          <p:nvPr/>
        </p:nvSpPr>
        <p:spPr>
          <a:xfrm>
            <a:off x="822960" y="5120639"/>
            <a:ext cx="457200" cy="3657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0-mn"/>
          <p:cNvSpPr txBox="1"/>
          <p:nvPr/>
        </p:nvSpPr>
        <p:spPr>
          <a:xfrm>
            <a:off x="822960" y="5212079"/>
            <a:ext cx="2019223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168"/>
                </a:solidFill>
                <a:latin typeface="Segoe UI"/>
              </a:rPr>
              <a:t>JAN кодоор Google-д олдох SEO.</a:t>
            </a:r>
          </a:p>
        </p:txBody>
      </p:sp>
      <p:sp>
        <p:nvSpPr>
          <p:cNvPr id="17" name="card1-sheet"/>
          <p:cNvSpPr/>
          <p:nvPr/>
        </p:nvSpPr>
        <p:spPr>
          <a:xfrm>
            <a:off x="3390823" y="1874519"/>
            <a:ext cx="2567863" cy="411480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>
            <a:noFill/>
          </a:ln>
          <a:effectLst>
            <a:outerShdw blurRad="457200" dist="127000" dir="54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1-tab"/>
          <p:cNvSpPr/>
          <p:nvPr/>
        </p:nvSpPr>
        <p:spPr>
          <a:xfrm>
            <a:off x="3390823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1-num"/>
          <p:cNvSpPr txBox="1"/>
          <p:nvPr/>
        </p:nvSpPr>
        <p:spPr>
          <a:xfrm>
            <a:off x="3390823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0" name="card1-icon-bg"/>
          <p:cNvSpPr/>
          <p:nvPr/>
        </p:nvSpPr>
        <p:spPr>
          <a:xfrm>
            <a:off x="4861406" y="2130551"/>
            <a:ext cx="786384" cy="78638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card1-icon-ic" descr="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410" y="2303555"/>
            <a:ext cx="440376" cy="440376"/>
          </a:xfrm>
          <a:prstGeom prst="rect">
            <a:avLst/>
          </a:prstGeom>
        </p:spPr>
      </p:pic>
      <p:sp>
        <p:nvSpPr>
          <p:cNvPr id="22" name="card1-title"/>
          <p:cNvSpPr txBox="1"/>
          <p:nvPr/>
        </p:nvSpPr>
        <p:spPr>
          <a:xfrm>
            <a:off x="3665143" y="3063239"/>
            <a:ext cx="2019223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0F1216"/>
                </a:solidFill>
                <a:latin typeface="Yu Gothic UI"/>
              </a:rPr>
              <a:t>写真の上に内容量・成分・原産国</a:t>
            </a:r>
          </a:p>
        </p:txBody>
      </p:sp>
      <p:sp>
        <p:nvSpPr>
          <p:cNvPr id="23" name="card1-body"/>
          <p:cNvSpPr txBox="1"/>
          <p:nvPr/>
        </p:nvSpPr>
        <p:spPr>
          <a:xfrm>
            <a:off x="3665143" y="3657599"/>
            <a:ext cx="2019223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B2027"/>
                </a:solidFill>
                <a:latin typeface="Yu Gothic UI"/>
              </a:rPr>
              <a:t>内容量、成分表示、原産国、使用期限を商品写真の上にカードで表示。日本語の成分もそのまま掲載できる。</a:t>
            </a:r>
          </a:p>
        </p:txBody>
      </p:sp>
      <p:sp>
        <p:nvSpPr>
          <p:cNvPr id="24" name="card1-rule"/>
          <p:cNvSpPr/>
          <p:nvPr/>
        </p:nvSpPr>
        <p:spPr>
          <a:xfrm>
            <a:off x="3665143" y="5120639"/>
            <a:ext cx="457200" cy="3657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1-mn"/>
          <p:cNvSpPr txBox="1"/>
          <p:nvPr/>
        </p:nvSpPr>
        <p:spPr>
          <a:xfrm>
            <a:off x="3665143" y="5212079"/>
            <a:ext cx="2019223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168"/>
                </a:solidFill>
                <a:latin typeface="Segoe UI"/>
              </a:rPr>
              <a:t>Хэмжээ, найрлага, гарал, хугацаа зурган дээр.</a:t>
            </a:r>
          </a:p>
        </p:txBody>
      </p:sp>
      <p:sp>
        <p:nvSpPr>
          <p:cNvPr id="26" name="card2-sheet"/>
          <p:cNvSpPr/>
          <p:nvPr/>
        </p:nvSpPr>
        <p:spPr>
          <a:xfrm>
            <a:off x="6233006" y="1874519"/>
            <a:ext cx="2567863" cy="411480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>
            <a:noFill/>
          </a:ln>
          <a:effectLst>
            <a:outerShdw blurRad="457200" dist="127000" dir="54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2-tab"/>
          <p:cNvSpPr/>
          <p:nvPr/>
        </p:nvSpPr>
        <p:spPr>
          <a:xfrm>
            <a:off x="6233006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2-num"/>
          <p:cNvSpPr txBox="1"/>
          <p:nvPr/>
        </p:nvSpPr>
        <p:spPr>
          <a:xfrm>
            <a:off x="6233006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9" name="card2-icon-bg"/>
          <p:cNvSpPr/>
          <p:nvPr/>
        </p:nvSpPr>
        <p:spPr>
          <a:xfrm>
            <a:off x="7703589" y="2130551"/>
            <a:ext cx="786384" cy="786384"/>
          </a:xfrm>
          <a:prstGeom prst="ellipse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card2-icon-ic" descr="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6593" y="2303555"/>
            <a:ext cx="440376" cy="440376"/>
          </a:xfrm>
          <a:prstGeom prst="rect">
            <a:avLst/>
          </a:prstGeom>
        </p:spPr>
      </p:pic>
      <p:sp>
        <p:nvSpPr>
          <p:cNvPr id="31" name="card2-title"/>
          <p:cNvSpPr txBox="1"/>
          <p:nvPr/>
        </p:nvSpPr>
        <p:spPr>
          <a:xfrm>
            <a:off x="6507326" y="3063239"/>
            <a:ext cx="2019223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0F1216"/>
                </a:solidFill>
                <a:latin typeface="Yu Gothic UI"/>
              </a:rPr>
              <a:t>レビュー・Q&amp;A・共有</a:t>
            </a:r>
          </a:p>
        </p:txBody>
      </p:sp>
      <p:sp>
        <p:nvSpPr>
          <p:cNvPr id="32" name="card2-body"/>
          <p:cNvSpPr txBox="1"/>
          <p:nvPr/>
        </p:nvSpPr>
        <p:spPr>
          <a:xfrm>
            <a:off x="6507326" y="3657599"/>
            <a:ext cx="2019223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B2027"/>
                </a:solidFill>
                <a:latin typeface="Yu Gothic UI"/>
              </a:rPr>
              <a:t>購入者だけがレビュー。返信・いいね・Q&amp;A、投稿への特典。Facebook / Messenger / X / Telegram に商品画像付きで共有。</a:t>
            </a:r>
          </a:p>
        </p:txBody>
      </p:sp>
      <p:sp>
        <p:nvSpPr>
          <p:cNvPr id="33" name="card2-rule"/>
          <p:cNvSpPr/>
          <p:nvPr/>
        </p:nvSpPr>
        <p:spPr>
          <a:xfrm>
            <a:off x="6507326" y="5120639"/>
            <a:ext cx="457200" cy="36576"/>
          </a:xfrm>
          <a:prstGeom prst="rect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ard2-mn"/>
          <p:cNvSpPr txBox="1"/>
          <p:nvPr/>
        </p:nvSpPr>
        <p:spPr>
          <a:xfrm>
            <a:off x="6507326" y="5212079"/>
            <a:ext cx="2019223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168"/>
                </a:solidFill>
                <a:latin typeface="Segoe UI"/>
              </a:rPr>
              <a:t>Сэтгэгдэл, Q&amp;A, урамшуулал, сошиалд хуваалцах.</a:t>
            </a:r>
          </a:p>
        </p:txBody>
      </p:sp>
      <p:sp>
        <p:nvSpPr>
          <p:cNvPr id="35" name="card3-sheet"/>
          <p:cNvSpPr/>
          <p:nvPr/>
        </p:nvSpPr>
        <p:spPr>
          <a:xfrm>
            <a:off x="9075189" y="10104119"/>
            <a:ext cx="2567863" cy="411480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>
            <a:noFill/>
          </a:ln>
          <a:effectLst>
            <a:outerShdw blurRad="457200" dist="127000" dir="54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ard3-tab"/>
          <p:cNvSpPr/>
          <p:nvPr/>
        </p:nvSpPr>
        <p:spPr>
          <a:xfrm>
            <a:off x="9075189" y="101041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ard3-num"/>
          <p:cNvSpPr txBox="1"/>
          <p:nvPr/>
        </p:nvSpPr>
        <p:spPr>
          <a:xfrm>
            <a:off x="9075189" y="102138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8" name="card3-icon-bg"/>
          <p:cNvSpPr/>
          <p:nvPr/>
        </p:nvSpPr>
        <p:spPr>
          <a:xfrm>
            <a:off x="10545772" y="10360151"/>
            <a:ext cx="786384" cy="786384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card3-icon-ic" descr="gif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776" y="10533155"/>
            <a:ext cx="440376" cy="440376"/>
          </a:xfrm>
          <a:prstGeom prst="rect">
            <a:avLst/>
          </a:prstGeom>
        </p:spPr>
      </p:pic>
      <p:sp>
        <p:nvSpPr>
          <p:cNvPr id="40" name="card3-title"/>
          <p:cNvSpPr txBox="1"/>
          <p:nvPr/>
        </p:nvSpPr>
        <p:spPr>
          <a:xfrm>
            <a:off x="9349509" y="11292839"/>
            <a:ext cx="2019223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0F1216"/>
                </a:solidFill>
                <a:latin typeface="Yu Gothic UI"/>
              </a:rPr>
              <a:t>ギフトカードとバリエーション</a:t>
            </a:r>
          </a:p>
        </p:txBody>
      </p:sp>
      <p:sp>
        <p:nvSpPr>
          <p:cNvPr id="41" name="card3-body"/>
          <p:cNvSpPr txBox="1"/>
          <p:nvPr/>
        </p:nvSpPr>
        <p:spPr>
          <a:xfrm>
            <a:off x="9349509" y="11887199"/>
            <a:ext cx="2019223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B2027"/>
                </a:solidFill>
                <a:latin typeface="Yu Gothic UI"/>
              </a:rPr>
              <a:t>デジタルギフトカードをその場で発行。サイズ・色のバリエーション、関連商品、レシピ提案。</a:t>
            </a:r>
          </a:p>
        </p:txBody>
      </p:sp>
      <p:sp>
        <p:nvSpPr>
          <p:cNvPr id="42" name="card3-rule"/>
          <p:cNvSpPr/>
          <p:nvPr/>
        </p:nvSpPr>
        <p:spPr>
          <a:xfrm>
            <a:off x="9349509" y="13350239"/>
            <a:ext cx="457200" cy="36576"/>
          </a:xfrm>
          <a:prstGeom prst="rect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ard3-mn"/>
          <p:cNvSpPr txBox="1"/>
          <p:nvPr/>
        </p:nvSpPr>
        <p:spPr>
          <a:xfrm>
            <a:off x="9349509" y="13441679"/>
            <a:ext cx="2019223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168"/>
                </a:solidFill>
                <a:latin typeface="Segoe UI"/>
              </a:rPr>
              <a:t>Бэлгийн карт, variant, холбоотой бараа.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216"/>
              </a:gs>
              <a:gs pos="100000">
                <a:srgbClr val="1B202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96926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Yu Gothic UI"/>
              </a:rPr>
              <a:t>商品ページ — 信頼される情報設計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AD"/>
                </a:solidFill>
                <a:latin typeface="Segoe UI"/>
              </a:rPr>
              <a:t>Барааны хуудас</a:t>
            </a:r>
          </a:p>
        </p:txBody>
      </p:sp>
      <p:sp>
        <p:nvSpPr>
          <p:cNvPr id="6" name="hdr-n"/>
          <p:cNvSpPr txBox="1"/>
          <p:nvPr/>
        </p:nvSpPr>
        <p:spPr>
          <a:xfrm>
            <a:off x="10424160" y="502920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04</a:t>
            </a:r>
          </a:p>
        </p:txBody>
      </p:sp>
      <p:sp>
        <p:nvSpPr>
          <p:cNvPr id="7" name="hdr-foot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3AD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8" name="card0-sheet"/>
          <p:cNvSpPr/>
          <p:nvPr/>
        </p:nvSpPr>
        <p:spPr>
          <a:xfrm>
            <a:off x="548640" y="1874519"/>
            <a:ext cx="2567863" cy="411480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>
            <a:noFill/>
          </a:ln>
          <a:effectLst>
            <a:outerShdw blurRad="457200" dist="127000" dir="54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rd0-tab"/>
          <p:cNvSpPr/>
          <p:nvPr/>
        </p:nvSpPr>
        <p:spPr>
          <a:xfrm>
            <a:off x="548640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0-num"/>
          <p:cNvSpPr txBox="1"/>
          <p:nvPr/>
        </p:nvSpPr>
        <p:spPr>
          <a:xfrm>
            <a:off x="548640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card0-icon-bg"/>
          <p:cNvSpPr/>
          <p:nvPr/>
        </p:nvSpPr>
        <p:spPr>
          <a:xfrm>
            <a:off x="2019223" y="2130551"/>
            <a:ext cx="786384" cy="7863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card0-icon-ic" descr="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227" y="2303555"/>
            <a:ext cx="440376" cy="440376"/>
          </a:xfrm>
          <a:prstGeom prst="rect">
            <a:avLst/>
          </a:prstGeom>
        </p:spPr>
      </p:pic>
      <p:sp>
        <p:nvSpPr>
          <p:cNvPr id="13" name="card0-title"/>
          <p:cNvSpPr txBox="1"/>
          <p:nvPr/>
        </p:nvSpPr>
        <p:spPr>
          <a:xfrm>
            <a:off x="822960" y="3063239"/>
            <a:ext cx="2019223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0F1216"/>
                </a:solidFill>
                <a:latin typeface="Yu Gothic UI"/>
              </a:rPr>
              <a:t>JANコードで検索される</a:t>
            </a:r>
          </a:p>
        </p:txBody>
      </p:sp>
      <p:sp>
        <p:nvSpPr>
          <p:cNvPr id="14" name="card0-body"/>
          <p:cNvSpPr txBox="1"/>
          <p:nvPr/>
        </p:nvSpPr>
        <p:spPr>
          <a:xfrm>
            <a:off x="822960" y="3657599"/>
            <a:ext cx="2019223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B2027"/>
                </a:solidFill>
                <a:latin typeface="Yu Gothic UI"/>
              </a:rPr>
              <a:t>構造化データ・サイトマップ・バーコード先頭の説明文。Google で商品コードを検索すれば当店のページが候補に。</a:t>
            </a:r>
          </a:p>
        </p:txBody>
      </p:sp>
      <p:sp>
        <p:nvSpPr>
          <p:cNvPr id="15" name="card0-rule"/>
          <p:cNvSpPr/>
          <p:nvPr/>
        </p:nvSpPr>
        <p:spPr>
          <a:xfrm>
            <a:off x="822960" y="5120639"/>
            <a:ext cx="457200" cy="3657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0-mn"/>
          <p:cNvSpPr txBox="1"/>
          <p:nvPr/>
        </p:nvSpPr>
        <p:spPr>
          <a:xfrm>
            <a:off x="822960" y="5212079"/>
            <a:ext cx="2019223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168"/>
                </a:solidFill>
                <a:latin typeface="Segoe UI"/>
              </a:rPr>
              <a:t>JAN кодоор Google-д олдох SEO.</a:t>
            </a:r>
          </a:p>
        </p:txBody>
      </p:sp>
      <p:sp>
        <p:nvSpPr>
          <p:cNvPr id="17" name="card1-sheet"/>
          <p:cNvSpPr/>
          <p:nvPr/>
        </p:nvSpPr>
        <p:spPr>
          <a:xfrm>
            <a:off x="3390823" y="1874519"/>
            <a:ext cx="2567863" cy="411480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>
            <a:noFill/>
          </a:ln>
          <a:effectLst>
            <a:outerShdw blurRad="457200" dist="127000" dir="54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1-tab"/>
          <p:cNvSpPr/>
          <p:nvPr/>
        </p:nvSpPr>
        <p:spPr>
          <a:xfrm>
            <a:off x="3390823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1-num"/>
          <p:cNvSpPr txBox="1"/>
          <p:nvPr/>
        </p:nvSpPr>
        <p:spPr>
          <a:xfrm>
            <a:off x="3390823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0" name="card1-icon-bg"/>
          <p:cNvSpPr/>
          <p:nvPr/>
        </p:nvSpPr>
        <p:spPr>
          <a:xfrm>
            <a:off x="4861406" y="2130551"/>
            <a:ext cx="786384" cy="78638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card1-icon-ic" descr="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410" y="2303555"/>
            <a:ext cx="440376" cy="440376"/>
          </a:xfrm>
          <a:prstGeom prst="rect">
            <a:avLst/>
          </a:prstGeom>
        </p:spPr>
      </p:pic>
      <p:sp>
        <p:nvSpPr>
          <p:cNvPr id="22" name="card1-title"/>
          <p:cNvSpPr txBox="1"/>
          <p:nvPr/>
        </p:nvSpPr>
        <p:spPr>
          <a:xfrm>
            <a:off x="3665143" y="3063239"/>
            <a:ext cx="2019223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0F1216"/>
                </a:solidFill>
                <a:latin typeface="Yu Gothic UI"/>
              </a:rPr>
              <a:t>写真の上に内容量・成分・原産国</a:t>
            </a:r>
          </a:p>
        </p:txBody>
      </p:sp>
      <p:sp>
        <p:nvSpPr>
          <p:cNvPr id="23" name="card1-body"/>
          <p:cNvSpPr txBox="1"/>
          <p:nvPr/>
        </p:nvSpPr>
        <p:spPr>
          <a:xfrm>
            <a:off x="3665143" y="3657599"/>
            <a:ext cx="2019223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B2027"/>
                </a:solidFill>
                <a:latin typeface="Yu Gothic UI"/>
              </a:rPr>
              <a:t>内容量、成分表示、原産国、使用期限を商品写真の上にカードで表示。日本語の成分もそのまま掲載できる。</a:t>
            </a:r>
          </a:p>
        </p:txBody>
      </p:sp>
      <p:sp>
        <p:nvSpPr>
          <p:cNvPr id="24" name="card1-rule"/>
          <p:cNvSpPr/>
          <p:nvPr/>
        </p:nvSpPr>
        <p:spPr>
          <a:xfrm>
            <a:off x="3665143" y="5120639"/>
            <a:ext cx="457200" cy="3657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1-mn"/>
          <p:cNvSpPr txBox="1"/>
          <p:nvPr/>
        </p:nvSpPr>
        <p:spPr>
          <a:xfrm>
            <a:off x="3665143" y="5212079"/>
            <a:ext cx="2019223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168"/>
                </a:solidFill>
                <a:latin typeface="Segoe UI"/>
              </a:rPr>
              <a:t>Хэмжээ, найрлага, гарал, хугацаа зурган дээр.</a:t>
            </a:r>
          </a:p>
        </p:txBody>
      </p:sp>
      <p:sp>
        <p:nvSpPr>
          <p:cNvPr id="26" name="card2-sheet"/>
          <p:cNvSpPr/>
          <p:nvPr/>
        </p:nvSpPr>
        <p:spPr>
          <a:xfrm>
            <a:off x="6233006" y="1874519"/>
            <a:ext cx="2567863" cy="411480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>
            <a:noFill/>
          </a:ln>
          <a:effectLst>
            <a:outerShdw blurRad="457200" dist="127000" dir="54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2-tab"/>
          <p:cNvSpPr/>
          <p:nvPr/>
        </p:nvSpPr>
        <p:spPr>
          <a:xfrm>
            <a:off x="6233006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2-num"/>
          <p:cNvSpPr txBox="1"/>
          <p:nvPr/>
        </p:nvSpPr>
        <p:spPr>
          <a:xfrm>
            <a:off x="6233006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9" name="card2-icon-bg"/>
          <p:cNvSpPr/>
          <p:nvPr/>
        </p:nvSpPr>
        <p:spPr>
          <a:xfrm>
            <a:off x="7703589" y="2130551"/>
            <a:ext cx="786384" cy="786384"/>
          </a:xfrm>
          <a:prstGeom prst="ellipse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card2-icon-ic" descr="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6593" y="2303555"/>
            <a:ext cx="440376" cy="440376"/>
          </a:xfrm>
          <a:prstGeom prst="rect">
            <a:avLst/>
          </a:prstGeom>
        </p:spPr>
      </p:pic>
      <p:sp>
        <p:nvSpPr>
          <p:cNvPr id="31" name="card2-title"/>
          <p:cNvSpPr txBox="1"/>
          <p:nvPr/>
        </p:nvSpPr>
        <p:spPr>
          <a:xfrm>
            <a:off x="6507326" y="3063239"/>
            <a:ext cx="2019223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0F1216"/>
                </a:solidFill>
                <a:latin typeface="Yu Gothic UI"/>
              </a:rPr>
              <a:t>レビュー・Q&amp;A・共有</a:t>
            </a:r>
          </a:p>
        </p:txBody>
      </p:sp>
      <p:sp>
        <p:nvSpPr>
          <p:cNvPr id="32" name="card2-body"/>
          <p:cNvSpPr txBox="1"/>
          <p:nvPr/>
        </p:nvSpPr>
        <p:spPr>
          <a:xfrm>
            <a:off x="6507326" y="3657599"/>
            <a:ext cx="2019223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B2027"/>
                </a:solidFill>
                <a:latin typeface="Yu Gothic UI"/>
              </a:rPr>
              <a:t>購入者だけがレビュー。返信・いいね・Q&amp;A、投稿への特典。Facebook / Messenger / X / Telegram に商品画像付きで共有。</a:t>
            </a:r>
          </a:p>
        </p:txBody>
      </p:sp>
      <p:sp>
        <p:nvSpPr>
          <p:cNvPr id="33" name="card2-rule"/>
          <p:cNvSpPr/>
          <p:nvPr/>
        </p:nvSpPr>
        <p:spPr>
          <a:xfrm>
            <a:off x="6507326" y="5120639"/>
            <a:ext cx="457200" cy="36576"/>
          </a:xfrm>
          <a:prstGeom prst="rect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ard2-mn"/>
          <p:cNvSpPr txBox="1"/>
          <p:nvPr/>
        </p:nvSpPr>
        <p:spPr>
          <a:xfrm>
            <a:off x="6507326" y="5212079"/>
            <a:ext cx="2019223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168"/>
                </a:solidFill>
                <a:latin typeface="Segoe UI"/>
              </a:rPr>
              <a:t>Сэтгэгдэл, Q&amp;A, урамшуулал, сошиалд хуваалцах.</a:t>
            </a:r>
          </a:p>
        </p:txBody>
      </p:sp>
      <p:sp>
        <p:nvSpPr>
          <p:cNvPr id="35" name="card3-sheet"/>
          <p:cNvSpPr/>
          <p:nvPr/>
        </p:nvSpPr>
        <p:spPr>
          <a:xfrm>
            <a:off x="9075189" y="1874519"/>
            <a:ext cx="2567863" cy="411480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>
            <a:noFill/>
          </a:ln>
          <a:effectLst>
            <a:outerShdw blurRad="457200" dist="127000" dir="54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ard3-tab"/>
          <p:cNvSpPr/>
          <p:nvPr/>
        </p:nvSpPr>
        <p:spPr>
          <a:xfrm>
            <a:off x="9075189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ard3-num"/>
          <p:cNvSpPr txBox="1"/>
          <p:nvPr/>
        </p:nvSpPr>
        <p:spPr>
          <a:xfrm>
            <a:off x="9075189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8" name="card3-icon-bg"/>
          <p:cNvSpPr/>
          <p:nvPr/>
        </p:nvSpPr>
        <p:spPr>
          <a:xfrm>
            <a:off x="10545772" y="2130551"/>
            <a:ext cx="786384" cy="786384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card3-icon-ic" descr="gif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776" y="2303555"/>
            <a:ext cx="440376" cy="440376"/>
          </a:xfrm>
          <a:prstGeom prst="rect">
            <a:avLst/>
          </a:prstGeom>
        </p:spPr>
      </p:pic>
      <p:sp>
        <p:nvSpPr>
          <p:cNvPr id="40" name="card3-title"/>
          <p:cNvSpPr txBox="1"/>
          <p:nvPr/>
        </p:nvSpPr>
        <p:spPr>
          <a:xfrm>
            <a:off x="9349509" y="3063239"/>
            <a:ext cx="2019223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0F1216"/>
                </a:solidFill>
                <a:latin typeface="Yu Gothic UI"/>
              </a:rPr>
              <a:t>ギフトカードとバリエーション</a:t>
            </a:r>
          </a:p>
        </p:txBody>
      </p:sp>
      <p:sp>
        <p:nvSpPr>
          <p:cNvPr id="41" name="card3-body"/>
          <p:cNvSpPr txBox="1"/>
          <p:nvPr/>
        </p:nvSpPr>
        <p:spPr>
          <a:xfrm>
            <a:off x="9349509" y="3657599"/>
            <a:ext cx="2019223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B2027"/>
                </a:solidFill>
                <a:latin typeface="Yu Gothic UI"/>
              </a:rPr>
              <a:t>デジタルギフトカードをその場で発行。サイズ・色のバリエーション、関連商品、レシピ提案。</a:t>
            </a:r>
          </a:p>
        </p:txBody>
      </p:sp>
      <p:sp>
        <p:nvSpPr>
          <p:cNvPr id="42" name="card3-rule"/>
          <p:cNvSpPr/>
          <p:nvPr/>
        </p:nvSpPr>
        <p:spPr>
          <a:xfrm>
            <a:off x="9349509" y="5120639"/>
            <a:ext cx="457200" cy="36576"/>
          </a:xfrm>
          <a:prstGeom prst="rect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ard3-mn"/>
          <p:cNvSpPr txBox="1"/>
          <p:nvPr/>
        </p:nvSpPr>
        <p:spPr>
          <a:xfrm>
            <a:off x="9349509" y="5212079"/>
            <a:ext cx="2019223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168"/>
                </a:solidFill>
                <a:latin typeface="Segoe UI"/>
              </a:rPr>
              <a:t>Бэлгийн карт, variant, холбоотой бараа.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216"/>
              </a:gs>
              <a:gs pos="100000">
                <a:srgbClr val="1B202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96926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Yu Gothic UI"/>
              </a:rPr>
              <a:t>購入体験 — 会員登録なしで3分で注文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AD"/>
                </a:solidFill>
                <a:latin typeface="Segoe UI"/>
              </a:rPr>
              <a:t>Худалдан авах урсгал</a:t>
            </a:r>
          </a:p>
        </p:txBody>
      </p:sp>
      <p:sp>
        <p:nvSpPr>
          <p:cNvPr id="6" name="hdr-n"/>
          <p:cNvSpPr txBox="1"/>
          <p:nvPr/>
        </p:nvSpPr>
        <p:spPr>
          <a:xfrm>
            <a:off x="10424160" y="502920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05</a:t>
            </a:r>
          </a:p>
        </p:txBody>
      </p:sp>
      <p:sp>
        <p:nvSpPr>
          <p:cNvPr id="7" name="hdr-foot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3AD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8" name="intro"/>
          <p:cNvSpPr txBox="1"/>
          <p:nvPr/>
        </p:nvSpPr>
        <p:spPr>
          <a:xfrm>
            <a:off x="777240" y="14173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AA3AD"/>
                </a:solidFill>
                <a:latin typeface="Yu Gothic UI"/>
              </a:rPr>
              <a:t>ゲスト購入。SMS確認で不正注文を防ぎ、クーポン・会員割引・ストアクレジット・ギフトカードを同じ画面で使える。</a:t>
            </a:r>
          </a:p>
        </p:txBody>
      </p:sp>
      <p:sp>
        <p:nvSpPr>
          <p:cNvPr id="9" name="line"/>
          <p:cNvSpPr/>
          <p:nvPr/>
        </p:nvSpPr>
        <p:spPr>
          <a:xfrm>
            <a:off x="1097280" y="3310128"/>
            <a:ext cx="9966960" cy="45720"/>
          </a:xfrm>
          <a:prstGeom prst="rect">
            <a:avLst/>
          </a:prstGeom>
          <a:solidFill>
            <a:srgbClr val="3A4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ep0-bg"/>
          <p:cNvSpPr/>
          <p:nvPr/>
        </p:nvSpPr>
        <p:spPr>
          <a:xfrm>
            <a:off x="1188720" y="2743200"/>
            <a:ext cx="1188720" cy="11887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tep0-ic" descr="b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238" y="3004718"/>
            <a:ext cx="665684" cy="665684"/>
          </a:xfrm>
          <a:prstGeom prst="rect">
            <a:avLst/>
          </a:prstGeom>
        </p:spPr>
      </p:pic>
      <p:sp>
        <p:nvSpPr>
          <p:cNvPr id="12" name="step0-n"/>
          <p:cNvSpPr txBox="1"/>
          <p:nvPr/>
        </p:nvSpPr>
        <p:spPr>
          <a:xfrm>
            <a:off x="640080" y="2103120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8102E"/>
                </a:solidFill>
                <a:latin typeface="Segoe UI"/>
              </a:rPr>
              <a:t>STEP 1</a:t>
            </a:r>
          </a:p>
        </p:txBody>
      </p:sp>
      <p:sp>
        <p:nvSpPr>
          <p:cNvPr id="13" name="step0-t"/>
          <p:cNvSpPr txBox="1"/>
          <p:nvPr/>
        </p:nvSpPr>
        <p:spPr>
          <a:xfrm>
            <a:off x="640080" y="4114800"/>
            <a:ext cx="22860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Yu Gothic UI"/>
              </a:rPr>
              <a:t>商品を選ぶ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Segoe UI"/>
              </a:rPr>
              <a:t>Бараа сонгох</a:t>
            </a:r>
          </a:p>
        </p:txBody>
      </p:sp>
      <p:sp>
        <p:nvSpPr>
          <p:cNvPr id="14" name="step1-bg"/>
          <p:cNvSpPr/>
          <p:nvPr/>
        </p:nvSpPr>
        <p:spPr>
          <a:xfrm>
            <a:off x="3474720" y="10972800"/>
            <a:ext cx="1188720" cy="1188720"/>
          </a:xfrm>
          <a:prstGeom prst="ellipse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tep1-ic" descr="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238" y="11234318"/>
            <a:ext cx="665684" cy="665684"/>
          </a:xfrm>
          <a:prstGeom prst="rect">
            <a:avLst/>
          </a:prstGeom>
        </p:spPr>
      </p:pic>
      <p:sp>
        <p:nvSpPr>
          <p:cNvPr id="16" name="step1-n"/>
          <p:cNvSpPr txBox="1"/>
          <p:nvPr/>
        </p:nvSpPr>
        <p:spPr>
          <a:xfrm>
            <a:off x="2926080" y="10332720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D9A41E"/>
                </a:solidFill>
                <a:latin typeface="Segoe UI"/>
              </a:rPr>
              <a:t>STEP 2</a:t>
            </a:r>
          </a:p>
        </p:txBody>
      </p:sp>
      <p:sp>
        <p:nvSpPr>
          <p:cNvPr id="17" name="step1-t"/>
          <p:cNvSpPr txBox="1"/>
          <p:nvPr/>
        </p:nvSpPr>
        <p:spPr>
          <a:xfrm>
            <a:off x="2926080" y="12344400"/>
            <a:ext cx="22860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Yu Gothic UI"/>
              </a:rPr>
              <a:t>電話番号をSMS確認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Segoe UI"/>
              </a:rPr>
              <a:t>Утас SMS-ээр баталгаажуулах</a:t>
            </a:r>
          </a:p>
        </p:txBody>
      </p:sp>
      <p:sp>
        <p:nvSpPr>
          <p:cNvPr id="18" name="step2-bg"/>
          <p:cNvSpPr/>
          <p:nvPr/>
        </p:nvSpPr>
        <p:spPr>
          <a:xfrm>
            <a:off x="5760720" y="10972800"/>
            <a:ext cx="1188720" cy="118872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step2-ic" descr="tru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2238" y="11234318"/>
            <a:ext cx="665684" cy="665684"/>
          </a:xfrm>
          <a:prstGeom prst="rect">
            <a:avLst/>
          </a:prstGeom>
        </p:spPr>
      </p:pic>
      <p:sp>
        <p:nvSpPr>
          <p:cNvPr id="20" name="step2-n"/>
          <p:cNvSpPr txBox="1"/>
          <p:nvPr/>
        </p:nvSpPr>
        <p:spPr>
          <a:xfrm>
            <a:off x="5212080" y="10332720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FB3"/>
                </a:solidFill>
                <a:latin typeface="Segoe UI"/>
              </a:rPr>
              <a:t>STEP 3</a:t>
            </a:r>
          </a:p>
        </p:txBody>
      </p:sp>
      <p:sp>
        <p:nvSpPr>
          <p:cNvPr id="21" name="step2-t"/>
          <p:cNvSpPr txBox="1"/>
          <p:nvPr/>
        </p:nvSpPr>
        <p:spPr>
          <a:xfrm>
            <a:off x="5212080" y="12344400"/>
            <a:ext cx="22860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Yu Gothic UI"/>
              </a:rPr>
              <a:t>配送か店舗受取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Segoe UI"/>
              </a:rPr>
              <a:t>Хүргэлт / салбар</a:t>
            </a:r>
          </a:p>
        </p:txBody>
      </p:sp>
      <p:sp>
        <p:nvSpPr>
          <p:cNvPr id="22" name="step3-bg"/>
          <p:cNvSpPr/>
          <p:nvPr/>
        </p:nvSpPr>
        <p:spPr>
          <a:xfrm>
            <a:off x="8046720" y="10972800"/>
            <a:ext cx="1188720" cy="118872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step3-ic" descr="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8238" y="11234318"/>
            <a:ext cx="665684" cy="665684"/>
          </a:xfrm>
          <a:prstGeom prst="rect">
            <a:avLst/>
          </a:prstGeom>
        </p:spPr>
      </p:pic>
      <p:sp>
        <p:nvSpPr>
          <p:cNvPr id="24" name="step3-n"/>
          <p:cNvSpPr txBox="1"/>
          <p:nvPr/>
        </p:nvSpPr>
        <p:spPr>
          <a:xfrm>
            <a:off x="7498080" y="10332720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E8B57"/>
                </a:solidFill>
                <a:latin typeface="Segoe UI"/>
              </a:rPr>
              <a:t>STEP 4</a:t>
            </a:r>
          </a:p>
        </p:txBody>
      </p:sp>
      <p:sp>
        <p:nvSpPr>
          <p:cNvPr id="25" name="step3-t"/>
          <p:cNvSpPr txBox="1"/>
          <p:nvPr/>
        </p:nvSpPr>
        <p:spPr>
          <a:xfrm>
            <a:off x="7498080" y="12344400"/>
            <a:ext cx="22860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Yu Gothic UI"/>
              </a:rPr>
              <a:t>現金・QPay・StorePay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Segoe UI"/>
              </a:rPr>
              <a:t>Бэлэн, QPay, StorePay</a:t>
            </a:r>
          </a:p>
        </p:txBody>
      </p:sp>
      <p:sp>
        <p:nvSpPr>
          <p:cNvPr id="26" name="step4-bg"/>
          <p:cNvSpPr/>
          <p:nvPr/>
        </p:nvSpPr>
        <p:spPr>
          <a:xfrm>
            <a:off x="10332720" y="10972800"/>
            <a:ext cx="1188720" cy="118872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step4-ic" descr="b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4238" y="11234318"/>
            <a:ext cx="665684" cy="665684"/>
          </a:xfrm>
          <a:prstGeom prst="rect">
            <a:avLst/>
          </a:prstGeom>
        </p:spPr>
      </p:pic>
      <p:sp>
        <p:nvSpPr>
          <p:cNvPr id="28" name="step4-n"/>
          <p:cNvSpPr txBox="1"/>
          <p:nvPr/>
        </p:nvSpPr>
        <p:spPr>
          <a:xfrm>
            <a:off x="9784080" y="10332720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7B4FC9"/>
                </a:solidFill>
                <a:latin typeface="Segoe UI"/>
              </a:rPr>
              <a:t>STEP 5</a:t>
            </a:r>
          </a:p>
        </p:txBody>
      </p:sp>
      <p:sp>
        <p:nvSpPr>
          <p:cNvPr id="29" name="step4-t"/>
          <p:cNvSpPr txBox="1"/>
          <p:nvPr/>
        </p:nvSpPr>
        <p:spPr>
          <a:xfrm>
            <a:off x="9784080" y="12344400"/>
            <a:ext cx="22860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Yu Gothic UI"/>
              </a:rPr>
              <a:t>通知・PDF領収書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Segoe UI"/>
              </a:rPr>
              <a:t>Мэдэгдэл, PDF баримт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216"/>
              </a:gs>
              <a:gs pos="100000">
                <a:srgbClr val="1B202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96926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Yu Gothic UI"/>
              </a:rPr>
              <a:t>購入体験 — 会員登録なしで3分で注文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AD"/>
                </a:solidFill>
                <a:latin typeface="Segoe UI"/>
              </a:rPr>
              <a:t>Худалдан авах урсгал</a:t>
            </a:r>
          </a:p>
        </p:txBody>
      </p:sp>
      <p:sp>
        <p:nvSpPr>
          <p:cNvPr id="6" name="hdr-n"/>
          <p:cNvSpPr txBox="1"/>
          <p:nvPr/>
        </p:nvSpPr>
        <p:spPr>
          <a:xfrm>
            <a:off x="10424160" y="502920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05</a:t>
            </a:r>
          </a:p>
        </p:txBody>
      </p:sp>
      <p:sp>
        <p:nvSpPr>
          <p:cNvPr id="7" name="hdr-foot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3AD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8" name="intro"/>
          <p:cNvSpPr txBox="1"/>
          <p:nvPr/>
        </p:nvSpPr>
        <p:spPr>
          <a:xfrm>
            <a:off x="777240" y="14173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AA3AD"/>
                </a:solidFill>
                <a:latin typeface="Yu Gothic UI"/>
              </a:rPr>
              <a:t>ゲスト購入。SMS確認で不正注文を防ぎ、クーポン・会員割引・ストアクレジット・ギフトカードを同じ画面で使える。</a:t>
            </a:r>
          </a:p>
        </p:txBody>
      </p:sp>
      <p:sp>
        <p:nvSpPr>
          <p:cNvPr id="9" name="line"/>
          <p:cNvSpPr/>
          <p:nvPr/>
        </p:nvSpPr>
        <p:spPr>
          <a:xfrm>
            <a:off x="1097280" y="3310128"/>
            <a:ext cx="9966960" cy="45720"/>
          </a:xfrm>
          <a:prstGeom prst="rect">
            <a:avLst/>
          </a:prstGeom>
          <a:solidFill>
            <a:srgbClr val="3A4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ep0-bg"/>
          <p:cNvSpPr/>
          <p:nvPr/>
        </p:nvSpPr>
        <p:spPr>
          <a:xfrm>
            <a:off x="1188720" y="2743200"/>
            <a:ext cx="1188720" cy="11887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tep0-ic" descr="b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238" y="3004718"/>
            <a:ext cx="665684" cy="665684"/>
          </a:xfrm>
          <a:prstGeom prst="rect">
            <a:avLst/>
          </a:prstGeom>
        </p:spPr>
      </p:pic>
      <p:sp>
        <p:nvSpPr>
          <p:cNvPr id="12" name="step0-n"/>
          <p:cNvSpPr txBox="1"/>
          <p:nvPr/>
        </p:nvSpPr>
        <p:spPr>
          <a:xfrm>
            <a:off x="640080" y="2103120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8102E"/>
                </a:solidFill>
                <a:latin typeface="Segoe UI"/>
              </a:rPr>
              <a:t>STEP 1</a:t>
            </a:r>
          </a:p>
        </p:txBody>
      </p:sp>
      <p:sp>
        <p:nvSpPr>
          <p:cNvPr id="13" name="step0-t"/>
          <p:cNvSpPr txBox="1"/>
          <p:nvPr/>
        </p:nvSpPr>
        <p:spPr>
          <a:xfrm>
            <a:off x="640080" y="4114800"/>
            <a:ext cx="22860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Yu Gothic UI"/>
              </a:rPr>
              <a:t>商品を選ぶ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Segoe UI"/>
              </a:rPr>
              <a:t>Бараа сонгох</a:t>
            </a:r>
          </a:p>
        </p:txBody>
      </p:sp>
      <p:sp>
        <p:nvSpPr>
          <p:cNvPr id="14" name="step1-bg"/>
          <p:cNvSpPr/>
          <p:nvPr/>
        </p:nvSpPr>
        <p:spPr>
          <a:xfrm>
            <a:off x="3474720" y="2743200"/>
            <a:ext cx="1188720" cy="1188720"/>
          </a:xfrm>
          <a:prstGeom prst="ellipse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tep1-ic" descr="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238" y="3004718"/>
            <a:ext cx="665684" cy="665684"/>
          </a:xfrm>
          <a:prstGeom prst="rect">
            <a:avLst/>
          </a:prstGeom>
        </p:spPr>
      </p:pic>
      <p:sp>
        <p:nvSpPr>
          <p:cNvPr id="16" name="step1-n"/>
          <p:cNvSpPr txBox="1"/>
          <p:nvPr/>
        </p:nvSpPr>
        <p:spPr>
          <a:xfrm>
            <a:off x="2926080" y="2103120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D9A41E"/>
                </a:solidFill>
                <a:latin typeface="Segoe UI"/>
              </a:rPr>
              <a:t>STEP 2</a:t>
            </a:r>
          </a:p>
        </p:txBody>
      </p:sp>
      <p:sp>
        <p:nvSpPr>
          <p:cNvPr id="17" name="step1-t"/>
          <p:cNvSpPr txBox="1"/>
          <p:nvPr/>
        </p:nvSpPr>
        <p:spPr>
          <a:xfrm>
            <a:off x="2926080" y="4114800"/>
            <a:ext cx="22860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Yu Gothic UI"/>
              </a:rPr>
              <a:t>電話番号をSMS確認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Segoe UI"/>
              </a:rPr>
              <a:t>Утас SMS-ээр баталгаажуулах</a:t>
            </a:r>
          </a:p>
        </p:txBody>
      </p:sp>
      <p:sp>
        <p:nvSpPr>
          <p:cNvPr id="18" name="step2-bg"/>
          <p:cNvSpPr/>
          <p:nvPr/>
        </p:nvSpPr>
        <p:spPr>
          <a:xfrm>
            <a:off x="5760720" y="10972800"/>
            <a:ext cx="1188720" cy="118872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step2-ic" descr="tru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2238" y="11234318"/>
            <a:ext cx="665684" cy="665684"/>
          </a:xfrm>
          <a:prstGeom prst="rect">
            <a:avLst/>
          </a:prstGeom>
        </p:spPr>
      </p:pic>
      <p:sp>
        <p:nvSpPr>
          <p:cNvPr id="20" name="step2-n"/>
          <p:cNvSpPr txBox="1"/>
          <p:nvPr/>
        </p:nvSpPr>
        <p:spPr>
          <a:xfrm>
            <a:off x="5212080" y="10332720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FB3"/>
                </a:solidFill>
                <a:latin typeface="Segoe UI"/>
              </a:rPr>
              <a:t>STEP 3</a:t>
            </a:r>
          </a:p>
        </p:txBody>
      </p:sp>
      <p:sp>
        <p:nvSpPr>
          <p:cNvPr id="21" name="step2-t"/>
          <p:cNvSpPr txBox="1"/>
          <p:nvPr/>
        </p:nvSpPr>
        <p:spPr>
          <a:xfrm>
            <a:off x="5212080" y="12344400"/>
            <a:ext cx="22860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Yu Gothic UI"/>
              </a:rPr>
              <a:t>配送か店舗受取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Segoe UI"/>
              </a:rPr>
              <a:t>Хүргэлт / салбар</a:t>
            </a:r>
          </a:p>
        </p:txBody>
      </p:sp>
      <p:sp>
        <p:nvSpPr>
          <p:cNvPr id="22" name="step3-bg"/>
          <p:cNvSpPr/>
          <p:nvPr/>
        </p:nvSpPr>
        <p:spPr>
          <a:xfrm>
            <a:off x="8046720" y="10972800"/>
            <a:ext cx="1188720" cy="118872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step3-ic" descr="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8238" y="11234318"/>
            <a:ext cx="665684" cy="665684"/>
          </a:xfrm>
          <a:prstGeom prst="rect">
            <a:avLst/>
          </a:prstGeom>
        </p:spPr>
      </p:pic>
      <p:sp>
        <p:nvSpPr>
          <p:cNvPr id="24" name="step3-n"/>
          <p:cNvSpPr txBox="1"/>
          <p:nvPr/>
        </p:nvSpPr>
        <p:spPr>
          <a:xfrm>
            <a:off x="7498080" y="10332720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E8B57"/>
                </a:solidFill>
                <a:latin typeface="Segoe UI"/>
              </a:rPr>
              <a:t>STEP 4</a:t>
            </a:r>
          </a:p>
        </p:txBody>
      </p:sp>
      <p:sp>
        <p:nvSpPr>
          <p:cNvPr id="25" name="step3-t"/>
          <p:cNvSpPr txBox="1"/>
          <p:nvPr/>
        </p:nvSpPr>
        <p:spPr>
          <a:xfrm>
            <a:off x="7498080" y="12344400"/>
            <a:ext cx="22860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Yu Gothic UI"/>
              </a:rPr>
              <a:t>現金・QPay・StorePay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Segoe UI"/>
              </a:rPr>
              <a:t>Бэлэн, QPay, StorePay</a:t>
            </a:r>
          </a:p>
        </p:txBody>
      </p:sp>
      <p:sp>
        <p:nvSpPr>
          <p:cNvPr id="26" name="step4-bg"/>
          <p:cNvSpPr/>
          <p:nvPr/>
        </p:nvSpPr>
        <p:spPr>
          <a:xfrm>
            <a:off x="10332720" y="10972800"/>
            <a:ext cx="1188720" cy="118872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step4-ic" descr="b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4238" y="11234318"/>
            <a:ext cx="665684" cy="665684"/>
          </a:xfrm>
          <a:prstGeom prst="rect">
            <a:avLst/>
          </a:prstGeom>
        </p:spPr>
      </p:pic>
      <p:sp>
        <p:nvSpPr>
          <p:cNvPr id="28" name="step4-n"/>
          <p:cNvSpPr txBox="1"/>
          <p:nvPr/>
        </p:nvSpPr>
        <p:spPr>
          <a:xfrm>
            <a:off x="9784080" y="10332720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7B4FC9"/>
                </a:solidFill>
                <a:latin typeface="Segoe UI"/>
              </a:rPr>
              <a:t>STEP 5</a:t>
            </a:r>
          </a:p>
        </p:txBody>
      </p:sp>
      <p:sp>
        <p:nvSpPr>
          <p:cNvPr id="29" name="step4-t"/>
          <p:cNvSpPr txBox="1"/>
          <p:nvPr/>
        </p:nvSpPr>
        <p:spPr>
          <a:xfrm>
            <a:off x="9784080" y="12344400"/>
            <a:ext cx="22860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Yu Gothic UI"/>
              </a:rPr>
              <a:t>通知・PDF領収書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Segoe UI"/>
              </a:rPr>
              <a:t>Мэдэгдэл, PDF баримт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216"/>
              </a:gs>
              <a:gs pos="100000">
                <a:srgbClr val="1B202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96926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Yu Gothic UI"/>
              </a:rPr>
              <a:t>購入体験 — 会員登録なしで3分で注文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AD"/>
                </a:solidFill>
                <a:latin typeface="Segoe UI"/>
              </a:rPr>
              <a:t>Худалдан авах урсгал</a:t>
            </a:r>
          </a:p>
        </p:txBody>
      </p:sp>
      <p:sp>
        <p:nvSpPr>
          <p:cNvPr id="6" name="hdr-n"/>
          <p:cNvSpPr txBox="1"/>
          <p:nvPr/>
        </p:nvSpPr>
        <p:spPr>
          <a:xfrm>
            <a:off x="10424160" y="502920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05</a:t>
            </a:r>
          </a:p>
        </p:txBody>
      </p:sp>
      <p:sp>
        <p:nvSpPr>
          <p:cNvPr id="7" name="hdr-foot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3AD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8" name="intro"/>
          <p:cNvSpPr txBox="1"/>
          <p:nvPr/>
        </p:nvSpPr>
        <p:spPr>
          <a:xfrm>
            <a:off x="777240" y="14173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AA3AD"/>
                </a:solidFill>
                <a:latin typeface="Yu Gothic UI"/>
              </a:rPr>
              <a:t>ゲスト購入。SMS確認で不正注文を防ぎ、クーポン・会員割引・ストアクレジット・ギフトカードを同じ画面で使える。</a:t>
            </a:r>
          </a:p>
        </p:txBody>
      </p:sp>
      <p:sp>
        <p:nvSpPr>
          <p:cNvPr id="9" name="line"/>
          <p:cNvSpPr/>
          <p:nvPr/>
        </p:nvSpPr>
        <p:spPr>
          <a:xfrm>
            <a:off x="1097280" y="3310128"/>
            <a:ext cx="9966960" cy="45720"/>
          </a:xfrm>
          <a:prstGeom prst="rect">
            <a:avLst/>
          </a:prstGeom>
          <a:solidFill>
            <a:srgbClr val="3A4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ep0-bg"/>
          <p:cNvSpPr/>
          <p:nvPr/>
        </p:nvSpPr>
        <p:spPr>
          <a:xfrm>
            <a:off x="1188720" y="2743200"/>
            <a:ext cx="1188720" cy="11887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tep0-ic" descr="b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238" y="3004718"/>
            <a:ext cx="665684" cy="665684"/>
          </a:xfrm>
          <a:prstGeom prst="rect">
            <a:avLst/>
          </a:prstGeom>
        </p:spPr>
      </p:pic>
      <p:sp>
        <p:nvSpPr>
          <p:cNvPr id="12" name="step0-n"/>
          <p:cNvSpPr txBox="1"/>
          <p:nvPr/>
        </p:nvSpPr>
        <p:spPr>
          <a:xfrm>
            <a:off x="640080" y="2103120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8102E"/>
                </a:solidFill>
                <a:latin typeface="Segoe UI"/>
              </a:rPr>
              <a:t>STEP 1</a:t>
            </a:r>
          </a:p>
        </p:txBody>
      </p:sp>
      <p:sp>
        <p:nvSpPr>
          <p:cNvPr id="13" name="step0-t"/>
          <p:cNvSpPr txBox="1"/>
          <p:nvPr/>
        </p:nvSpPr>
        <p:spPr>
          <a:xfrm>
            <a:off x="640080" y="4114800"/>
            <a:ext cx="22860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Yu Gothic UI"/>
              </a:rPr>
              <a:t>商品を選ぶ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Segoe UI"/>
              </a:rPr>
              <a:t>Бараа сонгох</a:t>
            </a:r>
          </a:p>
        </p:txBody>
      </p:sp>
      <p:sp>
        <p:nvSpPr>
          <p:cNvPr id="14" name="step1-bg"/>
          <p:cNvSpPr/>
          <p:nvPr/>
        </p:nvSpPr>
        <p:spPr>
          <a:xfrm>
            <a:off x="3474720" y="2743200"/>
            <a:ext cx="1188720" cy="1188720"/>
          </a:xfrm>
          <a:prstGeom prst="ellipse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tep1-ic" descr="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238" y="3004718"/>
            <a:ext cx="665684" cy="665684"/>
          </a:xfrm>
          <a:prstGeom prst="rect">
            <a:avLst/>
          </a:prstGeom>
        </p:spPr>
      </p:pic>
      <p:sp>
        <p:nvSpPr>
          <p:cNvPr id="16" name="step1-n"/>
          <p:cNvSpPr txBox="1"/>
          <p:nvPr/>
        </p:nvSpPr>
        <p:spPr>
          <a:xfrm>
            <a:off x="2926080" y="2103120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D9A41E"/>
                </a:solidFill>
                <a:latin typeface="Segoe UI"/>
              </a:rPr>
              <a:t>STEP 2</a:t>
            </a:r>
          </a:p>
        </p:txBody>
      </p:sp>
      <p:sp>
        <p:nvSpPr>
          <p:cNvPr id="17" name="step1-t"/>
          <p:cNvSpPr txBox="1"/>
          <p:nvPr/>
        </p:nvSpPr>
        <p:spPr>
          <a:xfrm>
            <a:off x="2926080" y="4114800"/>
            <a:ext cx="22860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Yu Gothic UI"/>
              </a:rPr>
              <a:t>電話番号をSMS確認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Segoe UI"/>
              </a:rPr>
              <a:t>Утас SMS-ээр баталгаажуулах</a:t>
            </a:r>
          </a:p>
        </p:txBody>
      </p:sp>
      <p:sp>
        <p:nvSpPr>
          <p:cNvPr id="18" name="step2-bg"/>
          <p:cNvSpPr/>
          <p:nvPr/>
        </p:nvSpPr>
        <p:spPr>
          <a:xfrm>
            <a:off x="5760720" y="2743200"/>
            <a:ext cx="1188720" cy="118872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step2-ic" descr="tru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2238" y="3004718"/>
            <a:ext cx="665684" cy="665684"/>
          </a:xfrm>
          <a:prstGeom prst="rect">
            <a:avLst/>
          </a:prstGeom>
        </p:spPr>
      </p:pic>
      <p:sp>
        <p:nvSpPr>
          <p:cNvPr id="20" name="step2-n"/>
          <p:cNvSpPr txBox="1"/>
          <p:nvPr/>
        </p:nvSpPr>
        <p:spPr>
          <a:xfrm>
            <a:off x="5212080" y="2103120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FB3"/>
                </a:solidFill>
                <a:latin typeface="Segoe UI"/>
              </a:rPr>
              <a:t>STEP 3</a:t>
            </a:r>
          </a:p>
        </p:txBody>
      </p:sp>
      <p:sp>
        <p:nvSpPr>
          <p:cNvPr id="21" name="step2-t"/>
          <p:cNvSpPr txBox="1"/>
          <p:nvPr/>
        </p:nvSpPr>
        <p:spPr>
          <a:xfrm>
            <a:off x="5212080" y="4114800"/>
            <a:ext cx="22860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Yu Gothic UI"/>
              </a:rPr>
              <a:t>配送か店舗受取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Segoe UI"/>
              </a:rPr>
              <a:t>Хүргэлт / салбар</a:t>
            </a:r>
          </a:p>
        </p:txBody>
      </p:sp>
      <p:sp>
        <p:nvSpPr>
          <p:cNvPr id="22" name="step3-bg"/>
          <p:cNvSpPr/>
          <p:nvPr/>
        </p:nvSpPr>
        <p:spPr>
          <a:xfrm>
            <a:off x="8046720" y="10972800"/>
            <a:ext cx="1188720" cy="118872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step3-ic" descr="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8238" y="11234318"/>
            <a:ext cx="665684" cy="665684"/>
          </a:xfrm>
          <a:prstGeom prst="rect">
            <a:avLst/>
          </a:prstGeom>
        </p:spPr>
      </p:pic>
      <p:sp>
        <p:nvSpPr>
          <p:cNvPr id="24" name="step3-n"/>
          <p:cNvSpPr txBox="1"/>
          <p:nvPr/>
        </p:nvSpPr>
        <p:spPr>
          <a:xfrm>
            <a:off x="7498080" y="10332720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E8B57"/>
                </a:solidFill>
                <a:latin typeface="Segoe UI"/>
              </a:rPr>
              <a:t>STEP 4</a:t>
            </a:r>
          </a:p>
        </p:txBody>
      </p:sp>
      <p:sp>
        <p:nvSpPr>
          <p:cNvPr id="25" name="step3-t"/>
          <p:cNvSpPr txBox="1"/>
          <p:nvPr/>
        </p:nvSpPr>
        <p:spPr>
          <a:xfrm>
            <a:off x="7498080" y="12344400"/>
            <a:ext cx="22860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Yu Gothic UI"/>
              </a:rPr>
              <a:t>現金・QPay・StorePay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Segoe UI"/>
              </a:rPr>
              <a:t>Бэлэн, QPay, StorePay</a:t>
            </a:r>
          </a:p>
        </p:txBody>
      </p:sp>
      <p:sp>
        <p:nvSpPr>
          <p:cNvPr id="26" name="step4-bg"/>
          <p:cNvSpPr/>
          <p:nvPr/>
        </p:nvSpPr>
        <p:spPr>
          <a:xfrm>
            <a:off x="10332720" y="10972800"/>
            <a:ext cx="1188720" cy="118872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step4-ic" descr="b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4238" y="11234318"/>
            <a:ext cx="665684" cy="665684"/>
          </a:xfrm>
          <a:prstGeom prst="rect">
            <a:avLst/>
          </a:prstGeom>
        </p:spPr>
      </p:pic>
      <p:sp>
        <p:nvSpPr>
          <p:cNvPr id="28" name="step4-n"/>
          <p:cNvSpPr txBox="1"/>
          <p:nvPr/>
        </p:nvSpPr>
        <p:spPr>
          <a:xfrm>
            <a:off x="9784080" y="10332720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7B4FC9"/>
                </a:solidFill>
                <a:latin typeface="Segoe UI"/>
              </a:rPr>
              <a:t>STEP 5</a:t>
            </a:r>
          </a:p>
        </p:txBody>
      </p:sp>
      <p:sp>
        <p:nvSpPr>
          <p:cNvPr id="29" name="step4-t"/>
          <p:cNvSpPr txBox="1"/>
          <p:nvPr/>
        </p:nvSpPr>
        <p:spPr>
          <a:xfrm>
            <a:off x="9784080" y="12344400"/>
            <a:ext cx="22860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Yu Gothic UI"/>
              </a:rPr>
              <a:t>通知・PDF領収書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Segoe UI"/>
              </a:rPr>
              <a:t>Мэдэгдэл, PDF баримт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216"/>
              </a:gs>
              <a:gs pos="100000">
                <a:srgbClr val="1B202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96926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Yu Gothic UI"/>
              </a:rPr>
              <a:t>購入体験 — 会員登録なしで3分で注文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AD"/>
                </a:solidFill>
                <a:latin typeface="Segoe UI"/>
              </a:rPr>
              <a:t>Худалдан авах урсгал</a:t>
            </a:r>
          </a:p>
        </p:txBody>
      </p:sp>
      <p:sp>
        <p:nvSpPr>
          <p:cNvPr id="6" name="hdr-n"/>
          <p:cNvSpPr txBox="1"/>
          <p:nvPr/>
        </p:nvSpPr>
        <p:spPr>
          <a:xfrm>
            <a:off x="10424160" y="502920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05</a:t>
            </a:r>
          </a:p>
        </p:txBody>
      </p:sp>
      <p:sp>
        <p:nvSpPr>
          <p:cNvPr id="7" name="hdr-foot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3AD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8" name="intro"/>
          <p:cNvSpPr txBox="1"/>
          <p:nvPr/>
        </p:nvSpPr>
        <p:spPr>
          <a:xfrm>
            <a:off x="777240" y="14173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AA3AD"/>
                </a:solidFill>
                <a:latin typeface="Yu Gothic UI"/>
              </a:rPr>
              <a:t>ゲスト購入。SMS確認で不正注文を防ぎ、クーポン・会員割引・ストアクレジット・ギフトカードを同じ画面で使える。</a:t>
            </a:r>
          </a:p>
        </p:txBody>
      </p:sp>
      <p:sp>
        <p:nvSpPr>
          <p:cNvPr id="9" name="line"/>
          <p:cNvSpPr/>
          <p:nvPr/>
        </p:nvSpPr>
        <p:spPr>
          <a:xfrm>
            <a:off x="1097280" y="3310128"/>
            <a:ext cx="9966960" cy="45720"/>
          </a:xfrm>
          <a:prstGeom prst="rect">
            <a:avLst/>
          </a:prstGeom>
          <a:solidFill>
            <a:srgbClr val="3A4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ep0-bg"/>
          <p:cNvSpPr/>
          <p:nvPr/>
        </p:nvSpPr>
        <p:spPr>
          <a:xfrm>
            <a:off x="1188720" y="2743200"/>
            <a:ext cx="1188720" cy="11887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tep0-ic" descr="b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238" y="3004718"/>
            <a:ext cx="665684" cy="665684"/>
          </a:xfrm>
          <a:prstGeom prst="rect">
            <a:avLst/>
          </a:prstGeom>
        </p:spPr>
      </p:pic>
      <p:sp>
        <p:nvSpPr>
          <p:cNvPr id="12" name="step0-n"/>
          <p:cNvSpPr txBox="1"/>
          <p:nvPr/>
        </p:nvSpPr>
        <p:spPr>
          <a:xfrm>
            <a:off x="640080" y="2103120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8102E"/>
                </a:solidFill>
                <a:latin typeface="Segoe UI"/>
              </a:rPr>
              <a:t>STEP 1</a:t>
            </a:r>
          </a:p>
        </p:txBody>
      </p:sp>
      <p:sp>
        <p:nvSpPr>
          <p:cNvPr id="13" name="step0-t"/>
          <p:cNvSpPr txBox="1"/>
          <p:nvPr/>
        </p:nvSpPr>
        <p:spPr>
          <a:xfrm>
            <a:off x="640080" y="4114800"/>
            <a:ext cx="22860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Yu Gothic UI"/>
              </a:rPr>
              <a:t>商品を選ぶ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Segoe UI"/>
              </a:rPr>
              <a:t>Бараа сонгох</a:t>
            </a:r>
          </a:p>
        </p:txBody>
      </p:sp>
      <p:sp>
        <p:nvSpPr>
          <p:cNvPr id="14" name="step1-bg"/>
          <p:cNvSpPr/>
          <p:nvPr/>
        </p:nvSpPr>
        <p:spPr>
          <a:xfrm>
            <a:off x="3474720" y="2743200"/>
            <a:ext cx="1188720" cy="1188720"/>
          </a:xfrm>
          <a:prstGeom prst="ellipse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tep1-ic" descr="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238" y="3004718"/>
            <a:ext cx="665684" cy="665684"/>
          </a:xfrm>
          <a:prstGeom prst="rect">
            <a:avLst/>
          </a:prstGeom>
        </p:spPr>
      </p:pic>
      <p:sp>
        <p:nvSpPr>
          <p:cNvPr id="16" name="step1-n"/>
          <p:cNvSpPr txBox="1"/>
          <p:nvPr/>
        </p:nvSpPr>
        <p:spPr>
          <a:xfrm>
            <a:off x="2926080" y="2103120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D9A41E"/>
                </a:solidFill>
                <a:latin typeface="Segoe UI"/>
              </a:rPr>
              <a:t>STEP 2</a:t>
            </a:r>
          </a:p>
        </p:txBody>
      </p:sp>
      <p:sp>
        <p:nvSpPr>
          <p:cNvPr id="17" name="step1-t"/>
          <p:cNvSpPr txBox="1"/>
          <p:nvPr/>
        </p:nvSpPr>
        <p:spPr>
          <a:xfrm>
            <a:off x="2926080" y="4114800"/>
            <a:ext cx="22860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Yu Gothic UI"/>
              </a:rPr>
              <a:t>電話番号をSMS確認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Segoe UI"/>
              </a:rPr>
              <a:t>Утас SMS-ээр баталгаажуулах</a:t>
            </a:r>
          </a:p>
        </p:txBody>
      </p:sp>
      <p:sp>
        <p:nvSpPr>
          <p:cNvPr id="18" name="step2-bg"/>
          <p:cNvSpPr/>
          <p:nvPr/>
        </p:nvSpPr>
        <p:spPr>
          <a:xfrm>
            <a:off x="5760720" y="2743200"/>
            <a:ext cx="1188720" cy="118872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step2-ic" descr="tru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2238" y="3004718"/>
            <a:ext cx="665684" cy="665684"/>
          </a:xfrm>
          <a:prstGeom prst="rect">
            <a:avLst/>
          </a:prstGeom>
        </p:spPr>
      </p:pic>
      <p:sp>
        <p:nvSpPr>
          <p:cNvPr id="20" name="step2-n"/>
          <p:cNvSpPr txBox="1"/>
          <p:nvPr/>
        </p:nvSpPr>
        <p:spPr>
          <a:xfrm>
            <a:off x="5212080" y="2103120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FB3"/>
                </a:solidFill>
                <a:latin typeface="Segoe UI"/>
              </a:rPr>
              <a:t>STEP 3</a:t>
            </a:r>
          </a:p>
        </p:txBody>
      </p:sp>
      <p:sp>
        <p:nvSpPr>
          <p:cNvPr id="21" name="step2-t"/>
          <p:cNvSpPr txBox="1"/>
          <p:nvPr/>
        </p:nvSpPr>
        <p:spPr>
          <a:xfrm>
            <a:off x="5212080" y="4114800"/>
            <a:ext cx="22860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Yu Gothic UI"/>
              </a:rPr>
              <a:t>配送か店舗受取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Segoe UI"/>
              </a:rPr>
              <a:t>Хүргэлт / салбар</a:t>
            </a:r>
          </a:p>
        </p:txBody>
      </p:sp>
      <p:sp>
        <p:nvSpPr>
          <p:cNvPr id="22" name="step3-bg"/>
          <p:cNvSpPr/>
          <p:nvPr/>
        </p:nvSpPr>
        <p:spPr>
          <a:xfrm>
            <a:off x="8046720" y="2743200"/>
            <a:ext cx="1188720" cy="118872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step3-ic" descr="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8238" y="3004718"/>
            <a:ext cx="665684" cy="665684"/>
          </a:xfrm>
          <a:prstGeom prst="rect">
            <a:avLst/>
          </a:prstGeom>
        </p:spPr>
      </p:pic>
      <p:sp>
        <p:nvSpPr>
          <p:cNvPr id="24" name="step3-n"/>
          <p:cNvSpPr txBox="1"/>
          <p:nvPr/>
        </p:nvSpPr>
        <p:spPr>
          <a:xfrm>
            <a:off x="7498080" y="2103120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E8B57"/>
                </a:solidFill>
                <a:latin typeface="Segoe UI"/>
              </a:rPr>
              <a:t>STEP 4</a:t>
            </a:r>
          </a:p>
        </p:txBody>
      </p:sp>
      <p:sp>
        <p:nvSpPr>
          <p:cNvPr id="25" name="step3-t"/>
          <p:cNvSpPr txBox="1"/>
          <p:nvPr/>
        </p:nvSpPr>
        <p:spPr>
          <a:xfrm>
            <a:off x="7498080" y="4114800"/>
            <a:ext cx="22860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Yu Gothic UI"/>
              </a:rPr>
              <a:t>現金・QPay・StorePay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Segoe UI"/>
              </a:rPr>
              <a:t>Бэлэн, QPay, StorePay</a:t>
            </a:r>
          </a:p>
        </p:txBody>
      </p:sp>
      <p:sp>
        <p:nvSpPr>
          <p:cNvPr id="26" name="step4-bg"/>
          <p:cNvSpPr/>
          <p:nvPr/>
        </p:nvSpPr>
        <p:spPr>
          <a:xfrm>
            <a:off x="10332720" y="10972800"/>
            <a:ext cx="1188720" cy="118872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step4-ic" descr="b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4238" y="11234318"/>
            <a:ext cx="665684" cy="665684"/>
          </a:xfrm>
          <a:prstGeom prst="rect">
            <a:avLst/>
          </a:prstGeom>
        </p:spPr>
      </p:pic>
      <p:sp>
        <p:nvSpPr>
          <p:cNvPr id="28" name="step4-n"/>
          <p:cNvSpPr txBox="1"/>
          <p:nvPr/>
        </p:nvSpPr>
        <p:spPr>
          <a:xfrm>
            <a:off x="9784080" y="10332720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7B4FC9"/>
                </a:solidFill>
                <a:latin typeface="Segoe UI"/>
              </a:rPr>
              <a:t>STEP 5</a:t>
            </a:r>
          </a:p>
        </p:txBody>
      </p:sp>
      <p:sp>
        <p:nvSpPr>
          <p:cNvPr id="29" name="step4-t"/>
          <p:cNvSpPr txBox="1"/>
          <p:nvPr/>
        </p:nvSpPr>
        <p:spPr>
          <a:xfrm>
            <a:off x="9784080" y="12344400"/>
            <a:ext cx="22860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Yu Gothic UI"/>
              </a:rPr>
              <a:t>通知・PDF領収書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Segoe UI"/>
              </a:rPr>
              <a:t>Мэдэгдэл, PDF баримт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216"/>
              </a:gs>
              <a:gs pos="100000">
                <a:srgbClr val="1B202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96926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Yu Gothic UI"/>
              </a:rPr>
              <a:t>購入体験 — 会員登録なしで3分で注文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AD"/>
                </a:solidFill>
                <a:latin typeface="Segoe UI"/>
              </a:rPr>
              <a:t>Худалдан авах урсгал</a:t>
            </a:r>
          </a:p>
        </p:txBody>
      </p:sp>
      <p:sp>
        <p:nvSpPr>
          <p:cNvPr id="6" name="hdr-n"/>
          <p:cNvSpPr txBox="1"/>
          <p:nvPr/>
        </p:nvSpPr>
        <p:spPr>
          <a:xfrm>
            <a:off x="10424160" y="502920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05</a:t>
            </a:r>
          </a:p>
        </p:txBody>
      </p:sp>
      <p:sp>
        <p:nvSpPr>
          <p:cNvPr id="7" name="hdr-foot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3AD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8" name="intro"/>
          <p:cNvSpPr txBox="1"/>
          <p:nvPr/>
        </p:nvSpPr>
        <p:spPr>
          <a:xfrm>
            <a:off x="777240" y="14173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AA3AD"/>
                </a:solidFill>
                <a:latin typeface="Yu Gothic UI"/>
              </a:rPr>
              <a:t>ゲスト購入。SMS確認で不正注文を防ぎ、クーポン・会員割引・ストアクレジット・ギフトカードを同じ画面で使える。</a:t>
            </a:r>
          </a:p>
        </p:txBody>
      </p:sp>
      <p:sp>
        <p:nvSpPr>
          <p:cNvPr id="9" name="line"/>
          <p:cNvSpPr/>
          <p:nvPr/>
        </p:nvSpPr>
        <p:spPr>
          <a:xfrm>
            <a:off x="1097280" y="3310128"/>
            <a:ext cx="9966960" cy="45720"/>
          </a:xfrm>
          <a:prstGeom prst="rect">
            <a:avLst/>
          </a:prstGeom>
          <a:solidFill>
            <a:srgbClr val="3A4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ep0-bg"/>
          <p:cNvSpPr/>
          <p:nvPr/>
        </p:nvSpPr>
        <p:spPr>
          <a:xfrm>
            <a:off x="1188720" y="2743200"/>
            <a:ext cx="1188720" cy="11887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tep0-ic" descr="b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238" y="3004718"/>
            <a:ext cx="665684" cy="665684"/>
          </a:xfrm>
          <a:prstGeom prst="rect">
            <a:avLst/>
          </a:prstGeom>
        </p:spPr>
      </p:pic>
      <p:sp>
        <p:nvSpPr>
          <p:cNvPr id="12" name="step0-n"/>
          <p:cNvSpPr txBox="1"/>
          <p:nvPr/>
        </p:nvSpPr>
        <p:spPr>
          <a:xfrm>
            <a:off x="640080" y="2103120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8102E"/>
                </a:solidFill>
                <a:latin typeface="Segoe UI"/>
              </a:rPr>
              <a:t>STEP 1</a:t>
            </a:r>
          </a:p>
        </p:txBody>
      </p:sp>
      <p:sp>
        <p:nvSpPr>
          <p:cNvPr id="13" name="step0-t"/>
          <p:cNvSpPr txBox="1"/>
          <p:nvPr/>
        </p:nvSpPr>
        <p:spPr>
          <a:xfrm>
            <a:off x="640080" y="4114800"/>
            <a:ext cx="22860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Yu Gothic UI"/>
              </a:rPr>
              <a:t>商品を選ぶ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Segoe UI"/>
              </a:rPr>
              <a:t>Бараа сонгох</a:t>
            </a:r>
          </a:p>
        </p:txBody>
      </p:sp>
      <p:sp>
        <p:nvSpPr>
          <p:cNvPr id="14" name="step1-bg"/>
          <p:cNvSpPr/>
          <p:nvPr/>
        </p:nvSpPr>
        <p:spPr>
          <a:xfrm>
            <a:off x="3474720" y="2743200"/>
            <a:ext cx="1188720" cy="1188720"/>
          </a:xfrm>
          <a:prstGeom prst="ellipse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tep1-ic" descr="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238" y="3004718"/>
            <a:ext cx="665684" cy="665684"/>
          </a:xfrm>
          <a:prstGeom prst="rect">
            <a:avLst/>
          </a:prstGeom>
        </p:spPr>
      </p:pic>
      <p:sp>
        <p:nvSpPr>
          <p:cNvPr id="16" name="step1-n"/>
          <p:cNvSpPr txBox="1"/>
          <p:nvPr/>
        </p:nvSpPr>
        <p:spPr>
          <a:xfrm>
            <a:off x="2926080" y="2103120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D9A41E"/>
                </a:solidFill>
                <a:latin typeface="Segoe UI"/>
              </a:rPr>
              <a:t>STEP 2</a:t>
            </a:r>
          </a:p>
        </p:txBody>
      </p:sp>
      <p:sp>
        <p:nvSpPr>
          <p:cNvPr id="17" name="step1-t"/>
          <p:cNvSpPr txBox="1"/>
          <p:nvPr/>
        </p:nvSpPr>
        <p:spPr>
          <a:xfrm>
            <a:off x="2926080" y="4114800"/>
            <a:ext cx="22860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Yu Gothic UI"/>
              </a:rPr>
              <a:t>電話番号をSMS確認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Segoe UI"/>
              </a:rPr>
              <a:t>Утас SMS-ээр баталгаажуулах</a:t>
            </a:r>
          </a:p>
        </p:txBody>
      </p:sp>
      <p:sp>
        <p:nvSpPr>
          <p:cNvPr id="18" name="step2-bg"/>
          <p:cNvSpPr/>
          <p:nvPr/>
        </p:nvSpPr>
        <p:spPr>
          <a:xfrm>
            <a:off x="5760720" y="2743200"/>
            <a:ext cx="1188720" cy="118872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step2-ic" descr="tru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2238" y="3004718"/>
            <a:ext cx="665684" cy="665684"/>
          </a:xfrm>
          <a:prstGeom prst="rect">
            <a:avLst/>
          </a:prstGeom>
        </p:spPr>
      </p:pic>
      <p:sp>
        <p:nvSpPr>
          <p:cNvPr id="20" name="step2-n"/>
          <p:cNvSpPr txBox="1"/>
          <p:nvPr/>
        </p:nvSpPr>
        <p:spPr>
          <a:xfrm>
            <a:off x="5212080" y="2103120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FB3"/>
                </a:solidFill>
                <a:latin typeface="Segoe UI"/>
              </a:rPr>
              <a:t>STEP 3</a:t>
            </a:r>
          </a:p>
        </p:txBody>
      </p:sp>
      <p:sp>
        <p:nvSpPr>
          <p:cNvPr id="21" name="step2-t"/>
          <p:cNvSpPr txBox="1"/>
          <p:nvPr/>
        </p:nvSpPr>
        <p:spPr>
          <a:xfrm>
            <a:off x="5212080" y="4114800"/>
            <a:ext cx="22860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Yu Gothic UI"/>
              </a:rPr>
              <a:t>配送か店舗受取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Segoe UI"/>
              </a:rPr>
              <a:t>Хүргэлт / салбар</a:t>
            </a:r>
          </a:p>
        </p:txBody>
      </p:sp>
      <p:sp>
        <p:nvSpPr>
          <p:cNvPr id="22" name="step3-bg"/>
          <p:cNvSpPr/>
          <p:nvPr/>
        </p:nvSpPr>
        <p:spPr>
          <a:xfrm>
            <a:off x="8046720" y="2743200"/>
            <a:ext cx="1188720" cy="118872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step3-ic" descr="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8238" y="3004718"/>
            <a:ext cx="665684" cy="665684"/>
          </a:xfrm>
          <a:prstGeom prst="rect">
            <a:avLst/>
          </a:prstGeom>
        </p:spPr>
      </p:pic>
      <p:sp>
        <p:nvSpPr>
          <p:cNvPr id="24" name="step3-n"/>
          <p:cNvSpPr txBox="1"/>
          <p:nvPr/>
        </p:nvSpPr>
        <p:spPr>
          <a:xfrm>
            <a:off x="7498080" y="2103120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E8B57"/>
                </a:solidFill>
                <a:latin typeface="Segoe UI"/>
              </a:rPr>
              <a:t>STEP 4</a:t>
            </a:r>
          </a:p>
        </p:txBody>
      </p:sp>
      <p:sp>
        <p:nvSpPr>
          <p:cNvPr id="25" name="step3-t"/>
          <p:cNvSpPr txBox="1"/>
          <p:nvPr/>
        </p:nvSpPr>
        <p:spPr>
          <a:xfrm>
            <a:off x="7498080" y="4114800"/>
            <a:ext cx="22860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Yu Gothic UI"/>
              </a:rPr>
              <a:t>現金・QPay・StorePay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Segoe UI"/>
              </a:rPr>
              <a:t>Бэлэн, QPay, StorePay</a:t>
            </a:r>
          </a:p>
        </p:txBody>
      </p:sp>
      <p:sp>
        <p:nvSpPr>
          <p:cNvPr id="26" name="step4-bg"/>
          <p:cNvSpPr/>
          <p:nvPr/>
        </p:nvSpPr>
        <p:spPr>
          <a:xfrm>
            <a:off x="10332720" y="2743200"/>
            <a:ext cx="1188720" cy="118872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step4-ic" descr="b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4238" y="3004718"/>
            <a:ext cx="665684" cy="665684"/>
          </a:xfrm>
          <a:prstGeom prst="rect">
            <a:avLst/>
          </a:prstGeom>
        </p:spPr>
      </p:pic>
      <p:sp>
        <p:nvSpPr>
          <p:cNvPr id="28" name="step4-n"/>
          <p:cNvSpPr txBox="1"/>
          <p:nvPr/>
        </p:nvSpPr>
        <p:spPr>
          <a:xfrm>
            <a:off x="9784080" y="2103120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7B4FC9"/>
                </a:solidFill>
                <a:latin typeface="Segoe UI"/>
              </a:rPr>
              <a:t>STEP 5</a:t>
            </a:r>
          </a:p>
        </p:txBody>
      </p:sp>
      <p:sp>
        <p:nvSpPr>
          <p:cNvPr id="29" name="step4-t"/>
          <p:cNvSpPr txBox="1"/>
          <p:nvPr/>
        </p:nvSpPr>
        <p:spPr>
          <a:xfrm>
            <a:off x="9784080" y="4114800"/>
            <a:ext cx="22860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Yu Gothic UI"/>
              </a:rPr>
              <a:t>通知・PDF領収書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Segoe UI"/>
              </a:rPr>
              <a:t>Мэдэгдэл, PDF баримт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AF7"/>
              </a:gs>
              <a:gs pos="100000">
                <a:srgbClr val="ECEEE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96926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216"/>
                </a:solidFill>
                <a:latin typeface="Yu Gothic UI"/>
              </a:rPr>
              <a:t>店舗運営 — 1つの管理画面で4店舗と倉庫を運営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168"/>
                </a:solidFill>
                <a:latin typeface="Segoe UI"/>
              </a:rPr>
              <a:t>Дэлгүүрийн удирдлага</a:t>
            </a:r>
          </a:p>
        </p:txBody>
      </p:sp>
      <p:sp>
        <p:nvSpPr>
          <p:cNvPr id="6" name="hdr-n"/>
          <p:cNvSpPr txBox="1"/>
          <p:nvPr/>
        </p:nvSpPr>
        <p:spPr>
          <a:xfrm>
            <a:off x="10424160" y="502920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06</a:t>
            </a:r>
          </a:p>
        </p:txBody>
      </p:sp>
      <p:sp>
        <p:nvSpPr>
          <p:cNvPr id="7" name="hdr-foot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B6168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8" name="admin-frame"/>
          <p:cNvSpPr/>
          <p:nvPr/>
        </p:nvSpPr>
        <p:spPr>
          <a:xfrm>
            <a:off x="548640" y="1783080"/>
            <a:ext cx="6949440" cy="4308652"/>
          </a:xfrm>
          <a:prstGeom prst="roundRect">
            <a:avLst>
              <a:gd name="adj" fmla="val 3000"/>
            </a:avLst>
          </a:prstGeom>
          <a:solidFill>
            <a:srgbClr val="1B2027"/>
          </a:solidFill>
          <a:ln>
            <a:noFill/>
          </a:ln>
          <a:effectLst>
            <a:outerShdw blurRad="508000" dist="177800" dir="54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admin-img" descr="slide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929384"/>
            <a:ext cx="6656832" cy="4016044"/>
          </a:xfrm>
          <a:prstGeom prst="rect">
            <a:avLst/>
          </a:prstGeom>
        </p:spPr>
      </p:pic>
      <p:sp>
        <p:nvSpPr>
          <p:cNvPr id="10" name="admin-base"/>
          <p:cNvSpPr/>
          <p:nvPr/>
        </p:nvSpPr>
        <p:spPr>
          <a:xfrm>
            <a:off x="228600" y="6091732"/>
            <a:ext cx="7589520" cy="146304"/>
          </a:xfrm>
          <a:prstGeom prst="roundRect">
            <a:avLst>
              <a:gd name="adj" fmla="val 50000"/>
            </a:avLst>
          </a:prstGeom>
          <a:solidFill>
            <a:srgbClr val="2A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p0"/>
          <p:cNvSpPr/>
          <p:nvPr/>
        </p:nvSpPr>
        <p:spPr>
          <a:xfrm>
            <a:off x="7818120" y="10012680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p0-bg"/>
          <p:cNvSpPr/>
          <p:nvPr/>
        </p:nvSpPr>
        <p:spPr>
          <a:xfrm>
            <a:off x="7955279" y="10131552"/>
            <a:ext cx="512064" cy="51206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op0-ic" descr="b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933" y="10244206"/>
            <a:ext cx="286756" cy="286756"/>
          </a:xfrm>
          <a:prstGeom prst="rect">
            <a:avLst/>
          </a:prstGeom>
        </p:spPr>
      </p:pic>
      <p:sp>
        <p:nvSpPr>
          <p:cNvPr id="14" name="op0-t"/>
          <p:cNvSpPr txBox="1"/>
          <p:nvPr/>
        </p:nvSpPr>
        <p:spPr>
          <a:xfrm>
            <a:off x="8595360" y="10085832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1216"/>
                </a:solidFill>
                <a:latin typeface="Yu Gothic UI"/>
              </a:rPr>
              <a:t>注文ワークフロー・手入力注文・ピッキング印刷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5B6168"/>
                </a:solidFill>
                <a:latin typeface="Segoe UI"/>
              </a:rPr>
              <a:t>Захиалгын урсгал, гар захиалга, бэлтгэх хуудас</a:t>
            </a:r>
          </a:p>
        </p:txBody>
      </p:sp>
      <p:sp>
        <p:nvSpPr>
          <p:cNvPr id="15" name="op1"/>
          <p:cNvSpPr/>
          <p:nvPr/>
        </p:nvSpPr>
        <p:spPr>
          <a:xfrm>
            <a:off x="7818120" y="10908792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p1-bg"/>
          <p:cNvSpPr/>
          <p:nvPr/>
        </p:nvSpPr>
        <p:spPr>
          <a:xfrm>
            <a:off x="7955279" y="11027664"/>
            <a:ext cx="512064" cy="512064"/>
          </a:xfrm>
          <a:prstGeom prst="ellipse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op1-ic" descr="sc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933" y="11140318"/>
            <a:ext cx="286756" cy="286756"/>
          </a:xfrm>
          <a:prstGeom prst="rect">
            <a:avLst/>
          </a:prstGeom>
        </p:spPr>
      </p:pic>
      <p:sp>
        <p:nvSpPr>
          <p:cNvPr id="18" name="op1-t"/>
          <p:cNvSpPr txBox="1"/>
          <p:nvPr/>
        </p:nvSpPr>
        <p:spPr>
          <a:xfrm>
            <a:off x="8595360" y="10981944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1216"/>
                </a:solidFill>
                <a:latin typeface="Yu Gothic UI"/>
              </a:rPr>
              <a:t>在庫台帳・バーコード入荷・棚卸・店舗間移動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5B6168"/>
                </a:solidFill>
                <a:latin typeface="Segoe UI"/>
              </a:rPr>
              <a:t>Нөөцийн ledger, сканнер, шилжүүлэг</a:t>
            </a:r>
          </a:p>
        </p:txBody>
      </p:sp>
      <p:sp>
        <p:nvSpPr>
          <p:cNvPr id="19" name="op2"/>
          <p:cNvSpPr/>
          <p:nvPr/>
        </p:nvSpPr>
        <p:spPr>
          <a:xfrm>
            <a:off x="7818120" y="11804904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p2-bg"/>
          <p:cNvSpPr/>
          <p:nvPr/>
        </p:nvSpPr>
        <p:spPr>
          <a:xfrm>
            <a:off x="7955279" y="11923776"/>
            <a:ext cx="512064" cy="512064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op2-ic" descr="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7933" y="12036430"/>
            <a:ext cx="286756" cy="286756"/>
          </a:xfrm>
          <a:prstGeom prst="rect">
            <a:avLst/>
          </a:prstGeom>
        </p:spPr>
      </p:pic>
      <p:sp>
        <p:nvSpPr>
          <p:cNvPr id="22" name="op2-t"/>
          <p:cNvSpPr txBox="1"/>
          <p:nvPr/>
        </p:nvSpPr>
        <p:spPr>
          <a:xfrm>
            <a:off x="8595360" y="11878056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1216"/>
                </a:solidFill>
                <a:latin typeface="Yu Gothic UI"/>
              </a:rPr>
              <a:t>Smart POS（店舗レジ）と在庫同期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5B6168"/>
                </a:solidFill>
                <a:latin typeface="Segoe UI"/>
              </a:rPr>
              <a:t>Smart POS-той нөөц синк</a:t>
            </a:r>
          </a:p>
        </p:txBody>
      </p:sp>
      <p:sp>
        <p:nvSpPr>
          <p:cNvPr id="23" name="op3"/>
          <p:cNvSpPr/>
          <p:nvPr/>
        </p:nvSpPr>
        <p:spPr>
          <a:xfrm>
            <a:off x="7818120" y="12701016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p3-bg"/>
          <p:cNvSpPr/>
          <p:nvPr/>
        </p:nvSpPr>
        <p:spPr>
          <a:xfrm>
            <a:off x="7955279" y="12819888"/>
            <a:ext cx="512064" cy="51206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op3-ic" descr="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933" y="12932542"/>
            <a:ext cx="286756" cy="286756"/>
          </a:xfrm>
          <a:prstGeom prst="rect">
            <a:avLst/>
          </a:prstGeom>
        </p:spPr>
      </p:pic>
      <p:sp>
        <p:nvSpPr>
          <p:cNvPr id="26" name="op3-t"/>
          <p:cNvSpPr txBox="1"/>
          <p:nvPr/>
        </p:nvSpPr>
        <p:spPr>
          <a:xfrm>
            <a:off x="8595360" y="12774168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1216"/>
                </a:solidFill>
                <a:latin typeface="Yu Gothic UI"/>
              </a:rPr>
              <a:t>売上・利益・転換率・返品率の分析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5B6168"/>
                </a:solidFill>
                <a:latin typeface="Segoe UI"/>
              </a:rPr>
              <a:t>Аналитик самбар</a:t>
            </a:r>
          </a:p>
        </p:txBody>
      </p:sp>
      <p:sp>
        <p:nvSpPr>
          <p:cNvPr id="27" name="op4"/>
          <p:cNvSpPr/>
          <p:nvPr/>
        </p:nvSpPr>
        <p:spPr>
          <a:xfrm>
            <a:off x="7818120" y="13597128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p4-bg"/>
          <p:cNvSpPr/>
          <p:nvPr/>
        </p:nvSpPr>
        <p:spPr>
          <a:xfrm>
            <a:off x="7955279" y="13716000"/>
            <a:ext cx="512064" cy="512064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op4-ic" descr="ke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7933" y="13828654"/>
            <a:ext cx="286756" cy="286756"/>
          </a:xfrm>
          <a:prstGeom prst="rect">
            <a:avLst/>
          </a:prstGeom>
        </p:spPr>
      </p:pic>
      <p:sp>
        <p:nvSpPr>
          <p:cNvPr id="30" name="op4-t"/>
          <p:cNvSpPr txBox="1"/>
          <p:nvPr/>
        </p:nvSpPr>
        <p:spPr>
          <a:xfrm>
            <a:off x="8595360" y="13670280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1216"/>
                </a:solidFill>
                <a:latin typeface="Yu Gothic UI"/>
              </a:rPr>
              <a:t>権限5段階・顔認証・スマホ通知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5B6168"/>
                </a:solidFill>
                <a:latin typeface="Segoe UI"/>
              </a:rPr>
              <a:t>5 эрх, царай таних, push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AF7"/>
              </a:gs>
              <a:gs pos="100000">
                <a:srgbClr val="ECEEE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96926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216"/>
                </a:solidFill>
                <a:latin typeface="Yu Gothic UI"/>
              </a:rPr>
              <a:t>店舗運営 — 1つの管理画面で4店舗と倉庫を運営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168"/>
                </a:solidFill>
                <a:latin typeface="Segoe UI"/>
              </a:rPr>
              <a:t>Дэлгүүрийн удирдлага</a:t>
            </a:r>
          </a:p>
        </p:txBody>
      </p:sp>
      <p:sp>
        <p:nvSpPr>
          <p:cNvPr id="6" name="hdr-n"/>
          <p:cNvSpPr txBox="1"/>
          <p:nvPr/>
        </p:nvSpPr>
        <p:spPr>
          <a:xfrm>
            <a:off x="10424160" y="502920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06</a:t>
            </a:r>
          </a:p>
        </p:txBody>
      </p:sp>
      <p:sp>
        <p:nvSpPr>
          <p:cNvPr id="7" name="hdr-foot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B6168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8" name="admin-frame"/>
          <p:cNvSpPr/>
          <p:nvPr/>
        </p:nvSpPr>
        <p:spPr>
          <a:xfrm>
            <a:off x="548640" y="1783080"/>
            <a:ext cx="6949440" cy="4308652"/>
          </a:xfrm>
          <a:prstGeom prst="roundRect">
            <a:avLst>
              <a:gd name="adj" fmla="val 3000"/>
            </a:avLst>
          </a:prstGeom>
          <a:solidFill>
            <a:srgbClr val="1B2027"/>
          </a:solidFill>
          <a:ln>
            <a:noFill/>
          </a:ln>
          <a:effectLst>
            <a:outerShdw blurRad="508000" dist="177800" dir="54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admin-img" descr="slide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929384"/>
            <a:ext cx="6656832" cy="4016044"/>
          </a:xfrm>
          <a:prstGeom prst="rect">
            <a:avLst/>
          </a:prstGeom>
        </p:spPr>
      </p:pic>
      <p:sp>
        <p:nvSpPr>
          <p:cNvPr id="10" name="admin-base"/>
          <p:cNvSpPr/>
          <p:nvPr/>
        </p:nvSpPr>
        <p:spPr>
          <a:xfrm>
            <a:off x="228600" y="6091732"/>
            <a:ext cx="7589520" cy="146304"/>
          </a:xfrm>
          <a:prstGeom prst="roundRect">
            <a:avLst>
              <a:gd name="adj" fmla="val 50000"/>
            </a:avLst>
          </a:prstGeom>
          <a:solidFill>
            <a:srgbClr val="2A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p0"/>
          <p:cNvSpPr/>
          <p:nvPr/>
        </p:nvSpPr>
        <p:spPr>
          <a:xfrm>
            <a:off x="7818120" y="1783080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p0-bg"/>
          <p:cNvSpPr/>
          <p:nvPr/>
        </p:nvSpPr>
        <p:spPr>
          <a:xfrm>
            <a:off x="7955279" y="1901952"/>
            <a:ext cx="512064" cy="51206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op0-ic" descr="b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933" y="2014606"/>
            <a:ext cx="286756" cy="286756"/>
          </a:xfrm>
          <a:prstGeom prst="rect">
            <a:avLst/>
          </a:prstGeom>
        </p:spPr>
      </p:pic>
      <p:sp>
        <p:nvSpPr>
          <p:cNvPr id="14" name="op0-t"/>
          <p:cNvSpPr txBox="1"/>
          <p:nvPr/>
        </p:nvSpPr>
        <p:spPr>
          <a:xfrm>
            <a:off x="8595360" y="1856232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1216"/>
                </a:solidFill>
                <a:latin typeface="Yu Gothic UI"/>
              </a:rPr>
              <a:t>注文ワークフロー・手入力注文・ピッキング印刷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5B6168"/>
                </a:solidFill>
                <a:latin typeface="Segoe UI"/>
              </a:rPr>
              <a:t>Захиалгын урсгал, гар захиалга, бэлтгэх хуудас</a:t>
            </a:r>
          </a:p>
        </p:txBody>
      </p:sp>
      <p:sp>
        <p:nvSpPr>
          <p:cNvPr id="15" name="op1"/>
          <p:cNvSpPr/>
          <p:nvPr/>
        </p:nvSpPr>
        <p:spPr>
          <a:xfrm>
            <a:off x="7818120" y="2679192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p1-bg"/>
          <p:cNvSpPr/>
          <p:nvPr/>
        </p:nvSpPr>
        <p:spPr>
          <a:xfrm>
            <a:off x="7955279" y="2798064"/>
            <a:ext cx="512064" cy="512064"/>
          </a:xfrm>
          <a:prstGeom prst="ellipse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op1-ic" descr="sc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933" y="2910718"/>
            <a:ext cx="286756" cy="286756"/>
          </a:xfrm>
          <a:prstGeom prst="rect">
            <a:avLst/>
          </a:prstGeom>
        </p:spPr>
      </p:pic>
      <p:sp>
        <p:nvSpPr>
          <p:cNvPr id="18" name="op1-t"/>
          <p:cNvSpPr txBox="1"/>
          <p:nvPr/>
        </p:nvSpPr>
        <p:spPr>
          <a:xfrm>
            <a:off x="8595360" y="2752344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1216"/>
                </a:solidFill>
                <a:latin typeface="Yu Gothic UI"/>
              </a:rPr>
              <a:t>在庫台帳・バーコード入荷・棚卸・店舗間移動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5B6168"/>
                </a:solidFill>
                <a:latin typeface="Segoe UI"/>
              </a:rPr>
              <a:t>Нөөцийн ledger, сканнер, шилжүүлэг</a:t>
            </a:r>
          </a:p>
        </p:txBody>
      </p:sp>
      <p:sp>
        <p:nvSpPr>
          <p:cNvPr id="19" name="op2"/>
          <p:cNvSpPr/>
          <p:nvPr/>
        </p:nvSpPr>
        <p:spPr>
          <a:xfrm>
            <a:off x="7818120" y="3575304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p2-bg"/>
          <p:cNvSpPr/>
          <p:nvPr/>
        </p:nvSpPr>
        <p:spPr>
          <a:xfrm>
            <a:off x="7955279" y="3694176"/>
            <a:ext cx="512064" cy="512064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op2-ic" descr="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7933" y="3806830"/>
            <a:ext cx="286756" cy="286756"/>
          </a:xfrm>
          <a:prstGeom prst="rect">
            <a:avLst/>
          </a:prstGeom>
        </p:spPr>
      </p:pic>
      <p:sp>
        <p:nvSpPr>
          <p:cNvPr id="22" name="op2-t"/>
          <p:cNvSpPr txBox="1"/>
          <p:nvPr/>
        </p:nvSpPr>
        <p:spPr>
          <a:xfrm>
            <a:off x="8595360" y="3648456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1216"/>
                </a:solidFill>
                <a:latin typeface="Yu Gothic UI"/>
              </a:rPr>
              <a:t>Smart POS（店舗レジ）と在庫同期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5B6168"/>
                </a:solidFill>
                <a:latin typeface="Segoe UI"/>
              </a:rPr>
              <a:t>Smart POS-той нөөц синк</a:t>
            </a:r>
          </a:p>
        </p:txBody>
      </p:sp>
      <p:sp>
        <p:nvSpPr>
          <p:cNvPr id="23" name="op3"/>
          <p:cNvSpPr/>
          <p:nvPr/>
        </p:nvSpPr>
        <p:spPr>
          <a:xfrm>
            <a:off x="7818120" y="4471416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p3-bg"/>
          <p:cNvSpPr/>
          <p:nvPr/>
        </p:nvSpPr>
        <p:spPr>
          <a:xfrm>
            <a:off x="7955279" y="4590288"/>
            <a:ext cx="512064" cy="51206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op3-ic" descr="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933" y="4702942"/>
            <a:ext cx="286756" cy="286756"/>
          </a:xfrm>
          <a:prstGeom prst="rect">
            <a:avLst/>
          </a:prstGeom>
        </p:spPr>
      </p:pic>
      <p:sp>
        <p:nvSpPr>
          <p:cNvPr id="26" name="op3-t"/>
          <p:cNvSpPr txBox="1"/>
          <p:nvPr/>
        </p:nvSpPr>
        <p:spPr>
          <a:xfrm>
            <a:off x="8595360" y="4544568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1216"/>
                </a:solidFill>
                <a:latin typeface="Yu Gothic UI"/>
              </a:rPr>
              <a:t>売上・利益・転換率・返品率の分析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5B6168"/>
                </a:solidFill>
                <a:latin typeface="Segoe UI"/>
              </a:rPr>
              <a:t>Аналитик самбар</a:t>
            </a:r>
          </a:p>
        </p:txBody>
      </p:sp>
      <p:sp>
        <p:nvSpPr>
          <p:cNvPr id="27" name="op4"/>
          <p:cNvSpPr/>
          <p:nvPr/>
        </p:nvSpPr>
        <p:spPr>
          <a:xfrm>
            <a:off x="7818120" y="5367528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p4-bg"/>
          <p:cNvSpPr/>
          <p:nvPr/>
        </p:nvSpPr>
        <p:spPr>
          <a:xfrm>
            <a:off x="7955279" y="5486400"/>
            <a:ext cx="512064" cy="512064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op4-ic" descr="ke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7933" y="5599054"/>
            <a:ext cx="286756" cy="286756"/>
          </a:xfrm>
          <a:prstGeom prst="rect">
            <a:avLst/>
          </a:prstGeom>
        </p:spPr>
      </p:pic>
      <p:sp>
        <p:nvSpPr>
          <p:cNvPr id="30" name="op4-t"/>
          <p:cNvSpPr txBox="1"/>
          <p:nvPr/>
        </p:nvSpPr>
        <p:spPr>
          <a:xfrm>
            <a:off x="8595360" y="5440680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1216"/>
                </a:solidFill>
                <a:latin typeface="Yu Gothic UI"/>
              </a:rPr>
              <a:t>権限5段階・顔認証・スマホ通知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5B6168"/>
                </a:solidFill>
                <a:latin typeface="Segoe UI"/>
              </a:rPr>
              <a:t>5 эрх, царай таних, push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216"/>
              </a:gs>
              <a:gs pos="100000">
                <a:srgbClr val="1B202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96926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Yu Gothic UI"/>
              </a:rPr>
              <a:t>技術基盤 — 東京リージョンのクラウドで運用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AD"/>
                </a:solidFill>
                <a:latin typeface="Segoe UI"/>
              </a:rPr>
              <a:t>Техникийн суурь</a:t>
            </a:r>
          </a:p>
        </p:txBody>
      </p:sp>
      <p:sp>
        <p:nvSpPr>
          <p:cNvPr id="6" name="hdr-n"/>
          <p:cNvSpPr txBox="1"/>
          <p:nvPr/>
        </p:nvSpPr>
        <p:spPr>
          <a:xfrm>
            <a:off x="10424160" y="502920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07</a:t>
            </a:r>
          </a:p>
        </p:txBody>
      </p:sp>
      <p:sp>
        <p:nvSpPr>
          <p:cNvPr id="7" name="hdr-foot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3AD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8" name="tile0"/>
          <p:cNvSpPr/>
          <p:nvPr/>
        </p:nvSpPr>
        <p:spPr>
          <a:xfrm>
            <a:off x="548640" y="996696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1B2027"/>
          </a:solidFill>
          <a:ln w="9525">
            <a:solidFill>
              <a:srgbClr val="2E3640"/>
            </a:solidFill>
          </a:ln>
          <a:effectLst>
            <a:outerShdw blurRad="381000" dist="1016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le0-bg"/>
          <p:cNvSpPr/>
          <p:nvPr/>
        </p:nvSpPr>
        <p:spPr>
          <a:xfrm>
            <a:off x="777240" y="10149840"/>
            <a:ext cx="731520" cy="7315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tile0-ic" descr="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74" y="10310774"/>
            <a:ext cx="409652" cy="409652"/>
          </a:xfrm>
          <a:prstGeom prst="rect">
            <a:avLst/>
          </a:prstGeom>
        </p:spPr>
      </p:pic>
      <p:sp>
        <p:nvSpPr>
          <p:cNvPr id="11" name="tile0-t"/>
          <p:cNvSpPr txBox="1"/>
          <p:nvPr/>
        </p:nvSpPr>
        <p:spPr>
          <a:xfrm>
            <a:off x="777240" y="1101852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Cloudflare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Yu Gothic UI"/>
              </a:rPr>
              <a:t>WAF・CDN・Bot対策・トンネル</a:t>
            </a:r>
          </a:p>
        </p:txBody>
      </p:sp>
      <p:sp>
        <p:nvSpPr>
          <p:cNvPr id="12" name="tile1"/>
          <p:cNvSpPr/>
          <p:nvPr/>
        </p:nvSpPr>
        <p:spPr>
          <a:xfrm>
            <a:off x="3383280" y="996696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1B2027"/>
          </a:solidFill>
          <a:ln w="9525">
            <a:solidFill>
              <a:srgbClr val="2E3640"/>
            </a:solidFill>
          </a:ln>
          <a:effectLst>
            <a:outerShdw blurRad="381000" dist="1016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le1-bg"/>
          <p:cNvSpPr/>
          <p:nvPr/>
        </p:nvSpPr>
        <p:spPr>
          <a:xfrm>
            <a:off x="3611880" y="10149840"/>
            <a:ext cx="731520" cy="731520"/>
          </a:xfrm>
          <a:prstGeom prst="ellipse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tile1-ic" descr="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814" y="10310774"/>
            <a:ext cx="409652" cy="409652"/>
          </a:xfrm>
          <a:prstGeom prst="rect">
            <a:avLst/>
          </a:prstGeom>
        </p:spPr>
      </p:pic>
      <p:sp>
        <p:nvSpPr>
          <p:cNvPr id="15" name="tile1-t"/>
          <p:cNvSpPr txBox="1"/>
          <p:nvPr/>
        </p:nvSpPr>
        <p:spPr>
          <a:xfrm>
            <a:off x="3611880" y="1101852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Oracle Cloud 東京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Yu Gothic UI"/>
              </a:rPr>
              <a:t>本番＋ステージング</a:t>
            </a:r>
          </a:p>
        </p:txBody>
      </p:sp>
      <p:sp>
        <p:nvSpPr>
          <p:cNvPr id="16" name="tile2"/>
          <p:cNvSpPr/>
          <p:nvPr/>
        </p:nvSpPr>
        <p:spPr>
          <a:xfrm>
            <a:off x="6217920" y="996696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1B2027"/>
          </a:solidFill>
          <a:ln w="9525">
            <a:solidFill>
              <a:srgbClr val="2E3640"/>
            </a:solidFill>
          </a:ln>
          <a:effectLst>
            <a:outerShdw blurRad="381000" dist="1016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le2-bg"/>
          <p:cNvSpPr/>
          <p:nvPr/>
        </p:nvSpPr>
        <p:spPr>
          <a:xfrm>
            <a:off x="6446520" y="10149840"/>
            <a:ext cx="731520" cy="73152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tile2-ic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454" y="10310774"/>
            <a:ext cx="409652" cy="409652"/>
          </a:xfrm>
          <a:prstGeom prst="rect">
            <a:avLst/>
          </a:prstGeom>
        </p:spPr>
      </p:pic>
      <p:sp>
        <p:nvSpPr>
          <p:cNvPr id="19" name="tile2-t"/>
          <p:cNvSpPr txBox="1"/>
          <p:nvPr/>
        </p:nvSpPr>
        <p:spPr>
          <a:xfrm>
            <a:off x="6446520" y="1101852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MySQL HeatWave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Yu Gothic UI"/>
              </a:rPr>
              <a:t>TLS暗号化・日次暗号化バックアップ</a:t>
            </a:r>
          </a:p>
        </p:txBody>
      </p:sp>
      <p:sp>
        <p:nvSpPr>
          <p:cNvPr id="20" name="tile3"/>
          <p:cNvSpPr/>
          <p:nvPr/>
        </p:nvSpPr>
        <p:spPr>
          <a:xfrm>
            <a:off x="9052560" y="996696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1B2027"/>
          </a:solidFill>
          <a:ln w="9525">
            <a:solidFill>
              <a:srgbClr val="2E3640"/>
            </a:solidFill>
          </a:ln>
          <a:effectLst>
            <a:outerShdw blurRad="381000" dist="1016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le3-bg"/>
          <p:cNvSpPr/>
          <p:nvPr/>
        </p:nvSpPr>
        <p:spPr>
          <a:xfrm>
            <a:off x="9281160" y="10149840"/>
            <a:ext cx="731520" cy="73152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tile3-ic" descr="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2094" y="10310774"/>
            <a:ext cx="409652" cy="409652"/>
          </a:xfrm>
          <a:prstGeom prst="rect">
            <a:avLst/>
          </a:prstGeom>
        </p:spPr>
      </p:pic>
      <p:sp>
        <p:nvSpPr>
          <p:cNvPr id="23" name="tile3-t"/>
          <p:cNvSpPr txBox="1"/>
          <p:nvPr/>
        </p:nvSpPr>
        <p:spPr>
          <a:xfrm>
            <a:off x="9281160" y="1101852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Cloudflare R2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Yu Gothic UI"/>
              </a:rPr>
              <a:t>商品画像ストレージ</a:t>
            </a:r>
          </a:p>
        </p:txBody>
      </p:sp>
      <p:sp>
        <p:nvSpPr>
          <p:cNvPr id="24" name="fact0-bar"/>
          <p:cNvSpPr/>
          <p:nvPr/>
        </p:nvSpPr>
        <p:spPr>
          <a:xfrm>
            <a:off x="548640" y="12207239"/>
            <a:ext cx="54864" cy="13716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act0"/>
          <p:cNvSpPr txBox="1"/>
          <p:nvPr/>
        </p:nvSpPr>
        <p:spPr>
          <a:xfrm>
            <a:off x="731520" y="12161520"/>
            <a:ext cx="242316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TypeScript / React / tRPC / Drizzle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9AA3AD"/>
                </a:solidFill>
                <a:latin typeface="Yu Gothic UI"/>
              </a:rPr>
              <a:t>自社保有のソースコード・1リポジトリ</a:t>
            </a:r>
          </a:p>
        </p:txBody>
      </p:sp>
      <p:sp>
        <p:nvSpPr>
          <p:cNvPr id="26" name="fact1-bar"/>
          <p:cNvSpPr/>
          <p:nvPr/>
        </p:nvSpPr>
        <p:spPr>
          <a:xfrm>
            <a:off x="3383280" y="12207239"/>
            <a:ext cx="54864" cy="13716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act1"/>
          <p:cNvSpPr txBox="1"/>
          <p:nvPr/>
        </p:nvSpPr>
        <p:spPr>
          <a:xfrm>
            <a:off x="3566160" y="12161520"/>
            <a:ext cx="242316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自動テスト 935件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9AA3AD"/>
                </a:solidFill>
                <a:latin typeface="Yu Gothic UI"/>
              </a:rPr>
              <a:t>実DBの統合テスト、CIで毎回</a:t>
            </a:r>
          </a:p>
        </p:txBody>
      </p:sp>
      <p:sp>
        <p:nvSpPr>
          <p:cNvPr id="28" name="fact2-bar"/>
          <p:cNvSpPr/>
          <p:nvPr/>
        </p:nvSpPr>
        <p:spPr>
          <a:xfrm>
            <a:off x="6217920" y="12207239"/>
            <a:ext cx="54864" cy="13716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act2"/>
          <p:cNvSpPr txBox="1"/>
          <p:nvPr/>
        </p:nvSpPr>
        <p:spPr>
          <a:xfrm>
            <a:off x="6400800" y="12161520"/>
            <a:ext cx="242316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ワンコマンド・デプロイ（約3分）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9AA3AD"/>
                </a:solidFill>
                <a:latin typeface="Yu Gothic UI"/>
              </a:rPr>
              <a:t>独立したステージング環境</a:t>
            </a:r>
          </a:p>
        </p:txBody>
      </p:sp>
      <p:sp>
        <p:nvSpPr>
          <p:cNvPr id="30" name="fact3-bar"/>
          <p:cNvSpPr/>
          <p:nvPr/>
        </p:nvSpPr>
        <p:spPr>
          <a:xfrm>
            <a:off x="9052560" y="12207239"/>
            <a:ext cx="54864" cy="13716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act3"/>
          <p:cNvSpPr txBox="1"/>
          <p:nvPr/>
        </p:nvSpPr>
        <p:spPr>
          <a:xfrm>
            <a:off x="9235440" y="12161520"/>
            <a:ext cx="242316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稼働監視・エラートラッキング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9AA3AD"/>
                </a:solidFill>
                <a:latin typeface="Yu Gothic UI"/>
              </a:rPr>
              <a:t>暗号化バックアップ30日保持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216"/>
              </a:gs>
              <a:gs pos="100000">
                <a:srgbClr val="1B202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96926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Yu Gothic UI"/>
              </a:rPr>
              <a:t>技術基盤 — 東京リージョンのクラウドで運用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AD"/>
                </a:solidFill>
                <a:latin typeface="Segoe UI"/>
              </a:rPr>
              <a:t>Техникийн суурь</a:t>
            </a:r>
          </a:p>
        </p:txBody>
      </p:sp>
      <p:sp>
        <p:nvSpPr>
          <p:cNvPr id="6" name="hdr-n"/>
          <p:cNvSpPr txBox="1"/>
          <p:nvPr/>
        </p:nvSpPr>
        <p:spPr>
          <a:xfrm>
            <a:off x="10424160" y="502920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07</a:t>
            </a:r>
          </a:p>
        </p:txBody>
      </p:sp>
      <p:sp>
        <p:nvSpPr>
          <p:cNvPr id="7" name="hdr-foot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3AD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8" name="tile0"/>
          <p:cNvSpPr/>
          <p:nvPr/>
        </p:nvSpPr>
        <p:spPr>
          <a:xfrm>
            <a:off x="548640" y="173736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1B2027"/>
          </a:solidFill>
          <a:ln w="9525">
            <a:solidFill>
              <a:srgbClr val="2E3640"/>
            </a:solidFill>
          </a:ln>
          <a:effectLst>
            <a:outerShdw blurRad="381000" dist="1016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le0-bg"/>
          <p:cNvSpPr/>
          <p:nvPr/>
        </p:nvSpPr>
        <p:spPr>
          <a:xfrm>
            <a:off x="777240" y="1920240"/>
            <a:ext cx="731520" cy="7315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tile0-ic" descr="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74" y="2081174"/>
            <a:ext cx="409652" cy="409652"/>
          </a:xfrm>
          <a:prstGeom prst="rect">
            <a:avLst/>
          </a:prstGeom>
        </p:spPr>
      </p:pic>
      <p:sp>
        <p:nvSpPr>
          <p:cNvPr id="11" name="tile0-t"/>
          <p:cNvSpPr txBox="1"/>
          <p:nvPr/>
        </p:nvSpPr>
        <p:spPr>
          <a:xfrm>
            <a:off x="777240" y="278892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Cloudflare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Yu Gothic UI"/>
              </a:rPr>
              <a:t>WAF・CDN・Bot対策・トンネル</a:t>
            </a:r>
          </a:p>
        </p:txBody>
      </p:sp>
      <p:sp>
        <p:nvSpPr>
          <p:cNvPr id="12" name="tile1"/>
          <p:cNvSpPr/>
          <p:nvPr/>
        </p:nvSpPr>
        <p:spPr>
          <a:xfrm>
            <a:off x="3383280" y="173736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1B2027"/>
          </a:solidFill>
          <a:ln w="9525">
            <a:solidFill>
              <a:srgbClr val="2E3640"/>
            </a:solidFill>
          </a:ln>
          <a:effectLst>
            <a:outerShdw blurRad="381000" dist="1016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le1-bg"/>
          <p:cNvSpPr/>
          <p:nvPr/>
        </p:nvSpPr>
        <p:spPr>
          <a:xfrm>
            <a:off x="3611880" y="1920240"/>
            <a:ext cx="731520" cy="731520"/>
          </a:xfrm>
          <a:prstGeom prst="ellipse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tile1-ic" descr="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814" y="2081174"/>
            <a:ext cx="409652" cy="409652"/>
          </a:xfrm>
          <a:prstGeom prst="rect">
            <a:avLst/>
          </a:prstGeom>
        </p:spPr>
      </p:pic>
      <p:sp>
        <p:nvSpPr>
          <p:cNvPr id="15" name="tile1-t"/>
          <p:cNvSpPr txBox="1"/>
          <p:nvPr/>
        </p:nvSpPr>
        <p:spPr>
          <a:xfrm>
            <a:off x="3611880" y="278892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Oracle Cloud 東京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Yu Gothic UI"/>
              </a:rPr>
              <a:t>本番＋ステージング</a:t>
            </a:r>
          </a:p>
        </p:txBody>
      </p:sp>
      <p:sp>
        <p:nvSpPr>
          <p:cNvPr id="16" name="tile2"/>
          <p:cNvSpPr/>
          <p:nvPr/>
        </p:nvSpPr>
        <p:spPr>
          <a:xfrm>
            <a:off x="6217920" y="173736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1B2027"/>
          </a:solidFill>
          <a:ln w="9525">
            <a:solidFill>
              <a:srgbClr val="2E3640"/>
            </a:solidFill>
          </a:ln>
          <a:effectLst>
            <a:outerShdw blurRad="381000" dist="1016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le2-bg"/>
          <p:cNvSpPr/>
          <p:nvPr/>
        </p:nvSpPr>
        <p:spPr>
          <a:xfrm>
            <a:off x="6446520" y="1920240"/>
            <a:ext cx="731520" cy="73152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tile2-ic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454" y="2081174"/>
            <a:ext cx="409652" cy="409652"/>
          </a:xfrm>
          <a:prstGeom prst="rect">
            <a:avLst/>
          </a:prstGeom>
        </p:spPr>
      </p:pic>
      <p:sp>
        <p:nvSpPr>
          <p:cNvPr id="19" name="tile2-t"/>
          <p:cNvSpPr txBox="1"/>
          <p:nvPr/>
        </p:nvSpPr>
        <p:spPr>
          <a:xfrm>
            <a:off x="6446520" y="278892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MySQL HeatWave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Yu Gothic UI"/>
              </a:rPr>
              <a:t>TLS暗号化・日次暗号化バックアップ</a:t>
            </a:r>
          </a:p>
        </p:txBody>
      </p:sp>
      <p:sp>
        <p:nvSpPr>
          <p:cNvPr id="20" name="tile3"/>
          <p:cNvSpPr/>
          <p:nvPr/>
        </p:nvSpPr>
        <p:spPr>
          <a:xfrm>
            <a:off x="9052560" y="173736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1B2027"/>
          </a:solidFill>
          <a:ln w="9525">
            <a:solidFill>
              <a:srgbClr val="2E3640"/>
            </a:solidFill>
          </a:ln>
          <a:effectLst>
            <a:outerShdw blurRad="381000" dist="1016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le3-bg"/>
          <p:cNvSpPr/>
          <p:nvPr/>
        </p:nvSpPr>
        <p:spPr>
          <a:xfrm>
            <a:off x="9281160" y="1920240"/>
            <a:ext cx="731520" cy="73152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tile3-ic" descr="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2094" y="2081174"/>
            <a:ext cx="409652" cy="409652"/>
          </a:xfrm>
          <a:prstGeom prst="rect">
            <a:avLst/>
          </a:prstGeom>
        </p:spPr>
      </p:pic>
      <p:sp>
        <p:nvSpPr>
          <p:cNvPr id="23" name="tile3-t"/>
          <p:cNvSpPr txBox="1"/>
          <p:nvPr/>
        </p:nvSpPr>
        <p:spPr>
          <a:xfrm>
            <a:off x="9281160" y="278892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Cloudflare R2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Yu Gothic UI"/>
              </a:rPr>
              <a:t>商品画像ストレージ</a:t>
            </a:r>
          </a:p>
        </p:txBody>
      </p:sp>
      <p:sp>
        <p:nvSpPr>
          <p:cNvPr id="24" name="fact0-bar"/>
          <p:cNvSpPr/>
          <p:nvPr/>
        </p:nvSpPr>
        <p:spPr>
          <a:xfrm>
            <a:off x="548640" y="12207239"/>
            <a:ext cx="54864" cy="13716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act0"/>
          <p:cNvSpPr txBox="1"/>
          <p:nvPr/>
        </p:nvSpPr>
        <p:spPr>
          <a:xfrm>
            <a:off x="731520" y="12161520"/>
            <a:ext cx="242316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TypeScript / React / tRPC / Drizzle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9AA3AD"/>
                </a:solidFill>
                <a:latin typeface="Yu Gothic UI"/>
              </a:rPr>
              <a:t>自社保有のソースコード・1リポジトリ</a:t>
            </a:r>
          </a:p>
        </p:txBody>
      </p:sp>
      <p:sp>
        <p:nvSpPr>
          <p:cNvPr id="26" name="fact1-bar"/>
          <p:cNvSpPr/>
          <p:nvPr/>
        </p:nvSpPr>
        <p:spPr>
          <a:xfrm>
            <a:off x="3383280" y="12207239"/>
            <a:ext cx="54864" cy="13716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act1"/>
          <p:cNvSpPr txBox="1"/>
          <p:nvPr/>
        </p:nvSpPr>
        <p:spPr>
          <a:xfrm>
            <a:off x="3566160" y="12161520"/>
            <a:ext cx="242316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自動テスト 935件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9AA3AD"/>
                </a:solidFill>
                <a:latin typeface="Yu Gothic UI"/>
              </a:rPr>
              <a:t>実DBの統合テスト、CIで毎回</a:t>
            </a:r>
          </a:p>
        </p:txBody>
      </p:sp>
      <p:sp>
        <p:nvSpPr>
          <p:cNvPr id="28" name="fact2-bar"/>
          <p:cNvSpPr/>
          <p:nvPr/>
        </p:nvSpPr>
        <p:spPr>
          <a:xfrm>
            <a:off x="6217920" y="12207239"/>
            <a:ext cx="54864" cy="13716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act2"/>
          <p:cNvSpPr txBox="1"/>
          <p:nvPr/>
        </p:nvSpPr>
        <p:spPr>
          <a:xfrm>
            <a:off x="6400800" y="12161520"/>
            <a:ext cx="242316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ワンコマンド・デプロイ（約3分）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9AA3AD"/>
                </a:solidFill>
                <a:latin typeface="Yu Gothic UI"/>
              </a:rPr>
              <a:t>独立したステージング環境</a:t>
            </a:r>
          </a:p>
        </p:txBody>
      </p:sp>
      <p:sp>
        <p:nvSpPr>
          <p:cNvPr id="30" name="fact3-bar"/>
          <p:cNvSpPr/>
          <p:nvPr/>
        </p:nvSpPr>
        <p:spPr>
          <a:xfrm>
            <a:off x="9052560" y="12207239"/>
            <a:ext cx="54864" cy="13716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act3"/>
          <p:cNvSpPr txBox="1"/>
          <p:nvPr/>
        </p:nvSpPr>
        <p:spPr>
          <a:xfrm>
            <a:off x="9235440" y="12161520"/>
            <a:ext cx="242316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稼働監視・エラートラッキング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9AA3AD"/>
                </a:solidFill>
                <a:latin typeface="Yu Gothic UI"/>
              </a:rPr>
              <a:t>暗号化バックアップ30日保持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216"/>
              </a:gs>
              <a:gs pos="100000">
                <a:srgbClr val="1B202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96926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Yu Gothic UI"/>
              </a:rPr>
              <a:t>技術基盤 — 東京リージョンのクラウドで運用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AD"/>
                </a:solidFill>
                <a:latin typeface="Segoe UI"/>
              </a:rPr>
              <a:t>Техникийн суурь</a:t>
            </a:r>
          </a:p>
        </p:txBody>
      </p:sp>
      <p:sp>
        <p:nvSpPr>
          <p:cNvPr id="6" name="hdr-n"/>
          <p:cNvSpPr txBox="1"/>
          <p:nvPr/>
        </p:nvSpPr>
        <p:spPr>
          <a:xfrm>
            <a:off x="10424160" y="502920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07</a:t>
            </a:r>
          </a:p>
        </p:txBody>
      </p:sp>
      <p:sp>
        <p:nvSpPr>
          <p:cNvPr id="7" name="hdr-foot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3AD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8" name="tile0"/>
          <p:cNvSpPr/>
          <p:nvPr/>
        </p:nvSpPr>
        <p:spPr>
          <a:xfrm>
            <a:off x="548640" y="173736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1B2027"/>
          </a:solidFill>
          <a:ln w="9525">
            <a:solidFill>
              <a:srgbClr val="2E3640"/>
            </a:solidFill>
          </a:ln>
          <a:effectLst>
            <a:outerShdw blurRad="381000" dist="1016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le0-bg"/>
          <p:cNvSpPr/>
          <p:nvPr/>
        </p:nvSpPr>
        <p:spPr>
          <a:xfrm>
            <a:off x="777240" y="1920240"/>
            <a:ext cx="731520" cy="7315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tile0-ic" descr="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74" y="2081174"/>
            <a:ext cx="409652" cy="409652"/>
          </a:xfrm>
          <a:prstGeom prst="rect">
            <a:avLst/>
          </a:prstGeom>
        </p:spPr>
      </p:pic>
      <p:sp>
        <p:nvSpPr>
          <p:cNvPr id="11" name="tile0-t"/>
          <p:cNvSpPr txBox="1"/>
          <p:nvPr/>
        </p:nvSpPr>
        <p:spPr>
          <a:xfrm>
            <a:off x="777240" y="278892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Cloudflare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Yu Gothic UI"/>
              </a:rPr>
              <a:t>WAF・CDN・Bot対策・トンネル</a:t>
            </a:r>
          </a:p>
        </p:txBody>
      </p:sp>
      <p:sp>
        <p:nvSpPr>
          <p:cNvPr id="12" name="tile1"/>
          <p:cNvSpPr/>
          <p:nvPr/>
        </p:nvSpPr>
        <p:spPr>
          <a:xfrm>
            <a:off x="3383280" y="173736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1B2027"/>
          </a:solidFill>
          <a:ln w="9525">
            <a:solidFill>
              <a:srgbClr val="2E3640"/>
            </a:solidFill>
          </a:ln>
          <a:effectLst>
            <a:outerShdw blurRad="381000" dist="1016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le1-bg"/>
          <p:cNvSpPr/>
          <p:nvPr/>
        </p:nvSpPr>
        <p:spPr>
          <a:xfrm>
            <a:off x="3611880" y="1920240"/>
            <a:ext cx="731520" cy="731520"/>
          </a:xfrm>
          <a:prstGeom prst="ellipse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tile1-ic" descr="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814" y="2081174"/>
            <a:ext cx="409652" cy="409652"/>
          </a:xfrm>
          <a:prstGeom prst="rect">
            <a:avLst/>
          </a:prstGeom>
        </p:spPr>
      </p:pic>
      <p:sp>
        <p:nvSpPr>
          <p:cNvPr id="15" name="tile1-t"/>
          <p:cNvSpPr txBox="1"/>
          <p:nvPr/>
        </p:nvSpPr>
        <p:spPr>
          <a:xfrm>
            <a:off x="3611880" y="278892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Oracle Cloud 東京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Yu Gothic UI"/>
              </a:rPr>
              <a:t>本番＋ステージング</a:t>
            </a:r>
          </a:p>
        </p:txBody>
      </p:sp>
      <p:sp>
        <p:nvSpPr>
          <p:cNvPr id="16" name="tile2"/>
          <p:cNvSpPr/>
          <p:nvPr/>
        </p:nvSpPr>
        <p:spPr>
          <a:xfrm>
            <a:off x="6217920" y="173736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1B2027"/>
          </a:solidFill>
          <a:ln w="9525">
            <a:solidFill>
              <a:srgbClr val="2E3640"/>
            </a:solidFill>
          </a:ln>
          <a:effectLst>
            <a:outerShdw blurRad="381000" dist="1016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le2-bg"/>
          <p:cNvSpPr/>
          <p:nvPr/>
        </p:nvSpPr>
        <p:spPr>
          <a:xfrm>
            <a:off x="6446520" y="1920240"/>
            <a:ext cx="731520" cy="73152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tile2-ic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454" y="2081174"/>
            <a:ext cx="409652" cy="409652"/>
          </a:xfrm>
          <a:prstGeom prst="rect">
            <a:avLst/>
          </a:prstGeom>
        </p:spPr>
      </p:pic>
      <p:sp>
        <p:nvSpPr>
          <p:cNvPr id="19" name="tile2-t"/>
          <p:cNvSpPr txBox="1"/>
          <p:nvPr/>
        </p:nvSpPr>
        <p:spPr>
          <a:xfrm>
            <a:off x="6446520" y="278892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MySQL HeatWave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Yu Gothic UI"/>
              </a:rPr>
              <a:t>TLS暗号化・日次暗号化バックアップ</a:t>
            </a:r>
          </a:p>
        </p:txBody>
      </p:sp>
      <p:sp>
        <p:nvSpPr>
          <p:cNvPr id="20" name="tile3"/>
          <p:cNvSpPr/>
          <p:nvPr/>
        </p:nvSpPr>
        <p:spPr>
          <a:xfrm>
            <a:off x="9052560" y="173736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1B2027"/>
          </a:solidFill>
          <a:ln w="9525">
            <a:solidFill>
              <a:srgbClr val="2E3640"/>
            </a:solidFill>
          </a:ln>
          <a:effectLst>
            <a:outerShdw blurRad="381000" dist="1016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le3-bg"/>
          <p:cNvSpPr/>
          <p:nvPr/>
        </p:nvSpPr>
        <p:spPr>
          <a:xfrm>
            <a:off x="9281160" y="1920240"/>
            <a:ext cx="731520" cy="73152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tile3-ic" descr="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2094" y="2081174"/>
            <a:ext cx="409652" cy="409652"/>
          </a:xfrm>
          <a:prstGeom prst="rect">
            <a:avLst/>
          </a:prstGeom>
        </p:spPr>
      </p:pic>
      <p:sp>
        <p:nvSpPr>
          <p:cNvPr id="23" name="tile3-t"/>
          <p:cNvSpPr txBox="1"/>
          <p:nvPr/>
        </p:nvSpPr>
        <p:spPr>
          <a:xfrm>
            <a:off x="9281160" y="278892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Cloudflare R2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9AA3AD"/>
                </a:solidFill>
                <a:latin typeface="Yu Gothic UI"/>
              </a:rPr>
              <a:t>商品画像ストレージ</a:t>
            </a:r>
          </a:p>
        </p:txBody>
      </p:sp>
      <p:sp>
        <p:nvSpPr>
          <p:cNvPr id="24" name="fact0-bar"/>
          <p:cNvSpPr/>
          <p:nvPr/>
        </p:nvSpPr>
        <p:spPr>
          <a:xfrm>
            <a:off x="548640" y="3977639"/>
            <a:ext cx="54864" cy="13716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act0"/>
          <p:cNvSpPr txBox="1"/>
          <p:nvPr/>
        </p:nvSpPr>
        <p:spPr>
          <a:xfrm>
            <a:off x="731520" y="3931920"/>
            <a:ext cx="242316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TypeScript / React / tRPC / Drizzle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9AA3AD"/>
                </a:solidFill>
                <a:latin typeface="Yu Gothic UI"/>
              </a:rPr>
              <a:t>自社保有のソースコード・1リポジトリ</a:t>
            </a:r>
          </a:p>
        </p:txBody>
      </p:sp>
      <p:sp>
        <p:nvSpPr>
          <p:cNvPr id="26" name="fact1-bar"/>
          <p:cNvSpPr/>
          <p:nvPr/>
        </p:nvSpPr>
        <p:spPr>
          <a:xfrm>
            <a:off x="3383280" y="3977639"/>
            <a:ext cx="54864" cy="13716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act1"/>
          <p:cNvSpPr txBox="1"/>
          <p:nvPr/>
        </p:nvSpPr>
        <p:spPr>
          <a:xfrm>
            <a:off x="3566160" y="3931920"/>
            <a:ext cx="242316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自動テスト 935件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9AA3AD"/>
                </a:solidFill>
                <a:latin typeface="Yu Gothic UI"/>
              </a:rPr>
              <a:t>実DBの統合テスト、CIで毎回</a:t>
            </a:r>
          </a:p>
        </p:txBody>
      </p:sp>
      <p:sp>
        <p:nvSpPr>
          <p:cNvPr id="28" name="fact2-bar"/>
          <p:cNvSpPr/>
          <p:nvPr/>
        </p:nvSpPr>
        <p:spPr>
          <a:xfrm>
            <a:off x="6217920" y="3977639"/>
            <a:ext cx="54864" cy="13716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act2"/>
          <p:cNvSpPr txBox="1"/>
          <p:nvPr/>
        </p:nvSpPr>
        <p:spPr>
          <a:xfrm>
            <a:off x="6400800" y="3931920"/>
            <a:ext cx="242316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ワンコマンド・デプロイ（約3分）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9AA3AD"/>
                </a:solidFill>
                <a:latin typeface="Yu Gothic UI"/>
              </a:rPr>
              <a:t>独立したステージング環境</a:t>
            </a:r>
          </a:p>
        </p:txBody>
      </p:sp>
      <p:sp>
        <p:nvSpPr>
          <p:cNvPr id="30" name="fact3-bar"/>
          <p:cNvSpPr/>
          <p:nvPr/>
        </p:nvSpPr>
        <p:spPr>
          <a:xfrm>
            <a:off x="9052560" y="3977639"/>
            <a:ext cx="54864" cy="13716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act3"/>
          <p:cNvSpPr txBox="1"/>
          <p:nvPr/>
        </p:nvSpPr>
        <p:spPr>
          <a:xfrm>
            <a:off x="9235440" y="3931920"/>
            <a:ext cx="242316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稼働監視・エラートラッキング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9AA3AD"/>
                </a:solidFill>
                <a:latin typeface="Yu Gothic UI"/>
              </a:rPr>
              <a:t>暗号化バックアップ30日保持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AF7"/>
              </a:gs>
              <a:gs pos="100000">
                <a:srgbClr val="ECEEE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96926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216"/>
                </a:solidFill>
                <a:latin typeface="Yu Gothic UI"/>
              </a:rPr>
              <a:t>セキュリティと法令対応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168"/>
                </a:solidFill>
                <a:latin typeface="Segoe UI"/>
              </a:rPr>
              <a:t>Аюулгүй байдал, хуулийн нийцэл</a:t>
            </a:r>
          </a:p>
        </p:txBody>
      </p:sp>
      <p:sp>
        <p:nvSpPr>
          <p:cNvPr id="6" name="hdr-n"/>
          <p:cNvSpPr txBox="1"/>
          <p:nvPr/>
        </p:nvSpPr>
        <p:spPr>
          <a:xfrm>
            <a:off x="10424160" y="502920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08</a:t>
            </a:r>
          </a:p>
        </p:txBody>
      </p:sp>
      <p:sp>
        <p:nvSpPr>
          <p:cNvPr id="7" name="hdr-foot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B6168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8" name="sec0"/>
          <p:cNvSpPr/>
          <p:nvPr/>
        </p:nvSpPr>
        <p:spPr>
          <a:xfrm>
            <a:off x="548640" y="178308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>
            <a:outerShdw blurRad="304800" dist="76200" dir="5400000" algn="ctr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ec0-bg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ec0-ic" descr="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57" y="2152497"/>
            <a:ext cx="358446" cy="358446"/>
          </a:xfrm>
          <a:prstGeom prst="rect">
            <a:avLst/>
          </a:prstGeom>
        </p:spPr>
      </p:pic>
      <p:sp>
        <p:nvSpPr>
          <p:cNvPr id="11" name="sec0-t"/>
          <p:cNvSpPr txBox="1"/>
          <p:nvPr/>
        </p:nvSpPr>
        <p:spPr>
          <a:xfrm>
            <a:off x="777240" y="274320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F1216"/>
                </a:solidFill>
                <a:latin typeface="Yu Gothic UI"/>
              </a:rPr>
              <a:t>SQLインジェクション不可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168"/>
                </a:solidFill>
                <a:latin typeface="Yu Gothic UI"/>
              </a:rPr>
              <a:t>全クエリをバインド、sqlmapで検証済み</a:t>
            </a:r>
          </a:p>
        </p:txBody>
      </p:sp>
      <p:sp>
        <p:nvSpPr>
          <p:cNvPr id="12" name="sec1"/>
          <p:cNvSpPr/>
          <p:nvPr/>
        </p:nvSpPr>
        <p:spPr>
          <a:xfrm>
            <a:off x="3383280" y="178308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>
            <a:outerShdw blurRad="304800" dist="76200" dir="5400000" algn="ctr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ec1-bg"/>
          <p:cNvSpPr/>
          <p:nvPr/>
        </p:nvSpPr>
        <p:spPr>
          <a:xfrm>
            <a:off x="3611880" y="2011680"/>
            <a:ext cx="640080" cy="640080"/>
          </a:xfrm>
          <a:prstGeom prst="ellipse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sec1-ic" descr="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697" y="2152497"/>
            <a:ext cx="358446" cy="358446"/>
          </a:xfrm>
          <a:prstGeom prst="rect">
            <a:avLst/>
          </a:prstGeom>
        </p:spPr>
      </p:pic>
      <p:sp>
        <p:nvSpPr>
          <p:cNvPr id="15" name="sec1-t"/>
          <p:cNvSpPr txBox="1"/>
          <p:nvPr/>
        </p:nvSpPr>
        <p:spPr>
          <a:xfrm>
            <a:off x="3611880" y="274320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F1216"/>
                </a:solidFill>
                <a:latin typeface="Yu Gothic UI"/>
              </a:rPr>
              <a:t>CSRF・CSP・レート制限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168"/>
                </a:solidFill>
                <a:latin typeface="Yu Gothic UI"/>
              </a:rPr>
              <a:t>スキャナーボットは自動遮断</a:t>
            </a:r>
          </a:p>
        </p:txBody>
      </p:sp>
      <p:sp>
        <p:nvSpPr>
          <p:cNvPr id="16" name="sec2"/>
          <p:cNvSpPr/>
          <p:nvPr/>
        </p:nvSpPr>
        <p:spPr>
          <a:xfrm>
            <a:off x="6217920" y="178308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>
            <a:outerShdw blurRad="304800" dist="76200" dir="5400000" algn="ctr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c2-bg"/>
          <p:cNvSpPr/>
          <p:nvPr/>
        </p:nvSpPr>
        <p:spPr>
          <a:xfrm>
            <a:off x="6446520" y="2011680"/>
            <a:ext cx="640080" cy="64008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sec2-ic" descr="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337" y="2152497"/>
            <a:ext cx="358446" cy="358446"/>
          </a:xfrm>
          <a:prstGeom prst="rect">
            <a:avLst/>
          </a:prstGeom>
        </p:spPr>
      </p:pic>
      <p:sp>
        <p:nvSpPr>
          <p:cNvPr id="19" name="sec2-t"/>
          <p:cNvSpPr txBox="1"/>
          <p:nvPr/>
        </p:nvSpPr>
        <p:spPr>
          <a:xfrm>
            <a:off x="6446520" y="274320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F1216"/>
                </a:solidFill>
                <a:latin typeface="Yu Gothic UI"/>
              </a:rPr>
              <a:t>管理画面は OTP＋顔認証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168"/>
                </a:solidFill>
                <a:latin typeface="Yu Gothic UI"/>
              </a:rPr>
              <a:t>25分無操作で自動ロック</a:t>
            </a:r>
          </a:p>
        </p:txBody>
      </p:sp>
      <p:sp>
        <p:nvSpPr>
          <p:cNvPr id="20" name="sec3"/>
          <p:cNvSpPr/>
          <p:nvPr/>
        </p:nvSpPr>
        <p:spPr>
          <a:xfrm>
            <a:off x="9052560" y="178308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>
            <a:outerShdw blurRad="304800" dist="76200" dir="5400000" algn="ctr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ec3-bg"/>
          <p:cNvSpPr/>
          <p:nvPr/>
        </p:nvSpPr>
        <p:spPr>
          <a:xfrm>
            <a:off x="9281160" y="2011680"/>
            <a:ext cx="640080" cy="64008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sec3-ic" descr="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1977" y="2152497"/>
            <a:ext cx="358446" cy="358446"/>
          </a:xfrm>
          <a:prstGeom prst="rect">
            <a:avLst/>
          </a:prstGeom>
        </p:spPr>
      </p:pic>
      <p:sp>
        <p:nvSpPr>
          <p:cNvPr id="23" name="sec3-t"/>
          <p:cNvSpPr txBox="1"/>
          <p:nvPr/>
        </p:nvSpPr>
        <p:spPr>
          <a:xfrm>
            <a:off x="9281160" y="274320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F1216"/>
                </a:solidFill>
                <a:latin typeface="Yu Gothic UI"/>
              </a:rPr>
              <a:t>決済は必ず再照会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168"/>
                </a:solidFill>
                <a:latin typeface="Yu Gothic UI"/>
              </a:rPr>
              <a:t>二重支払い・過少支払いを排除</a:t>
            </a:r>
          </a:p>
        </p:txBody>
      </p:sp>
      <p:sp>
        <p:nvSpPr>
          <p:cNvPr id="24" name="sec4"/>
          <p:cNvSpPr/>
          <p:nvPr/>
        </p:nvSpPr>
        <p:spPr>
          <a:xfrm>
            <a:off x="548640" y="1225296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>
            <a:outerShdw blurRad="304800" dist="76200" dir="5400000" algn="ctr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ec4-bg"/>
          <p:cNvSpPr/>
          <p:nvPr/>
        </p:nvSpPr>
        <p:spPr>
          <a:xfrm>
            <a:off x="777240" y="1248156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sec4-ic" descr="f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057" y="12622377"/>
            <a:ext cx="358446" cy="358446"/>
          </a:xfrm>
          <a:prstGeom prst="rect">
            <a:avLst/>
          </a:prstGeom>
        </p:spPr>
      </p:pic>
      <p:sp>
        <p:nvSpPr>
          <p:cNvPr id="27" name="sec4-t"/>
          <p:cNvSpPr txBox="1"/>
          <p:nvPr/>
        </p:nvSpPr>
        <p:spPr>
          <a:xfrm>
            <a:off x="777240" y="1321308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F1216"/>
                </a:solidFill>
                <a:latin typeface="Yu Gothic UI"/>
              </a:rPr>
              <a:t>個人情報保護法に準拠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168"/>
                </a:solidFill>
                <a:latin typeface="Yu Gothic UI"/>
              </a:rPr>
              <a:t>退会・データ削除・Cookie同意</a:t>
            </a:r>
          </a:p>
        </p:txBody>
      </p:sp>
      <p:sp>
        <p:nvSpPr>
          <p:cNvPr id="28" name="sec5"/>
          <p:cNvSpPr/>
          <p:nvPr/>
        </p:nvSpPr>
        <p:spPr>
          <a:xfrm>
            <a:off x="3383280" y="1225296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>
            <a:outerShdw blurRad="304800" dist="76200" dir="5400000" algn="ctr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ec5-bg"/>
          <p:cNvSpPr/>
          <p:nvPr/>
        </p:nvSpPr>
        <p:spPr>
          <a:xfrm>
            <a:off x="3611880" y="12481560"/>
            <a:ext cx="640080" cy="640080"/>
          </a:xfrm>
          <a:prstGeom prst="ellipse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sec5-ic" descr="us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2697" y="12622377"/>
            <a:ext cx="358446" cy="358446"/>
          </a:xfrm>
          <a:prstGeom prst="rect">
            <a:avLst/>
          </a:prstGeom>
        </p:spPr>
      </p:pic>
      <p:sp>
        <p:nvSpPr>
          <p:cNvPr id="31" name="sec5-t"/>
          <p:cNvSpPr txBox="1"/>
          <p:nvPr/>
        </p:nvSpPr>
        <p:spPr>
          <a:xfrm>
            <a:off x="3611880" y="1321308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F1216"/>
                </a:solidFill>
                <a:latin typeface="Yu Gothic UI"/>
              </a:rPr>
              <a:t>不適切コメントを自動排除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168"/>
                </a:solidFill>
                <a:latin typeface="Yu Gothic UI"/>
              </a:rPr>
              <a:t>多言語フィルター＋画像チェック</a:t>
            </a:r>
          </a:p>
        </p:txBody>
      </p:sp>
      <p:sp>
        <p:nvSpPr>
          <p:cNvPr id="32" name="sec6"/>
          <p:cNvSpPr/>
          <p:nvPr/>
        </p:nvSpPr>
        <p:spPr>
          <a:xfrm>
            <a:off x="6217920" y="1225296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>
            <a:outerShdw blurRad="304800" dist="76200" dir="5400000" algn="ctr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ec6-bg"/>
          <p:cNvSpPr/>
          <p:nvPr/>
        </p:nvSpPr>
        <p:spPr>
          <a:xfrm>
            <a:off x="6446520" y="12481560"/>
            <a:ext cx="640080" cy="64008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sec6-ic" descr="lay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7337" y="12622377"/>
            <a:ext cx="358446" cy="358446"/>
          </a:xfrm>
          <a:prstGeom prst="rect">
            <a:avLst/>
          </a:prstGeom>
        </p:spPr>
      </p:pic>
      <p:sp>
        <p:nvSpPr>
          <p:cNvPr id="35" name="sec6-t"/>
          <p:cNvSpPr txBox="1"/>
          <p:nvPr/>
        </p:nvSpPr>
        <p:spPr>
          <a:xfrm>
            <a:off x="6446520" y="1321308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F1216"/>
                </a:solidFill>
                <a:latin typeface="Yu Gothic UI"/>
              </a:rPr>
              <a:t>注文・在庫・クレジットは原子的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168"/>
                </a:solidFill>
                <a:latin typeface="Yu Gothic UI"/>
              </a:rPr>
              <a:t>二重注文・在庫ズレなし</a:t>
            </a:r>
          </a:p>
        </p:txBody>
      </p:sp>
      <p:sp>
        <p:nvSpPr>
          <p:cNvPr id="36" name="sec7"/>
          <p:cNvSpPr/>
          <p:nvPr/>
        </p:nvSpPr>
        <p:spPr>
          <a:xfrm>
            <a:off x="9052560" y="1225296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>
            <a:outerShdw blurRad="304800" dist="76200" dir="5400000" algn="ctr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ec7-bg"/>
          <p:cNvSpPr/>
          <p:nvPr/>
        </p:nvSpPr>
        <p:spPr>
          <a:xfrm>
            <a:off x="9281160" y="12481560"/>
            <a:ext cx="640080" cy="64008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sec7-ic" descr="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21977" y="12622377"/>
            <a:ext cx="358446" cy="358446"/>
          </a:xfrm>
          <a:prstGeom prst="rect">
            <a:avLst/>
          </a:prstGeom>
        </p:spPr>
      </p:pic>
      <p:sp>
        <p:nvSpPr>
          <p:cNvPr id="39" name="sec7-t"/>
          <p:cNvSpPr txBox="1"/>
          <p:nvPr/>
        </p:nvSpPr>
        <p:spPr>
          <a:xfrm>
            <a:off x="9281160" y="1321308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F1216"/>
                </a:solidFill>
                <a:latin typeface="Yu Gothic UI"/>
              </a:rPr>
              <a:t>在庫台帳と自動検知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168"/>
                </a:solidFill>
                <a:latin typeface="Yu Gothic UI"/>
              </a:rPr>
              <a:t>すべての変動を記録、ズレを警告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AF7"/>
              </a:gs>
              <a:gs pos="100000">
                <a:srgbClr val="ECEEE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96926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216"/>
                </a:solidFill>
                <a:latin typeface="Yu Gothic UI"/>
              </a:rPr>
              <a:t>セキュリティと法令対応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168"/>
                </a:solidFill>
                <a:latin typeface="Segoe UI"/>
              </a:rPr>
              <a:t>Аюулгүй байдал, хуулийн нийцэл</a:t>
            </a:r>
          </a:p>
        </p:txBody>
      </p:sp>
      <p:sp>
        <p:nvSpPr>
          <p:cNvPr id="6" name="hdr-n"/>
          <p:cNvSpPr txBox="1"/>
          <p:nvPr/>
        </p:nvSpPr>
        <p:spPr>
          <a:xfrm>
            <a:off x="10424160" y="502920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08</a:t>
            </a:r>
          </a:p>
        </p:txBody>
      </p:sp>
      <p:sp>
        <p:nvSpPr>
          <p:cNvPr id="7" name="hdr-foot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B6168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8" name="sec0"/>
          <p:cNvSpPr/>
          <p:nvPr/>
        </p:nvSpPr>
        <p:spPr>
          <a:xfrm>
            <a:off x="548640" y="178308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>
            <a:outerShdw blurRad="304800" dist="76200" dir="5400000" algn="ctr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ec0-bg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ec0-ic" descr="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57" y="2152497"/>
            <a:ext cx="358446" cy="358446"/>
          </a:xfrm>
          <a:prstGeom prst="rect">
            <a:avLst/>
          </a:prstGeom>
        </p:spPr>
      </p:pic>
      <p:sp>
        <p:nvSpPr>
          <p:cNvPr id="11" name="sec0-t"/>
          <p:cNvSpPr txBox="1"/>
          <p:nvPr/>
        </p:nvSpPr>
        <p:spPr>
          <a:xfrm>
            <a:off x="777240" y="274320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F1216"/>
                </a:solidFill>
                <a:latin typeface="Yu Gothic UI"/>
              </a:rPr>
              <a:t>SQLインジェクション不可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168"/>
                </a:solidFill>
                <a:latin typeface="Yu Gothic UI"/>
              </a:rPr>
              <a:t>全クエリをバインド、sqlmapで検証済み</a:t>
            </a:r>
          </a:p>
        </p:txBody>
      </p:sp>
      <p:sp>
        <p:nvSpPr>
          <p:cNvPr id="12" name="sec1"/>
          <p:cNvSpPr/>
          <p:nvPr/>
        </p:nvSpPr>
        <p:spPr>
          <a:xfrm>
            <a:off x="3383280" y="178308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>
            <a:outerShdw blurRad="304800" dist="76200" dir="5400000" algn="ctr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ec1-bg"/>
          <p:cNvSpPr/>
          <p:nvPr/>
        </p:nvSpPr>
        <p:spPr>
          <a:xfrm>
            <a:off x="3611880" y="2011680"/>
            <a:ext cx="640080" cy="640080"/>
          </a:xfrm>
          <a:prstGeom prst="ellipse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sec1-ic" descr="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697" y="2152497"/>
            <a:ext cx="358446" cy="358446"/>
          </a:xfrm>
          <a:prstGeom prst="rect">
            <a:avLst/>
          </a:prstGeom>
        </p:spPr>
      </p:pic>
      <p:sp>
        <p:nvSpPr>
          <p:cNvPr id="15" name="sec1-t"/>
          <p:cNvSpPr txBox="1"/>
          <p:nvPr/>
        </p:nvSpPr>
        <p:spPr>
          <a:xfrm>
            <a:off x="3611880" y="274320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F1216"/>
                </a:solidFill>
                <a:latin typeface="Yu Gothic UI"/>
              </a:rPr>
              <a:t>CSRF・CSP・レート制限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168"/>
                </a:solidFill>
                <a:latin typeface="Yu Gothic UI"/>
              </a:rPr>
              <a:t>スキャナーボットは自動遮断</a:t>
            </a:r>
          </a:p>
        </p:txBody>
      </p:sp>
      <p:sp>
        <p:nvSpPr>
          <p:cNvPr id="16" name="sec2"/>
          <p:cNvSpPr/>
          <p:nvPr/>
        </p:nvSpPr>
        <p:spPr>
          <a:xfrm>
            <a:off x="6217920" y="178308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>
            <a:outerShdw blurRad="304800" dist="76200" dir="5400000" algn="ctr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c2-bg"/>
          <p:cNvSpPr/>
          <p:nvPr/>
        </p:nvSpPr>
        <p:spPr>
          <a:xfrm>
            <a:off x="6446520" y="2011680"/>
            <a:ext cx="640080" cy="64008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sec2-ic" descr="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337" y="2152497"/>
            <a:ext cx="358446" cy="358446"/>
          </a:xfrm>
          <a:prstGeom prst="rect">
            <a:avLst/>
          </a:prstGeom>
        </p:spPr>
      </p:pic>
      <p:sp>
        <p:nvSpPr>
          <p:cNvPr id="19" name="sec2-t"/>
          <p:cNvSpPr txBox="1"/>
          <p:nvPr/>
        </p:nvSpPr>
        <p:spPr>
          <a:xfrm>
            <a:off x="6446520" y="274320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F1216"/>
                </a:solidFill>
                <a:latin typeface="Yu Gothic UI"/>
              </a:rPr>
              <a:t>管理画面は OTP＋顔認証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168"/>
                </a:solidFill>
                <a:latin typeface="Yu Gothic UI"/>
              </a:rPr>
              <a:t>25分無操作で自動ロック</a:t>
            </a:r>
          </a:p>
        </p:txBody>
      </p:sp>
      <p:sp>
        <p:nvSpPr>
          <p:cNvPr id="20" name="sec3"/>
          <p:cNvSpPr/>
          <p:nvPr/>
        </p:nvSpPr>
        <p:spPr>
          <a:xfrm>
            <a:off x="9052560" y="178308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>
            <a:outerShdw blurRad="304800" dist="76200" dir="5400000" algn="ctr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ec3-bg"/>
          <p:cNvSpPr/>
          <p:nvPr/>
        </p:nvSpPr>
        <p:spPr>
          <a:xfrm>
            <a:off x="9281160" y="2011680"/>
            <a:ext cx="640080" cy="64008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sec3-ic" descr="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1977" y="2152497"/>
            <a:ext cx="358446" cy="358446"/>
          </a:xfrm>
          <a:prstGeom prst="rect">
            <a:avLst/>
          </a:prstGeom>
        </p:spPr>
      </p:pic>
      <p:sp>
        <p:nvSpPr>
          <p:cNvPr id="23" name="sec3-t"/>
          <p:cNvSpPr txBox="1"/>
          <p:nvPr/>
        </p:nvSpPr>
        <p:spPr>
          <a:xfrm>
            <a:off x="9281160" y="274320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F1216"/>
                </a:solidFill>
                <a:latin typeface="Yu Gothic UI"/>
              </a:rPr>
              <a:t>決済は必ず再照会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168"/>
                </a:solidFill>
                <a:latin typeface="Yu Gothic UI"/>
              </a:rPr>
              <a:t>二重支払い・過少支払いを排除</a:t>
            </a:r>
          </a:p>
        </p:txBody>
      </p:sp>
      <p:sp>
        <p:nvSpPr>
          <p:cNvPr id="24" name="sec4"/>
          <p:cNvSpPr/>
          <p:nvPr/>
        </p:nvSpPr>
        <p:spPr>
          <a:xfrm>
            <a:off x="548640" y="402336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>
            <a:outerShdw blurRad="304800" dist="76200" dir="5400000" algn="ctr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ec4-bg"/>
          <p:cNvSpPr/>
          <p:nvPr/>
        </p:nvSpPr>
        <p:spPr>
          <a:xfrm>
            <a:off x="777240" y="425196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sec4-ic" descr="f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057" y="4392777"/>
            <a:ext cx="358446" cy="358446"/>
          </a:xfrm>
          <a:prstGeom prst="rect">
            <a:avLst/>
          </a:prstGeom>
        </p:spPr>
      </p:pic>
      <p:sp>
        <p:nvSpPr>
          <p:cNvPr id="27" name="sec4-t"/>
          <p:cNvSpPr txBox="1"/>
          <p:nvPr/>
        </p:nvSpPr>
        <p:spPr>
          <a:xfrm>
            <a:off x="777240" y="498348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F1216"/>
                </a:solidFill>
                <a:latin typeface="Yu Gothic UI"/>
              </a:rPr>
              <a:t>個人情報保護法に準拠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168"/>
                </a:solidFill>
                <a:latin typeface="Yu Gothic UI"/>
              </a:rPr>
              <a:t>退会・データ削除・Cookie同意</a:t>
            </a:r>
          </a:p>
        </p:txBody>
      </p:sp>
      <p:sp>
        <p:nvSpPr>
          <p:cNvPr id="28" name="sec5"/>
          <p:cNvSpPr/>
          <p:nvPr/>
        </p:nvSpPr>
        <p:spPr>
          <a:xfrm>
            <a:off x="3383280" y="402336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>
            <a:outerShdw blurRad="304800" dist="76200" dir="5400000" algn="ctr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ec5-bg"/>
          <p:cNvSpPr/>
          <p:nvPr/>
        </p:nvSpPr>
        <p:spPr>
          <a:xfrm>
            <a:off x="3611880" y="4251960"/>
            <a:ext cx="640080" cy="640080"/>
          </a:xfrm>
          <a:prstGeom prst="ellipse">
            <a:avLst/>
          </a:prstGeom>
          <a:solidFill>
            <a:srgbClr val="D9A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sec5-ic" descr="us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2697" y="4392777"/>
            <a:ext cx="358446" cy="358446"/>
          </a:xfrm>
          <a:prstGeom prst="rect">
            <a:avLst/>
          </a:prstGeom>
        </p:spPr>
      </p:pic>
      <p:sp>
        <p:nvSpPr>
          <p:cNvPr id="31" name="sec5-t"/>
          <p:cNvSpPr txBox="1"/>
          <p:nvPr/>
        </p:nvSpPr>
        <p:spPr>
          <a:xfrm>
            <a:off x="3611880" y="498348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F1216"/>
                </a:solidFill>
                <a:latin typeface="Yu Gothic UI"/>
              </a:rPr>
              <a:t>不適切コメントを自動排除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168"/>
                </a:solidFill>
                <a:latin typeface="Yu Gothic UI"/>
              </a:rPr>
              <a:t>多言語フィルター＋画像チェック</a:t>
            </a:r>
          </a:p>
        </p:txBody>
      </p:sp>
      <p:sp>
        <p:nvSpPr>
          <p:cNvPr id="32" name="sec6"/>
          <p:cNvSpPr/>
          <p:nvPr/>
        </p:nvSpPr>
        <p:spPr>
          <a:xfrm>
            <a:off x="6217920" y="402336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>
            <a:outerShdw blurRad="304800" dist="76200" dir="5400000" algn="ctr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ec6-bg"/>
          <p:cNvSpPr/>
          <p:nvPr/>
        </p:nvSpPr>
        <p:spPr>
          <a:xfrm>
            <a:off x="6446520" y="4251960"/>
            <a:ext cx="640080" cy="64008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sec6-ic" descr="lay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7337" y="4392777"/>
            <a:ext cx="358446" cy="358446"/>
          </a:xfrm>
          <a:prstGeom prst="rect">
            <a:avLst/>
          </a:prstGeom>
        </p:spPr>
      </p:pic>
      <p:sp>
        <p:nvSpPr>
          <p:cNvPr id="35" name="sec6-t"/>
          <p:cNvSpPr txBox="1"/>
          <p:nvPr/>
        </p:nvSpPr>
        <p:spPr>
          <a:xfrm>
            <a:off x="6446520" y="498348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F1216"/>
                </a:solidFill>
                <a:latin typeface="Yu Gothic UI"/>
              </a:rPr>
              <a:t>注文・在庫・クレジットは原子的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168"/>
                </a:solidFill>
                <a:latin typeface="Yu Gothic UI"/>
              </a:rPr>
              <a:t>二重注文・在庫ズレなし</a:t>
            </a:r>
          </a:p>
        </p:txBody>
      </p:sp>
      <p:sp>
        <p:nvSpPr>
          <p:cNvPr id="36" name="sec7"/>
          <p:cNvSpPr/>
          <p:nvPr/>
        </p:nvSpPr>
        <p:spPr>
          <a:xfrm>
            <a:off x="9052560" y="402336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6E2"/>
            </a:solidFill>
          </a:ln>
          <a:effectLst>
            <a:outerShdw blurRad="304800" dist="76200" dir="5400000" algn="ctr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ec7-bg"/>
          <p:cNvSpPr/>
          <p:nvPr/>
        </p:nvSpPr>
        <p:spPr>
          <a:xfrm>
            <a:off x="9281160" y="4251960"/>
            <a:ext cx="640080" cy="64008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sec7-ic" descr="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21977" y="4392777"/>
            <a:ext cx="358446" cy="358446"/>
          </a:xfrm>
          <a:prstGeom prst="rect">
            <a:avLst/>
          </a:prstGeom>
        </p:spPr>
      </p:pic>
      <p:sp>
        <p:nvSpPr>
          <p:cNvPr id="39" name="sec7-t"/>
          <p:cNvSpPr txBox="1"/>
          <p:nvPr/>
        </p:nvSpPr>
        <p:spPr>
          <a:xfrm>
            <a:off x="9281160" y="498348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F1216"/>
                </a:solidFill>
                <a:latin typeface="Yu Gothic UI"/>
              </a:rPr>
              <a:t>在庫台帳と自動検知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168"/>
                </a:solidFill>
                <a:latin typeface="Yu Gothic UI"/>
              </a:rPr>
              <a:t>すべての変動を記録、ズレを警告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216"/>
              </a:gs>
              <a:gs pos="100000">
                <a:srgbClr val="1B202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96926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Yu Gothic UI"/>
              </a:rPr>
              <a:t>現状の数字（2026年9月14日、本番システム計測）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AD"/>
                </a:solidFill>
                <a:latin typeface="Segoe UI"/>
              </a:rPr>
              <a:t>Одоогийн тоо баримт</a:t>
            </a:r>
          </a:p>
        </p:txBody>
      </p:sp>
      <p:sp>
        <p:nvSpPr>
          <p:cNvPr id="6" name="hdr-n"/>
          <p:cNvSpPr txBox="1"/>
          <p:nvPr/>
        </p:nvSpPr>
        <p:spPr>
          <a:xfrm>
            <a:off x="10424160" y="502920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09</a:t>
            </a:r>
          </a:p>
        </p:txBody>
      </p:sp>
      <p:sp>
        <p:nvSpPr>
          <p:cNvPr id="7" name="hdr-foot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3AD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8" name="stat0"/>
          <p:cNvSpPr/>
          <p:nvPr/>
        </p:nvSpPr>
        <p:spPr>
          <a:xfrm>
            <a:off x="1577340" y="2651760"/>
            <a:ext cx="548640" cy="365760"/>
          </a:xfrm>
          <a:prstGeom prst="roundRect">
            <a:avLst>
              <a:gd name="adj" fmla="val 8000"/>
            </a:avLst>
          </a:prstGeom>
          <a:solidFill>
            <a:srgbClr val="1B2027"/>
          </a:solidFill>
          <a:ln w="9525">
            <a:solidFill>
              <a:srgbClr val="2E3640"/>
            </a:solidFill>
          </a:ln>
          <a:effectLst>
            <a:outerShdw blurRad="381000" dist="1016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1"/>
          <p:cNvSpPr/>
          <p:nvPr/>
        </p:nvSpPr>
        <p:spPr>
          <a:xfrm>
            <a:off x="4411980" y="2651760"/>
            <a:ext cx="548640" cy="365760"/>
          </a:xfrm>
          <a:prstGeom prst="roundRect">
            <a:avLst>
              <a:gd name="adj" fmla="val 8000"/>
            </a:avLst>
          </a:prstGeom>
          <a:solidFill>
            <a:srgbClr val="1B2027"/>
          </a:solidFill>
          <a:ln w="9525">
            <a:solidFill>
              <a:srgbClr val="2E3640"/>
            </a:solidFill>
          </a:ln>
          <a:effectLst>
            <a:outerShdw blurRad="381000" dist="1016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2"/>
          <p:cNvSpPr/>
          <p:nvPr/>
        </p:nvSpPr>
        <p:spPr>
          <a:xfrm>
            <a:off x="7246620" y="2651760"/>
            <a:ext cx="548640" cy="365760"/>
          </a:xfrm>
          <a:prstGeom prst="roundRect">
            <a:avLst>
              <a:gd name="adj" fmla="val 8000"/>
            </a:avLst>
          </a:prstGeom>
          <a:solidFill>
            <a:srgbClr val="1B2027"/>
          </a:solidFill>
          <a:ln w="9525">
            <a:solidFill>
              <a:srgbClr val="2E3640"/>
            </a:solidFill>
          </a:ln>
          <a:effectLst>
            <a:outerShdw blurRad="381000" dist="1016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3"/>
          <p:cNvSpPr/>
          <p:nvPr/>
        </p:nvSpPr>
        <p:spPr>
          <a:xfrm>
            <a:off x="10081260" y="2651760"/>
            <a:ext cx="548640" cy="365760"/>
          </a:xfrm>
          <a:prstGeom prst="roundRect">
            <a:avLst>
              <a:gd name="adj" fmla="val 8000"/>
            </a:avLst>
          </a:prstGeom>
          <a:solidFill>
            <a:srgbClr val="1B2027"/>
          </a:solidFill>
          <a:ln w="9525">
            <a:solidFill>
              <a:srgbClr val="2E3640"/>
            </a:solidFill>
          </a:ln>
          <a:effectLst>
            <a:outerShdw blurRad="381000" dist="1016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4"/>
          <p:cNvSpPr/>
          <p:nvPr/>
        </p:nvSpPr>
        <p:spPr>
          <a:xfrm>
            <a:off x="1577340" y="4846320"/>
            <a:ext cx="548640" cy="365760"/>
          </a:xfrm>
          <a:prstGeom prst="roundRect">
            <a:avLst>
              <a:gd name="adj" fmla="val 8000"/>
            </a:avLst>
          </a:prstGeom>
          <a:solidFill>
            <a:srgbClr val="1B2027"/>
          </a:solidFill>
          <a:ln w="9525">
            <a:solidFill>
              <a:srgbClr val="2E3640"/>
            </a:solidFill>
          </a:ln>
          <a:effectLst>
            <a:outerShdw blurRad="381000" dist="1016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5"/>
          <p:cNvSpPr/>
          <p:nvPr/>
        </p:nvSpPr>
        <p:spPr>
          <a:xfrm>
            <a:off x="4411980" y="4846320"/>
            <a:ext cx="548640" cy="365760"/>
          </a:xfrm>
          <a:prstGeom prst="roundRect">
            <a:avLst>
              <a:gd name="adj" fmla="val 8000"/>
            </a:avLst>
          </a:prstGeom>
          <a:solidFill>
            <a:srgbClr val="1B2027"/>
          </a:solidFill>
          <a:ln w="9525">
            <a:solidFill>
              <a:srgbClr val="2E3640"/>
            </a:solidFill>
          </a:ln>
          <a:effectLst>
            <a:outerShdw blurRad="381000" dist="1016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6"/>
          <p:cNvSpPr/>
          <p:nvPr/>
        </p:nvSpPr>
        <p:spPr>
          <a:xfrm>
            <a:off x="7246620" y="4846320"/>
            <a:ext cx="548640" cy="365760"/>
          </a:xfrm>
          <a:prstGeom prst="roundRect">
            <a:avLst>
              <a:gd name="adj" fmla="val 8000"/>
            </a:avLst>
          </a:prstGeom>
          <a:solidFill>
            <a:srgbClr val="1B2027"/>
          </a:solidFill>
          <a:ln w="9525">
            <a:solidFill>
              <a:srgbClr val="2E3640"/>
            </a:solidFill>
          </a:ln>
          <a:effectLst>
            <a:outerShdw blurRad="381000" dist="1016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7"/>
          <p:cNvSpPr/>
          <p:nvPr/>
        </p:nvSpPr>
        <p:spPr>
          <a:xfrm>
            <a:off x="10081260" y="4846320"/>
            <a:ext cx="548640" cy="365760"/>
          </a:xfrm>
          <a:prstGeom prst="roundRect">
            <a:avLst>
              <a:gd name="adj" fmla="val 8000"/>
            </a:avLst>
          </a:prstGeom>
          <a:solidFill>
            <a:srgbClr val="1B2027"/>
          </a:solidFill>
          <a:ln w="9525">
            <a:solidFill>
              <a:srgbClr val="2E3640"/>
            </a:solidFill>
          </a:ln>
          <a:effectLst>
            <a:outerShdw blurRad="381000" dist="1016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216"/>
              </a:gs>
              <a:gs pos="100000">
                <a:srgbClr val="1B2027"/>
              </a:gs>
            </a:gsLst>
            <a:lin scaled="0" ang="18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96926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Yu Gothic UI"/>
              </a:rPr>
              <a:t>現状の数字（2026年9月14日、本番システム計測）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3AD"/>
                </a:solidFill>
                <a:latin typeface="Segoe UI"/>
              </a:rPr>
              <a:t>Одоогийн тоо баримт</a:t>
            </a:r>
          </a:p>
        </p:txBody>
      </p:sp>
      <p:sp>
        <p:nvSpPr>
          <p:cNvPr id="6" name="hdr-n"/>
          <p:cNvSpPr txBox="1"/>
          <p:nvPr/>
        </p:nvSpPr>
        <p:spPr>
          <a:xfrm>
            <a:off x="10424160" y="502920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09</a:t>
            </a:r>
          </a:p>
        </p:txBody>
      </p:sp>
      <p:sp>
        <p:nvSpPr>
          <p:cNvPr id="7" name="hdr-foot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3AD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8" name="stat0"/>
          <p:cNvSpPr/>
          <p:nvPr/>
        </p:nvSpPr>
        <p:spPr>
          <a:xfrm>
            <a:off x="548640" y="192024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1B2027"/>
          </a:solidFill>
          <a:ln w="9525">
            <a:solidFill>
              <a:srgbClr val="2E3640"/>
            </a:solidFill>
          </a:ln>
          <a:effectLst>
            <a:outerShdw blurRad="381000" dist="1016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0-v"/>
          <p:cNvSpPr txBox="1"/>
          <p:nvPr/>
        </p:nvSpPr>
        <p:spPr>
          <a:xfrm>
            <a:off x="548640" y="201168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E83A55"/>
                </a:solidFill>
                <a:latin typeface="Segoe UI"/>
              </a:rPr>
              <a:t>980</a:t>
            </a:r>
          </a:p>
        </p:txBody>
      </p:sp>
      <p:sp>
        <p:nvSpPr>
          <p:cNvPr id="10" name="stat0-t"/>
          <p:cNvSpPr txBox="1"/>
          <p:nvPr/>
        </p:nvSpPr>
        <p:spPr>
          <a:xfrm>
            <a:off x="548640" y="288036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Yu Gothic UI"/>
              </a:rPr>
              <a:t>掲載商品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9AA3AD"/>
                </a:solidFill>
                <a:latin typeface="Segoe UI"/>
              </a:rPr>
              <a:t>Нийтлэгдсэн бараа</a:t>
            </a:r>
          </a:p>
        </p:txBody>
      </p:sp>
      <p:sp>
        <p:nvSpPr>
          <p:cNvPr id="11" name="stat1"/>
          <p:cNvSpPr/>
          <p:nvPr/>
        </p:nvSpPr>
        <p:spPr>
          <a:xfrm>
            <a:off x="3383280" y="192024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1B2027"/>
          </a:solidFill>
          <a:ln w="9525">
            <a:solidFill>
              <a:srgbClr val="2E3640"/>
            </a:solidFill>
          </a:ln>
          <a:effectLst>
            <a:outerShdw blurRad="381000" dist="1016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1-v"/>
          <p:cNvSpPr txBox="1"/>
          <p:nvPr/>
        </p:nvSpPr>
        <p:spPr>
          <a:xfrm>
            <a:off x="3383280" y="201168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D9A41E"/>
                </a:solidFill>
                <a:latin typeface="Segoe UI"/>
              </a:rPr>
              <a:t>4+1</a:t>
            </a:r>
          </a:p>
        </p:txBody>
      </p:sp>
      <p:sp>
        <p:nvSpPr>
          <p:cNvPr id="13" name="stat1-t"/>
          <p:cNvSpPr txBox="1"/>
          <p:nvPr/>
        </p:nvSpPr>
        <p:spPr>
          <a:xfrm>
            <a:off x="3383280" y="288036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Yu Gothic UI"/>
              </a:rPr>
              <a:t>店舗＋倉庫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9AA3AD"/>
                </a:solidFill>
                <a:latin typeface="Segoe UI"/>
              </a:rPr>
              <a:t>Салбар + агуулах</a:t>
            </a:r>
          </a:p>
        </p:txBody>
      </p:sp>
      <p:sp>
        <p:nvSpPr>
          <p:cNvPr id="14" name="stat2"/>
          <p:cNvSpPr/>
          <p:nvPr/>
        </p:nvSpPr>
        <p:spPr>
          <a:xfrm>
            <a:off x="6217920" y="192024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1B2027"/>
          </a:solidFill>
          <a:ln w="9525">
            <a:solidFill>
              <a:srgbClr val="2E3640"/>
            </a:solidFill>
          </a:ln>
          <a:effectLst>
            <a:outerShdw blurRad="381000" dist="1016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2-v"/>
          <p:cNvSpPr txBox="1"/>
          <p:nvPr/>
        </p:nvSpPr>
        <p:spPr>
          <a:xfrm>
            <a:off x="6217920" y="201168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E83A55"/>
                </a:solidFill>
                <a:latin typeface="Segoe UI"/>
              </a:rPr>
              <a:t>3</a:t>
            </a:r>
          </a:p>
        </p:txBody>
      </p:sp>
      <p:sp>
        <p:nvSpPr>
          <p:cNvPr id="16" name="stat2-t"/>
          <p:cNvSpPr txBox="1"/>
          <p:nvPr/>
        </p:nvSpPr>
        <p:spPr>
          <a:xfrm>
            <a:off x="6217920" y="288036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Yu Gothic UI"/>
              </a:rPr>
              <a:t>対応言語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9AA3AD"/>
                </a:solidFill>
                <a:latin typeface="Segoe UI"/>
              </a:rPr>
              <a:t>Хэл</a:t>
            </a:r>
          </a:p>
        </p:txBody>
      </p:sp>
      <p:sp>
        <p:nvSpPr>
          <p:cNvPr id="17" name="stat3"/>
          <p:cNvSpPr/>
          <p:nvPr/>
        </p:nvSpPr>
        <p:spPr>
          <a:xfrm>
            <a:off x="9052560" y="192024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1B2027"/>
          </a:solidFill>
          <a:ln w="9525">
            <a:solidFill>
              <a:srgbClr val="2E3640"/>
            </a:solidFill>
          </a:ln>
          <a:effectLst>
            <a:outerShdw blurRad="381000" dist="1016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3-v"/>
          <p:cNvSpPr txBox="1"/>
          <p:nvPr/>
        </p:nvSpPr>
        <p:spPr>
          <a:xfrm>
            <a:off x="9052560" y="201168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D9A41E"/>
                </a:solidFill>
                <a:latin typeface="Segoe UI"/>
              </a:rPr>
              <a:t>935</a:t>
            </a:r>
          </a:p>
        </p:txBody>
      </p:sp>
      <p:sp>
        <p:nvSpPr>
          <p:cNvPr id="19" name="stat3-t"/>
          <p:cNvSpPr txBox="1"/>
          <p:nvPr/>
        </p:nvSpPr>
        <p:spPr>
          <a:xfrm>
            <a:off x="9052560" y="288036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Yu Gothic UI"/>
              </a:rPr>
              <a:t>自動テスト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9AA3AD"/>
                </a:solidFill>
                <a:latin typeface="Segoe UI"/>
              </a:rPr>
              <a:t>Автомат тест</a:t>
            </a:r>
          </a:p>
        </p:txBody>
      </p:sp>
      <p:sp>
        <p:nvSpPr>
          <p:cNvPr id="20" name="stat4"/>
          <p:cNvSpPr/>
          <p:nvPr/>
        </p:nvSpPr>
        <p:spPr>
          <a:xfrm>
            <a:off x="548640" y="411480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1B2027"/>
          </a:solidFill>
          <a:ln w="9525">
            <a:solidFill>
              <a:srgbClr val="2E3640"/>
            </a:solidFill>
          </a:ln>
          <a:effectLst>
            <a:outerShdw blurRad="381000" dist="1016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t4-v"/>
          <p:cNvSpPr txBox="1"/>
          <p:nvPr/>
        </p:nvSpPr>
        <p:spPr>
          <a:xfrm>
            <a:off x="548640" y="420624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E83A55"/>
                </a:solidFill>
                <a:latin typeface="Segoe UI"/>
              </a:rPr>
              <a:t>61</a:t>
            </a:r>
          </a:p>
        </p:txBody>
      </p:sp>
      <p:sp>
        <p:nvSpPr>
          <p:cNvPr id="22" name="stat4-t"/>
          <p:cNvSpPr txBox="1"/>
          <p:nvPr/>
        </p:nvSpPr>
        <p:spPr>
          <a:xfrm>
            <a:off x="548640" y="507492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Yu Gothic UI"/>
              </a:rPr>
              <a:t>DBテーブル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9AA3AD"/>
                </a:solidFill>
                <a:latin typeface="Segoe UI"/>
              </a:rPr>
              <a:t>Хүснэгт</a:t>
            </a:r>
          </a:p>
        </p:txBody>
      </p:sp>
      <p:sp>
        <p:nvSpPr>
          <p:cNvPr id="23" name="stat5"/>
          <p:cNvSpPr/>
          <p:nvPr/>
        </p:nvSpPr>
        <p:spPr>
          <a:xfrm>
            <a:off x="3383280" y="411480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1B2027"/>
          </a:solidFill>
          <a:ln w="9525">
            <a:solidFill>
              <a:srgbClr val="2E3640"/>
            </a:solidFill>
          </a:ln>
          <a:effectLst>
            <a:outerShdw blurRad="381000" dist="1016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tat5-v"/>
          <p:cNvSpPr txBox="1"/>
          <p:nvPr/>
        </p:nvSpPr>
        <p:spPr>
          <a:xfrm>
            <a:off x="3383280" y="420624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D9A41E"/>
                </a:solidFill>
                <a:latin typeface="Segoe UI"/>
              </a:rPr>
              <a:t>&lt;0.2s</a:t>
            </a:r>
          </a:p>
        </p:txBody>
      </p:sp>
      <p:sp>
        <p:nvSpPr>
          <p:cNvPr id="25" name="stat5-t"/>
          <p:cNvSpPr txBox="1"/>
          <p:nvPr/>
        </p:nvSpPr>
        <p:spPr>
          <a:xfrm>
            <a:off x="3383280" y="507492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Yu Gothic UI"/>
              </a:rPr>
              <a:t>ページ応答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9AA3AD"/>
                </a:solidFill>
                <a:latin typeface="Segoe UI"/>
              </a:rPr>
              <a:t>Хуудасны хариу</a:t>
            </a:r>
          </a:p>
        </p:txBody>
      </p:sp>
      <p:sp>
        <p:nvSpPr>
          <p:cNvPr id="26" name="stat6"/>
          <p:cNvSpPr/>
          <p:nvPr/>
        </p:nvSpPr>
        <p:spPr>
          <a:xfrm>
            <a:off x="6217920" y="411480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1B2027"/>
          </a:solidFill>
          <a:ln w="9525">
            <a:solidFill>
              <a:srgbClr val="2E3640"/>
            </a:solidFill>
          </a:ln>
          <a:effectLst>
            <a:outerShdw blurRad="381000" dist="1016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t6-v"/>
          <p:cNvSpPr txBox="1"/>
          <p:nvPr/>
        </p:nvSpPr>
        <p:spPr>
          <a:xfrm>
            <a:off x="6217920" y="420624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E83A55"/>
                </a:solidFill>
                <a:latin typeface="Segoe UI"/>
              </a:rPr>
              <a:t>30日</a:t>
            </a:r>
          </a:p>
        </p:txBody>
      </p:sp>
      <p:sp>
        <p:nvSpPr>
          <p:cNvPr id="28" name="stat6-t"/>
          <p:cNvSpPr txBox="1"/>
          <p:nvPr/>
        </p:nvSpPr>
        <p:spPr>
          <a:xfrm>
            <a:off x="6217920" y="507492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Yu Gothic UI"/>
              </a:rPr>
              <a:t>バックアップ保持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9AA3AD"/>
                </a:solidFill>
                <a:latin typeface="Segoe UI"/>
              </a:rPr>
              <a:t>Backup</a:t>
            </a:r>
          </a:p>
        </p:txBody>
      </p:sp>
      <p:sp>
        <p:nvSpPr>
          <p:cNvPr id="29" name="stat7"/>
          <p:cNvSpPr/>
          <p:nvPr/>
        </p:nvSpPr>
        <p:spPr>
          <a:xfrm>
            <a:off x="9052560" y="411480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1B2027"/>
          </a:solidFill>
          <a:ln w="9525">
            <a:solidFill>
              <a:srgbClr val="2E3640"/>
            </a:solidFill>
          </a:ln>
          <a:effectLst>
            <a:outerShdw blurRad="381000" dist="1016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t7-v"/>
          <p:cNvSpPr txBox="1"/>
          <p:nvPr/>
        </p:nvSpPr>
        <p:spPr>
          <a:xfrm>
            <a:off x="9052560" y="420624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D9A41E"/>
                </a:solidFill>
                <a:latin typeface="Segoe UI"/>
              </a:rPr>
              <a:t>0</a:t>
            </a:r>
          </a:p>
        </p:txBody>
      </p:sp>
      <p:sp>
        <p:nvSpPr>
          <p:cNvPr id="31" name="stat7-t"/>
          <p:cNvSpPr txBox="1"/>
          <p:nvPr/>
        </p:nvSpPr>
        <p:spPr>
          <a:xfrm>
            <a:off x="9052560" y="507492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Yu Gothic UI"/>
              </a:rPr>
              <a:t>AA コントラスト違反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9AA3AD"/>
                </a:solidFill>
                <a:latin typeface="Segoe UI"/>
              </a:rPr>
              <a:t>Контрастын алдаа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AF7"/>
              </a:gs>
              <a:gs pos="100000">
                <a:srgbClr val="ECEEE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96926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216"/>
                </a:solidFill>
                <a:latin typeface="Yu Gothic UI"/>
              </a:rPr>
              <a:t>ロードマップと、ご協力いただきたいこと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168"/>
                </a:solidFill>
                <a:latin typeface="Segoe UI"/>
              </a:rPr>
              <a:t>Дараагийн алхам, хамтын ажиллагаа</a:t>
            </a:r>
          </a:p>
        </p:txBody>
      </p:sp>
      <p:sp>
        <p:nvSpPr>
          <p:cNvPr id="6" name="hdr-n"/>
          <p:cNvSpPr txBox="1"/>
          <p:nvPr/>
        </p:nvSpPr>
        <p:spPr>
          <a:xfrm>
            <a:off x="10424160" y="502920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10</a:t>
            </a:r>
          </a:p>
        </p:txBody>
      </p:sp>
      <p:sp>
        <p:nvSpPr>
          <p:cNvPr id="7" name="hdr-foot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B6168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8" name="tl"/>
          <p:cNvSpPr/>
          <p:nvPr/>
        </p:nvSpPr>
        <p:spPr>
          <a:xfrm>
            <a:off x="822960" y="2788920"/>
            <a:ext cx="6400800" cy="45720"/>
          </a:xfrm>
          <a:prstGeom prst="rect">
            <a:avLst/>
          </a:prstGeom>
          <a:solidFill>
            <a:srgbClr val="E3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t0"/>
          <p:cNvSpPr/>
          <p:nvPr/>
        </p:nvSpPr>
        <p:spPr>
          <a:xfrm>
            <a:off x="1097280" y="2606040"/>
            <a:ext cx="411480" cy="41148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177800" dist="38100" dir="5400000" algn="ctr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q0"/>
          <p:cNvSpPr txBox="1"/>
          <p:nvPr/>
        </p:nvSpPr>
        <p:spPr>
          <a:xfrm>
            <a:off x="548640" y="17830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8102E"/>
                </a:solidFill>
                <a:latin typeface="Segoe UI"/>
              </a:rPr>
              <a:t>2026 Q4</a:t>
            </a:r>
          </a:p>
        </p:txBody>
      </p:sp>
      <p:sp>
        <p:nvSpPr>
          <p:cNvPr id="11" name="road0"/>
          <p:cNvSpPr txBox="1"/>
          <p:nvPr/>
        </p:nvSpPr>
        <p:spPr>
          <a:xfrm>
            <a:off x="548640" y="3200400"/>
            <a:ext cx="160020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F1216"/>
                </a:solidFill>
                <a:latin typeface="Yu Gothic UI"/>
              </a:rPr>
              <a:t>QPay・StorePay 本番接続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5B6168"/>
                </a:solidFill>
                <a:latin typeface="Yu Gothic UI"/>
              </a:rPr>
              <a:t>eBarimt 電子領収書連携</a:t>
            </a:r>
          </a:p>
        </p:txBody>
      </p:sp>
      <p:sp>
        <p:nvSpPr>
          <p:cNvPr id="12" name="dot1"/>
          <p:cNvSpPr/>
          <p:nvPr/>
        </p:nvSpPr>
        <p:spPr>
          <a:xfrm>
            <a:off x="2788920" y="2606040"/>
            <a:ext cx="411480" cy="411480"/>
          </a:xfrm>
          <a:prstGeom prst="ellipse">
            <a:avLst/>
          </a:prstGeom>
          <a:solidFill>
            <a:srgbClr val="D9A41E"/>
          </a:solidFill>
          <a:ln>
            <a:noFill/>
          </a:ln>
          <a:effectLst>
            <a:outerShdw blurRad="177800" dist="38100" dir="5400000" algn="ctr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1"/>
          <p:cNvSpPr txBox="1"/>
          <p:nvPr/>
        </p:nvSpPr>
        <p:spPr>
          <a:xfrm>
            <a:off x="2240280" y="17830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D9A41E"/>
                </a:solidFill>
                <a:latin typeface="Segoe UI"/>
              </a:rPr>
              <a:t>2027 Q1</a:t>
            </a:r>
          </a:p>
        </p:txBody>
      </p:sp>
      <p:sp>
        <p:nvSpPr>
          <p:cNvPr id="14" name="road1"/>
          <p:cNvSpPr txBox="1"/>
          <p:nvPr/>
        </p:nvSpPr>
        <p:spPr>
          <a:xfrm>
            <a:off x="2240280" y="3200400"/>
            <a:ext cx="160020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F1216"/>
                </a:solidFill>
                <a:latin typeface="Yu Gothic UI"/>
              </a:rPr>
              <a:t>配送パートナー・自社ドメイン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5B6168"/>
                </a:solidFill>
                <a:latin typeface="Yu Gothic UI"/>
              </a:rPr>
              <a:t>全商品の写真撮影</a:t>
            </a:r>
          </a:p>
        </p:txBody>
      </p:sp>
      <p:sp>
        <p:nvSpPr>
          <p:cNvPr id="15" name="dot2"/>
          <p:cNvSpPr/>
          <p:nvPr/>
        </p:nvSpPr>
        <p:spPr>
          <a:xfrm>
            <a:off x="4480560" y="10835640"/>
            <a:ext cx="411480" cy="411480"/>
          </a:xfrm>
          <a:prstGeom prst="ellipse">
            <a:avLst/>
          </a:prstGeom>
          <a:solidFill>
            <a:srgbClr val="2F6FB3"/>
          </a:solidFill>
          <a:ln>
            <a:noFill/>
          </a:ln>
          <a:effectLst>
            <a:outerShdw blurRad="177800" dist="38100" dir="5400000" algn="ctr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q2"/>
          <p:cNvSpPr txBox="1"/>
          <p:nvPr/>
        </p:nvSpPr>
        <p:spPr>
          <a:xfrm>
            <a:off x="3931920" y="100126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FB3"/>
                </a:solidFill>
                <a:latin typeface="Segoe UI"/>
              </a:rPr>
              <a:t>2027 Q2</a:t>
            </a:r>
          </a:p>
        </p:txBody>
      </p:sp>
      <p:sp>
        <p:nvSpPr>
          <p:cNvPr id="17" name="road2"/>
          <p:cNvSpPr txBox="1"/>
          <p:nvPr/>
        </p:nvSpPr>
        <p:spPr>
          <a:xfrm>
            <a:off x="3931920" y="11430000"/>
            <a:ext cx="160020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F1216"/>
                </a:solidFill>
                <a:latin typeface="Yu Gothic UI"/>
              </a:rPr>
              <a:t>広告計測・レビュー特典・紹介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5B6168"/>
                </a:solidFill>
                <a:latin typeface="Yu Gothic UI"/>
              </a:rPr>
              <a:t>Google / Meta 計測開始</a:t>
            </a:r>
          </a:p>
        </p:txBody>
      </p:sp>
      <p:sp>
        <p:nvSpPr>
          <p:cNvPr id="18" name="dot3"/>
          <p:cNvSpPr/>
          <p:nvPr/>
        </p:nvSpPr>
        <p:spPr>
          <a:xfrm>
            <a:off x="6172200" y="10835640"/>
            <a:ext cx="411480" cy="411480"/>
          </a:xfrm>
          <a:prstGeom prst="ellipse">
            <a:avLst/>
          </a:prstGeom>
          <a:solidFill>
            <a:srgbClr val="2E8B57"/>
          </a:solidFill>
          <a:ln>
            <a:noFill/>
          </a:ln>
          <a:effectLst>
            <a:outerShdw blurRad="177800" dist="38100" dir="5400000" algn="ctr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q3"/>
          <p:cNvSpPr txBox="1"/>
          <p:nvPr/>
        </p:nvSpPr>
        <p:spPr>
          <a:xfrm>
            <a:off x="5623560" y="100126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E8B57"/>
                </a:solidFill>
                <a:latin typeface="Segoe UI"/>
              </a:rPr>
              <a:t>2027 H2</a:t>
            </a:r>
          </a:p>
        </p:txBody>
      </p:sp>
      <p:sp>
        <p:nvSpPr>
          <p:cNvPr id="20" name="road3"/>
          <p:cNvSpPr txBox="1"/>
          <p:nvPr/>
        </p:nvSpPr>
        <p:spPr>
          <a:xfrm>
            <a:off x="5623560" y="11430000"/>
            <a:ext cx="160020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F1216"/>
                </a:solidFill>
                <a:latin typeface="Yu Gothic UI"/>
              </a:rPr>
              <a:t>本社データとのAPI連携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5B6168"/>
                </a:solidFill>
                <a:latin typeface="Yu Gothic UI"/>
              </a:rPr>
              <a:t>在庫・商品マスター</a:t>
            </a:r>
          </a:p>
        </p:txBody>
      </p:sp>
      <p:sp>
        <p:nvSpPr>
          <p:cNvPr id="21" name="ask"/>
          <p:cNvSpPr/>
          <p:nvPr/>
        </p:nvSpPr>
        <p:spPr>
          <a:xfrm>
            <a:off x="7680960" y="9966960"/>
            <a:ext cx="3977639" cy="3840480"/>
          </a:xfrm>
          <a:prstGeom prst="roundRect">
            <a:avLst>
              <a:gd name="adj" fmla="val 6000"/>
            </a:avLst>
          </a:prstGeom>
          <a:solidFill>
            <a:srgbClr val="0F1216"/>
          </a:solidFill>
          <a:ln>
            <a:noFill/>
          </a:ln>
          <a:effectLst>
            <a:outerShdw blurRad="457200" dist="127000" dir="54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sk-bg"/>
          <p:cNvSpPr/>
          <p:nvPr/>
        </p:nvSpPr>
        <p:spPr>
          <a:xfrm>
            <a:off x="7955279" y="10195560"/>
            <a:ext cx="731520" cy="7315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ask-ic" descr="handsh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6213" y="10356494"/>
            <a:ext cx="409652" cy="409652"/>
          </a:xfrm>
          <a:prstGeom prst="rect">
            <a:avLst/>
          </a:prstGeom>
        </p:spPr>
      </p:pic>
      <p:sp>
        <p:nvSpPr>
          <p:cNvPr id="24" name="ask-t"/>
          <p:cNvSpPr txBox="1"/>
          <p:nvPr/>
        </p:nvSpPr>
        <p:spPr>
          <a:xfrm>
            <a:off x="7955279" y="11018520"/>
            <a:ext cx="3474720" cy="3108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Yu Gothic UI"/>
              </a:rPr>
              <a:t>日本側へのお願い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Yu Gothic UI"/>
              </a:rPr>
              <a:t>・商品マスター（成分・内容量・使用期限）の提供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9AA3AD"/>
                </a:solidFill>
                <a:latin typeface="Segoe UI"/>
              </a:rPr>
              <a:t>　Барааны мэдээллийн сан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Yu Gothic UI"/>
              </a:rPr>
              <a:t>・日本語商品説明と公式画像の利用許諾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9AA3AD"/>
                </a:solidFill>
                <a:latin typeface="Segoe UI"/>
              </a:rPr>
              <a:t>　Тайлбар, албан ёсны зураг ашиглах зөвшөөрөл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Yu Gothic UI"/>
              </a:rPr>
              <a:t>・物流・決済立ち上げへの投資と提携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9AA3AD"/>
                </a:solidFill>
                <a:latin typeface="Segoe UI"/>
              </a:rPr>
              <a:t>　Логистик, төлбөрт хөрөнгө оруулалт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D9A41E"/>
                </a:solidFill>
                <a:latin typeface="Yu Gothic UI"/>
              </a:rPr>
              <a:t>ご清聴ありがとうございました。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AF7"/>
              </a:gs>
              <a:gs pos="100000">
                <a:srgbClr val="ECEEE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96926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216"/>
                </a:solidFill>
                <a:latin typeface="Yu Gothic UI"/>
              </a:rPr>
              <a:t>ロードマップと、ご協力いただきたいこと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168"/>
                </a:solidFill>
                <a:latin typeface="Segoe UI"/>
              </a:rPr>
              <a:t>Дараагийн алхам, хамтын ажиллагаа</a:t>
            </a:r>
          </a:p>
        </p:txBody>
      </p:sp>
      <p:sp>
        <p:nvSpPr>
          <p:cNvPr id="6" name="hdr-n"/>
          <p:cNvSpPr txBox="1"/>
          <p:nvPr/>
        </p:nvSpPr>
        <p:spPr>
          <a:xfrm>
            <a:off x="10424160" y="502920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10</a:t>
            </a:r>
          </a:p>
        </p:txBody>
      </p:sp>
      <p:sp>
        <p:nvSpPr>
          <p:cNvPr id="7" name="hdr-foot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B6168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8" name="tl"/>
          <p:cNvSpPr/>
          <p:nvPr/>
        </p:nvSpPr>
        <p:spPr>
          <a:xfrm>
            <a:off x="822960" y="2788920"/>
            <a:ext cx="6400800" cy="45720"/>
          </a:xfrm>
          <a:prstGeom prst="rect">
            <a:avLst/>
          </a:prstGeom>
          <a:solidFill>
            <a:srgbClr val="E3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t0"/>
          <p:cNvSpPr/>
          <p:nvPr/>
        </p:nvSpPr>
        <p:spPr>
          <a:xfrm>
            <a:off x="1097280" y="2606040"/>
            <a:ext cx="411480" cy="41148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177800" dist="38100" dir="5400000" algn="ctr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q0"/>
          <p:cNvSpPr txBox="1"/>
          <p:nvPr/>
        </p:nvSpPr>
        <p:spPr>
          <a:xfrm>
            <a:off x="548640" y="17830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8102E"/>
                </a:solidFill>
                <a:latin typeface="Segoe UI"/>
              </a:rPr>
              <a:t>2026 Q4</a:t>
            </a:r>
          </a:p>
        </p:txBody>
      </p:sp>
      <p:sp>
        <p:nvSpPr>
          <p:cNvPr id="11" name="road0"/>
          <p:cNvSpPr txBox="1"/>
          <p:nvPr/>
        </p:nvSpPr>
        <p:spPr>
          <a:xfrm>
            <a:off x="548640" y="3200400"/>
            <a:ext cx="160020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F1216"/>
                </a:solidFill>
                <a:latin typeface="Yu Gothic UI"/>
              </a:rPr>
              <a:t>QPay・StorePay 本番接続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5B6168"/>
                </a:solidFill>
                <a:latin typeface="Yu Gothic UI"/>
              </a:rPr>
              <a:t>eBarimt 電子領収書連携</a:t>
            </a:r>
          </a:p>
        </p:txBody>
      </p:sp>
      <p:sp>
        <p:nvSpPr>
          <p:cNvPr id="12" name="dot1"/>
          <p:cNvSpPr/>
          <p:nvPr/>
        </p:nvSpPr>
        <p:spPr>
          <a:xfrm>
            <a:off x="2788920" y="2606040"/>
            <a:ext cx="411480" cy="411480"/>
          </a:xfrm>
          <a:prstGeom prst="ellipse">
            <a:avLst/>
          </a:prstGeom>
          <a:solidFill>
            <a:srgbClr val="D9A41E"/>
          </a:solidFill>
          <a:ln>
            <a:noFill/>
          </a:ln>
          <a:effectLst>
            <a:outerShdw blurRad="177800" dist="38100" dir="5400000" algn="ctr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1"/>
          <p:cNvSpPr txBox="1"/>
          <p:nvPr/>
        </p:nvSpPr>
        <p:spPr>
          <a:xfrm>
            <a:off x="2240280" y="17830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D9A41E"/>
                </a:solidFill>
                <a:latin typeface="Segoe UI"/>
              </a:rPr>
              <a:t>2027 Q1</a:t>
            </a:r>
          </a:p>
        </p:txBody>
      </p:sp>
      <p:sp>
        <p:nvSpPr>
          <p:cNvPr id="14" name="road1"/>
          <p:cNvSpPr txBox="1"/>
          <p:nvPr/>
        </p:nvSpPr>
        <p:spPr>
          <a:xfrm>
            <a:off x="2240280" y="3200400"/>
            <a:ext cx="160020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F1216"/>
                </a:solidFill>
                <a:latin typeface="Yu Gothic UI"/>
              </a:rPr>
              <a:t>配送パートナー・自社ドメイン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5B6168"/>
                </a:solidFill>
                <a:latin typeface="Yu Gothic UI"/>
              </a:rPr>
              <a:t>全商品の写真撮影</a:t>
            </a:r>
          </a:p>
        </p:txBody>
      </p:sp>
      <p:sp>
        <p:nvSpPr>
          <p:cNvPr id="15" name="dot2"/>
          <p:cNvSpPr/>
          <p:nvPr/>
        </p:nvSpPr>
        <p:spPr>
          <a:xfrm>
            <a:off x="4480560" y="2606040"/>
            <a:ext cx="411480" cy="411480"/>
          </a:xfrm>
          <a:prstGeom prst="ellipse">
            <a:avLst/>
          </a:prstGeom>
          <a:solidFill>
            <a:srgbClr val="2F6FB3"/>
          </a:solidFill>
          <a:ln>
            <a:noFill/>
          </a:ln>
          <a:effectLst>
            <a:outerShdw blurRad="177800" dist="38100" dir="5400000" algn="ctr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q2"/>
          <p:cNvSpPr txBox="1"/>
          <p:nvPr/>
        </p:nvSpPr>
        <p:spPr>
          <a:xfrm>
            <a:off x="3931920" y="17830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FB3"/>
                </a:solidFill>
                <a:latin typeface="Segoe UI"/>
              </a:rPr>
              <a:t>2027 Q2</a:t>
            </a:r>
          </a:p>
        </p:txBody>
      </p:sp>
      <p:sp>
        <p:nvSpPr>
          <p:cNvPr id="17" name="road2"/>
          <p:cNvSpPr txBox="1"/>
          <p:nvPr/>
        </p:nvSpPr>
        <p:spPr>
          <a:xfrm>
            <a:off x="3931920" y="3200400"/>
            <a:ext cx="160020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F1216"/>
                </a:solidFill>
                <a:latin typeface="Yu Gothic UI"/>
              </a:rPr>
              <a:t>広告計測・レビュー特典・紹介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5B6168"/>
                </a:solidFill>
                <a:latin typeface="Yu Gothic UI"/>
              </a:rPr>
              <a:t>Google / Meta 計測開始</a:t>
            </a:r>
          </a:p>
        </p:txBody>
      </p:sp>
      <p:sp>
        <p:nvSpPr>
          <p:cNvPr id="18" name="dot3"/>
          <p:cNvSpPr/>
          <p:nvPr/>
        </p:nvSpPr>
        <p:spPr>
          <a:xfrm>
            <a:off x="6172200" y="2606040"/>
            <a:ext cx="411480" cy="411480"/>
          </a:xfrm>
          <a:prstGeom prst="ellipse">
            <a:avLst/>
          </a:prstGeom>
          <a:solidFill>
            <a:srgbClr val="2E8B57"/>
          </a:solidFill>
          <a:ln>
            <a:noFill/>
          </a:ln>
          <a:effectLst>
            <a:outerShdw blurRad="177800" dist="38100" dir="5400000" algn="ctr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q3"/>
          <p:cNvSpPr txBox="1"/>
          <p:nvPr/>
        </p:nvSpPr>
        <p:spPr>
          <a:xfrm>
            <a:off x="5623560" y="17830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E8B57"/>
                </a:solidFill>
                <a:latin typeface="Segoe UI"/>
              </a:rPr>
              <a:t>2027 H2</a:t>
            </a:r>
          </a:p>
        </p:txBody>
      </p:sp>
      <p:sp>
        <p:nvSpPr>
          <p:cNvPr id="20" name="road3"/>
          <p:cNvSpPr txBox="1"/>
          <p:nvPr/>
        </p:nvSpPr>
        <p:spPr>
          <a:xfrm>
            <a:off x="5623560" y="3200400"/>
            <a:ext cx="160020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F1216"/>
                </a:solidFill>
                <a:latin typeface="Yu Gothic UI"/>
              </a:rPr>
              <a:t>本社データとのAPI連携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5B6168"/>
                </a:solidFill>
                <a:latin typeface="Yu Gothic UI"/>
              </a:rPr>
              <a:t>在庫・商品マスター</a:t>
            </a:r>
          </a:p>
        </p:txBody>
      </p:sp>
      <p:sp>
        <p:nvSpPr>
          <p:cNvPr id="21" name="ask"/>
          <p:cNvSpPr/>
          <p:nvPr/>
        </p:nvSpPr>
        <p:spPr>
          <a:xfrm>
            <a:off x="7680960" y="9966960"/>
            <a:ext cx="3977639" cy="3840480"/>
          </a:xfrm>
          <a:prstGeom prst="roundRect">
            <a:avLst>
              <a:gd name="adj" fmla="val 6000"/>
            </a:avLst>
          </a:prstGeom>
          <a:solidFill>
            <a:srgbClr val="0F1216"/>
          </a:solidFill>
          <a:ln>
            <a:noFill/>
          </a:ln>
          <a:effectLst>
            <a:outerShdw blurRad="457200" dist="127000" dir="54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sk-bg"/>
          <p:cNvSpPr/>
          <p:nvPr/>
        </p:nvSpPr>
        <p:spPr>
          <a:xfrm>
            <a:off x="7955279" y="10195560"/>
            <a:ext cx="731520" cy="7315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ask-ic" descr="handsh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6213" y="10356494"/>
            <a:ext cx="409652" cy="409652"/>
          </a:xfrm>
          <a:prstGeom prst="rect">
            <a:avLst/>
          </a:prstGeom>
        </p:spPr>
      </p:pic>
      <p:sp>
        <p:nvSpPr>
          <p:cNvPr id="24" name="ask-t"/>
          <p:cNvSpPr txBox="1"/>
          <p:nvPr/>
        </p:nvSpPr>
        <p:spPr>
          <a:xfrm>
            <a:off x="7955279" y="11018520"/>
            <a:ext cx="3474720" cy="3108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Yu Gothic UI"/>
              </a:rPr>
              <a:t>日本側へのお願い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Yu Gothic UI"/>
              </a:rPr>
              <a:t>・商品マスター（成分・内容量・使用期限）の提供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9AA3AD"/>
                </a:solidFill>
                <a:latin typeface="Segoe UI"/>
              </a:rPr>
              <a:t>　Барааны мэдээллийн сан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Yu Gothic UI"/>
              </a:rPr>
              <a:t>・日本語商品説明と公式画像の利用許諾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9AA3AD"/>
                </a:solidFill>
                <a:latin typeface="Segoe UI"/>
              </a:rPr>
              <a:t>　Тайлбар, албан ёсны зураг ашиглах зөвшөөрөл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Yu Gothic UI"/>
              </a:rPr>
              <a:t>・物流・決済立ち上げへの投資と提携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9AA3AD"/>
                </a:solidFill>
                <a:latin typeface="Segoe UI"/>
              </a:rPr>
              <a:t>　Логистик, төлбөрт хөрөнгө оруулалт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D9A41E"/>
                </a:solidFill>
                <a:latin typeface="Yu Gothic UI"/>
              </a:rPr>
              <a:t>ご清聴ありがとうございました。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AFAF7"/>
              </a:gs>
              <a:gs pos="100000">
                <a:srgbClr val="ECEEE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96926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216"/>
                </a:solidFill>
                <a:latin typeface="Yu Gothic UI"/>
              </a:rPr>
              <a:t>ロードマップと、ご協力いただきたいこと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96926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168"/>
                </a:solidFill>
                <a:latin typeface="Segoe UI"/>
              </a:rPr>
              <a:t>Дараагийн алхам, хамтын ажиллагаа</a:t>
            </a:r>
          </a:p>
        </p:txBody>
      </p:sp>
      <p:sp>
        <p:nvSpPr>
          <p:cNvPr id="6" name="hdr-n"/>
          <p:cNvSpPr txBox="1"/>
          <p:nvPr/>
        </p:nvSpPr>
        <p:spPr>
          <a:xfrm>
            <a:off x="10424160" y="502920"/>
            <a:ext cx="1280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C8102E"/>
                </a:solidFill>
                <a:latin typeface="Segoe UI"/>
              </a:rPr>
              <a:t>10</a:t>
            </a:r>
          </a:p>
        </p:txBody>
      </p:sp>
      <p:sp>
        <p:nvSpPr>
          <p:cNvPr id="7" name="hdr-foot"/>
          <p:cNvSpPr txBox="1"/>
          <p:nvPr/>
        </p:nvSpPr>
        <p:spPr>
          <a:xfrm>
            <a:off x="548640" y="6419088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B6168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8" name="tl"/>
          <p:cNvSpPr/>
          <p:nvPr/>
        </p:nvSpPr>
        <p:spPr>
          <a:xfrm>
            <a:off x="822960" y="2788920"/>
            <a:ext cx="6400800" cy="45720"/>
          </a:xfrm>
          <a:prstGeom prst="rect">
            <a:avLst/>
          </a:prstGeom>
          <a:solidFill>
            <a:srgbClr val="E3E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t0"/>
          <p:cNvSpPr/>
          <p:nvPr/>
        </p:nvSpPr>
        <p:spPr>
          <a:xfrm>
            <a:off x="1097280" y="2606040"/>
            <a:ext cx="411480" cy="41148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177800" dist="38100" dir="5400000" algn="ctr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q0"/>
          <p:cNvSpPr txBox="1"/>
          <p:nvPr/>
        </p:nvSpPr>
        <p:spPr>
          <a:xfrm>
            <a:off x="548640" y="17830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8102E"/>
                </a:solidFill>
                <a:latin typeface="Segoe UI"/>
              </a:rPr>
              <a:t>2026 Q4</a:t>
            </a:r>
          </a:p>
        </p:txBody>
      </p:sp>
      <p:sp>
        <p:nvSpPr>
          <p:cNvPr id="11" name="road0"/>
          <p:cNvSpPr txBox="1"/>
          <p:nvPr/>
        </p:nvSpPr>
        <p:spPr>
          <a:xfrm>
            <a:off x="548640" y="3200400"/>
            <a:ext cx="160020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F1216"/>
                </a:solidFill>
                <a:latin typeface="Yu Gothic UI"/>
              </a:rPr>
              <a:t>QPay・StorePay 本番接続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5B6168"/>
                </a:solidFill>
                <a:latin typeface="Yu Gothic UI"/>
              </a:rPr>
              <a:t>eBarimt 電子領収書連携</a:t>
            </a:r>
          </a:p>
        </p:txBody>
      </p:sp>
      <p:sp>
        <p:nvSpPr>
          <p:cNvPr id="12" name="dot1"/>
          <p:cNvSpPr/>
          <p:nvPr/>
        </p:nvSpPr>
        <p:spPr>
          <a:xfrm>
            <a:off x="2788920" y="2606040"/>
            <a:ext cx="411480" cy="411480"/>
          </a:xfrm>
          <a:prstGeom prst="ellipse">
            <a:avLst/>
          </a:prstGeom>
          <a:solidFill>
            <a:srgbClr val="D9A41E"/>
          </a:solidFill>
          <a:ln>
            <a:noFill/>
          </a:ln>
          <a:effectLst>
            <a:outerShdw blurRad="177800" dist="38100" dir="5400000" algn="ctr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1"/>
          <p:cNvSpPr txBox="1"/>
          <p:nvPr/>
        </p:nvSpPr>
        <p:spPr>
          <a:xfrm>
            <a:off x="2240280" y="17830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D9A41E"/>
                </a:solidFill>
                <a:latin typeface="Segoe UI"/>
              </a:rPr>
              <a:t>2027 Q1</a:t>
            </a:r>
          </a:p>
        </p:txBody>
      </p:sp>
      <p:sp>
        <p:nvSpPr>
          <p:cNvPr id="14" name="road1"/>
          <p:cNvSpPr txBox="1"/>
          <p:nvPr/>
        </p:nvSpPr>
        <p:spPr>
          <a:xfrm>
            <a:off x="2240280" y="3200400"/>
            <a:ext cx="160020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F1216"/>
                </a:solidFill>
                <a:latin typeface="Yu Gothic UI"/>
              </a:rPr>
              <a:t>配送パートナー・自社ドメイン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5B6168"/>
                </a:solidFill>
                <a:latin typeface="Yu Gothic UI"/>
              </a:rPr>
              <a:t>全商品の写真撮影</a:t>
            </a:r>
          </a:p>
        </p:txBody>
      </p:sp>
      <p:sp>
        <p:nvSpPr>
          <p:cNvPr id="15" name="dot2"/>
          <p:cNvSpPr/>
          <p:nvPr/>
        </p:nvSpPr>
        <p:spPr>
          <a:xfrm>
            <a:off x="4480560" y="2606040"/>
            <a:ext cx="411480" cy="411480"/>
          </a:xfrm>
          <a:prstGeom prst="ellipse">
            <a:avLst/>
          </a:prstGeom>
          <a:solidFill>
            <a:srgbClr val="2F6FB3"/>
          </a:solidFill>
          <a:ln>
            <a:noFill/>
          </a:ln>
          <a:effectLst>
            <a:outerShdw blurRad="177800" dist="38100" dir="5400000" algn="ctr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q2"/>
          <p:cNvSpPr txBox="1"/>
          <p:nvPr/>
        </p:nvSpPr>
        <p:spPr>
          <a:xfrm>
            <a:off x="3931920" y="17830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FB3"/>
                </a:solidFill>
                <a:latin typeface="Segoe UI"/>
              </a:rPr>
              <a:t>2027 Q2</a:t>
            </a:r>
          </a:p>
        </p:txBody>
      </p:sp>
      <p:sp>
        <p:nvSpPr>
          <p:cNvPr id="17" name="road2"/>
          <p:cNvSpPr txBox="1"/>
          <p:nvPr/>
        </p:nvSpPr>
        <p:spPr>
          <a:xfrm>
            <a:off x="3931920" y="3200400"/>
            <a:ext cx="160020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F1216"/>
                </a:solidFill>
                <a:latin typeface="Yu Gothic UI"/>
              </a:rPr>
              <a:t>広告計測・レビュー特典・紹介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5B6168"/>
                </a:solidFill>
                <a:latin typeface="Yu Gothic UI"/>
              </a:rPr>
              <a:t>Google / Meta 計測開始</a:t>
            </a:r>
          </a:p>
        </p:txBody>
      </p:sp>
      <p:sp>
        <p:nvSpPr>
          <p:cNvPr id="18" name="dot3"/>
          <p:cNvSpPr/>
          <p:nvPr/>
        </p:nvSpPr>
        <p:spPr>
          <a:xfrm>
            <a:off x="6172200" y="2606040"/>
            <a:ext cx="411480" cy="411480"/>
          </a:xfrm>
          <a:prstGeom prst="ellipse">
            <a:avLst/>
          </a:prstGeom>
          <a:solidFill>
            <a:srgbClr val="2E8B57"/>
          </a:solidFill>
          <a:ln>
            <a:noFill/>
          </a:ln>
          <a:effectLst>
            <a:outerShdw blurRad="177800" dist="38100" dir="5400000" algn="ctr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q3"/>
          <p:cNvSpPr txBox="1"/>
          <p:nvPr/>
        </p:nvSpPr>
        <p:spPr>
          <a:xfrm>
            <a:off x="5623560" y="17830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E8B57"/>
                </a:solidFill>
                <a:latin typeface="Segoe UI"/>
              </a:rPr>
              <a:t>2027 H2</a:t>
            </a:r>
          </a:p>
        </p:txBody>
      </p:sp>
      <p:sp>
        <p:nvSpPr>
          <p:cNvPr id="20" name="road3"/>
          <p:cNvSpPr txBox="1"/>
          <p:nvPr/>
        </p:nvSpPr>
        <p:spPr>
          <a:xfrm>
            <a:off x="5623560" y="3200400"/>
            <a:ext cx="160020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F1216"/>
                </a:solidFill>
                <a:latin typeface="Yu Gothic UI"/>
              </a:rPr>
              <a:t>本社データとのAPI連携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5B6168"/>
                </a:solidFill>
                <a:latin typeface="Yu Gothic UI"/>
              </a:rPr>
              <a:t>在庫・商品マスター</a:t>
            </a:r>
          </a:p>
        </p:txBody>
      </p:sp>
      <p:sp>
        <p:nvSpPr>
          <p:cNvPr id="21" name="ask"/>
          <p:cNvSpPr/>
          <p:nvPr/>
        </p:nvSpPr>
        <p:spPr>
          <a:xfrm>
            <a:off x="7680960" y="1737360"/>
            <a:ext cx="3977639" cy="3840480"/>
          </a:xfrm>
          <a:prstGeom prst="roundRect">
            <a:avLst>
              <a:gd name="adj" fmla="val 6000"/>
            </a:avLst>
          </a:prstGeom>
          <a:solidFill>
            <a:srgbClr val="0F1216"/>
          </a:solidFill>
          <a:ln>
            <a:noFill/>
          </a:ln>
          <a:effectLst>
            <a:outerShdw blurRad="457200" dist="127000" dir="5400000" algn="ctr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sk-bg"/>
          <p:cNvSpPr/>
          <p:nvPr/>
        </p:nvSpPr>
        <p:spPr>
          <a:xfrm>
            <a:off x="7955279" y="1965960"/>
            <a:ext cx="731520" cy="7315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ask-ic" descr="handsh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6213" y="2126894"/>
            <a:ext cx="409652" cy="409652"/>
          </a:xfrm>
          <a:prstGeom prst="rect">
            <a:avLst/>
          </a:prstGeom>
        </p:spPr>
      </p:pic>
      <p:sp>
        <p:nvSpPr>
          <p:cNvPr id="24" name="ask-t"/>
          <p:cNvSpPr txBox="1"/>
          <p:nvPr/>
        </p:nvSpPr>
        <p:spPr>
          <a:xfrm>
            <a:off x="7955279" y="2788920"/>
            <a:ext cx="3474720" cy="3108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Yu Gothic UI"/>
              </a:rPr>
              <a:t>日本側へのお願い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Yu Gothic UI"/>
              </a:rPr>
              <a:t>・商品マスター（成分・内容量・使用期限）の提供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9AA3AD"/>
                </a:solidFill>
                <a:latin typeface="Segoe UI"/>
              </a:rPr>
              <a:t>　Барааны мэдээллийн сан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Yu Gothic UI"/>
              </a:rPr>
              <a:t>・日本語商品説明と公式画像の利用許諾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9AA3AD"/>
                </a:solidFill>
                <a:latin typeface="Segoe UI"/>
              </a:rPr>
              <a:t>　Тайлбар, албан ёсны зураг ашиглах зөвшөөрөл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Yu Gothic UI"/>
              </a:rPr>
              <a:t>・物流・決済立ち上げへの投資と提携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9AA3AD"/>
                </a:solidFill>
                <a:latin typeface="Segoe UI"/>
              </a:rPr>
              <a:t>　Логистик, төлбөрт хөрөнгө оруулалт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D9A41E"/>
                </a:solidFill>
                <a:latin typeface="Yu Gothic UI"/>
              </a:rPr>
              <a:t>ご清聴ありがとうございました。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