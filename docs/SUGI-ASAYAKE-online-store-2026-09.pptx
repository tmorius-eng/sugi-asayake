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73152"/>
          </a:xfrm>
          <a:prstGeom prst="rect">
            <a:avLst/>
          </a:prstGeom>
          <a:solidFill>
            <a:srgbClr val="B0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Yu Gothic UI"/>
              </a:rPr>
              <a:t>SUGI ASAYAKE オンラインストア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0">
                <a:solidFill>
                  <a:srgbClr val="F0B52D"/>
                </a:solidFill>
                <a:latin typeface="Yu Gothic UI"/>
              </a:rPr>
              <a:t>日本品質を、モンゴルのすべての家庭へ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C9D0CA"/>
                </a:solidFill>
                <a:latin typeface="Segoe UI"/>
              </a:rPr>
              <a:t>Япон чанарыг Монголын гэр бүл бүрт — SUGI ASAYAKE онлайн дэлгүүрийн танилцуулга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Yu Gothic UI"/>
              </a:rPr>
              <a:t>2026年9月　事業説明資料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0CA"/>
                </a:solidFill>
                <a:latin typeface="Segoe UI"/>
              </a:rPr>
              <a:t>Батмагнай Мөнхтөвшин · SUGI ASAYAKE Mongolia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7181B"/>
                </a:solidFill>
                <a:latin typeface="Yu Gothic UI"/>
              </a:rPr>
              <a:t>会社と事業機会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45958"/>
                </a:solidFill>
                <a:latin typeface="Segoe UI"/>
              </a:rPr>
              <a:t>Компани ба боломж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Yu Gothic UI"/>
              </a:rPr>
              <a:t>SUGI ASAYAKE Mongolia · 2026年9月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0350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7181B"/>
                </a:solidFill>
                <a:latin typeface="Yu Gothic UI"/>
              </a:rPr>
              <a:t>■ SUGI Drug Store Japan のモンゴル子会社。ウランバートル市内に4店舗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　SUGI Drug Store Japan-ийн охин компани, Улаанбаатарт 4 салбар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7181B"/>
                </a:solidFill>
                <a:latin typeface="Yu Gothic UI"/>
              </a:rPr>
              <a:t>■ 日本の化粧品・医薬部外品・日用品・食品を正規ルートで輸入販売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　Японы гоо сайхан, эрүүл мэнд, гэр ахуй, хүнсний бараа — албан ёсны импорт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7181B"/>
                </a:solidFill>
                <a:latin typeface="Yu Gothic UI"/>
              </a:rPr>
              <a:t>■ Facebook 9万人超のフォロワーという既存顧客基盤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　Facebook-т 93,000+ дагагчтай бэлэн үйлчлүүлэгчийн суурь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7181B"/>
                </a:solidFill>
                <a:latin typeface="Yu Gothic UI"/>
              </a:rPr>
              <a:t>■ 店舗の営業時間・立地に縛られない販売チャネルとして自社ECを構築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　Дэлгүүрийн цаг, байршлаас хамаарахгүй өөрийн онлайн суваг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7181B"/>
                </a:solidFill>
                <a:latin typeface="Yu Gothic UI"/>
              </a:rPr>
              <a:t>■ 在庫・注文・顧客データを一元管理し、日本本社との連携を容易に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　Нөөц, захиалга, харилцагчийн мэдээлэл нэг системд — Япон талтай холбогдоход бэлэн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0" y="1645920"/>
            <a:ext cx="4663440" cy="420624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828800"/>
            <a:ext cx="420624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01729"/>
                </a:solidFill>
                <a:latin typeface="Yu Gothic UI"/>
              </a:rPr>
              <a:t>店舗ネットワーク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7181B"/>
                </a:solidFill>
                <a:latin typeface="Segoe UI"/>
              </a:rPr>
              <a:t>Орос элчингийн салбар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7181B"/>
                </a:solidFill>
                <a:latin typeface="Segoe UI"/>
              </a:rPr>
              <a:t>Их наяд плаза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7181B"/>
                </a:solidFill>
                <a:latin typeface="Segoe UI"/>
              </a:rPr>
              <a:t>Яармаг FOOD CITY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7181B"/>
                </a:solidFill>
                <a:latin typeface="Segoe UI"/>
              </a:rPr>
              <a:t>Japan Town C6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7181B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B01729"/>
                </a:solidFill>
                <a:latin typeface="Yu Gothic UI"/>
              </a:rPr>
              <a:t>ECサイト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45958"/>
                </a:solidFill>
                <a:latin typeface="Yu Gothic UI"/>
              </a:rPr>
              <a:t>sugi.karkaron.com（本ドメイン移行予定）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7181B"/>
                </a:solidFill>
                <a:latin typeface="Yu Gothic UI"/>
              </a:rPr>
              <a:t>980 SKU 掲載 · 3言語 · スマホ最適化・PWA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7181B"/>
                </a:solidFill>
                <a:latin typeface="Yu Gothic UI"/>
              </a:rPr>
              <a:t>サイト概要 — 日本のドラッグストアの体験をオンラインに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45958"/>
                </a:solidFill>
                <a:latin typeface="Segoe UI"/>
              </a:rPr>
              <a:t>Сайтын ерөнхий дүр зураг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Yu Gothic UI"/>
              </a:rPr>
              <a:t>SUGI ASAYAKE Mongolia · 2026年9月</a:t>
            </a:r>
          </a:p>
        </p:txBody>
      </p:sp>
      <p:pic>
        <p:nvPicPr>
          <p:cNvPr id="7" name="Picture 6" descr="slide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766560" cy="3763899"/>
          </a:xfrm>
          <a:prstGeom prst="rect">
            <a:avLst/>
          </a:prstGeom>
          <a:ln w="9525">
            <a:solidFill>
              <a:srgbClr val="C9D0C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0" y="1554480"/>
            <a:ext cx="420624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モンゴル語・英語・日本語の3言語表示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Монгол / English / 日本語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スマホ優先設計、ホーム画面に追加できるPWA、ダークモード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Утсанд зориулсан, PWA, харанхуй горим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ブランド・カテゴリー・ベストセラーの編集を管理画面から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Брэнд, ангилал, бестселлер бүгд админаас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会員向けのパーソナライズ提案（肌質・髪質プロフィール）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Арьс/үсний профайлд суурилсан санал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Cookie同意、アクセシビリティ（WCAG 2.2 AA）対応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Күкийн зөвшөөрөл, хүртээмж AA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7181B"/>
                </a:solidFill>
                <a:latin typeface="Yu Gothic UI"/>
              </a:rPr>
              <a:t>商品ページ — 信頼される情報設計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45958"/>
                </a:solidFill>
                <a:latin typeface="Segoe UI"/>
              </a:rPr>
              <a:t>Барааны хуудас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Yu Gothic UI"/>
              </a:rPr>
              <a:t>SUGI ASAYAKE Mongolia · 2026年9月</a:t>
            </a:r>
          </a:p>
        </p:txBody>
      </p:sp>
      <p:pic>
        <p:nvPicPr>
          <p:cNvPr id="7" name="Picture 6" descr="slide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766560" cy="3763899"/>
          </a:xfrm>
          <a:prstGeom prst="rect">
            <a:avLst/>
          </a:prstGeom>
          <a:ln w="9525">
            <a:solidFill>
              <a:srgbClr val="C9D0C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0" y="1554480"/>
            <a:ext cx="420624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JANコード検索で見つかるSEO（構造化データ・サイトマップ）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JAN кодоор Google-д олдох SEO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内容量・成分・原産国・使用期限を商品写真上に表示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Хэмжээ, найрлага, гарал үүсэл, хугацаа зурган дээр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購入者レビュー（返信・いいね）と Q&amp;A、投稿への特典付与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Сэтгэгдэл, асуулт-хариулт, урамшуулал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Facebook・Messenger・X・Telegram への共有（商品画像付き）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Сошиалд зурагтай хуваалцах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ギフトカード、在庫バリエーション、関連商品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Бэлгийн карт, variant, холбоотой бараа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7181B"/>
                </a:solidFill>
                <a:latin typeface="Yu Gothic UI"/>
              </a:rPr>
              <a:t>購入体験 — 会員登録なしで3分で注文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45958"/>
                </a:solidFill>
                <a:latin typeface="Segoe UI"/>
              </a:rPr>
              <a:t>Худалдан авах урсгал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Yu Gothic UI"/>
              </a:rPr>
              <a:t>SUGI ASAYAKE Mongolia · 2026年9月</a:t>
            </a:r>
          </a:p>
        </p:txBody>
      </p:sp>
      <p:pic>
        <p:nvPicPr>
          <p:cNvPr id="7" name="Picture 6" descr="slide-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766560" cy="3763899"/>
          </a:xfrm>
          <a:prstGeom prst="rect">
            <a:avLst/>
          </a:prstGeom>
          <a:ln w="9525">
            <a:solidFill>
              <a:srgbClr val="C9D0C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0" y="1554480"/>
            <a:ext cx="420624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ゲスト購入可、SMSによる電話番号確認で不正注文を防止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Зочны захиалга, SMS-ээр утас баталгаажуулалт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ウランバートル配送・店舗受取を選択、地区別の配送料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Хүргэлт / салбараас авах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現金・QPay・StorePay（分割払い）に対応する決済基盤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Бэлэн, QPay, StorePay бэлэн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クーポン、会員ランク割引、ストアクレジット、ギフトカード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Купон, гишүүнчлэл, дэлгүүрийн зээл, бэлгийн карт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注文状況をプッシュ通知・メール・SMSで案内、PDF領収書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Push/имэйл/SMS мэдэгдэл, PDF баримт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7181B"/>
                </a:solidFill>
                <a:latin typeface="Yu Gothic UI"/>
              </a:rPr>
              <a:t>店舗運営 — 1つの管理画面で4店舗と倉庫を運営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45958"/>
                </a:solidFill>
                <a:latin typeface="Segoe UI"/>
              </a:rPr>
              <a:t>Дэлгүүрийн удирдлага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Yu Gothic UI"/>
              </a:rPr>
              <a:t>SUGI ASAYAKE Mongolia · 2026年9月</a:t>
            </a:r>
          </a:p>
        </p:txBody>
      </p:sp>
      <p:pic>
        <p:nvPicPr>
          <p:cNvPr id="7" name="Picture 6" descr="slide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766560" cy="3763899"/>
          </a:xfrm>
          <a:prstGeom prst="rect">
            <a:avLst/>
          </a:prstGeom>
          <a:ln w="9525">
            <a:solidFill>
              <a:srgbClr val="C9D0C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0" y="1554480"/>
            <a:ext cx="420624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注文ワークフロー、電話・Messenger注文の手入力、ピッキングリスト印刷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Захиалгын урсгал, гар захиалга, бэлтгэх хуудас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店舗・倉庫ごとの在庫台帳、バーコードスキャン入荷・棚卸・移動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Салбар бүрийн нөөцийн ledger, сканнер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Smart POS（店舗レジ）との在庫同期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Smart POS-той нөөц синк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売上・利益・転換率・返品率などの分析ダッシュボード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Аналитик самбар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スタッフ権限5段階、顔認証ログイン、スマホへの業務通知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5 эрх, царай таних нэвтрэлт, push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7181B"/>
                </a:solidFill>
                <a:latin typeface="Yu Gothic UI"/>
              </a:rPr>
              <a:t>技術基盤 — 東京リージョンのクラウドで運用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45958"/>
                </a:solidFill>
                <a:latin typeface="Segoe UI"/>
              </a:rPr>
              <a:t>Техникийн суурь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Yu Gothic UI"/>
              </a:rPr>
              <a:t>SUGI ASAYAKE Mongolia · 2026年9月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51760" cy="1371600"/>
          </a:xfrm>
          <a:prstGeom prst="rect">
            <a:avLst/>
          </a:prstGeom>
          <a:solidFill>
            <a:srgbClr val="F2F5F2"/>
          </a:solidFill>
          <a:ln w="9525">
            <a:solidFill>
              <a:srgbClr val="C9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B01729"/>
                </a:solidFill>
                <a:latin typeface="Segoe UI"/>
              </a:rPr>
              <a:t>Cloudflare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7181B"/>
                </a:solidFill>
                <a:latin typeface="Yu Gothic UI"/>
              </a:rPr>
              <a:t>WAF・CDN・Bot対策・トンネル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737360"/>
            <a:ext cx="2651760" cy="1371600"/>
          </a:xfrm>
          <a:prstGeom prst="rect">
            <a:avLst/>
          </a:prstGeom>
          <a:solidFill>
            <a:srgbClr val="F2F5F2"/>
          </a:solidFill>
          <a:ln w="9525">
            <a:solidFill>
              <a:srgbClr val="C9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82880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B01729"/>
                </a:solidFill>
                <a:latin typeface="Segoe UI"/>
              </a:rPr>
              <a:t>Oracle Cloud 東京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28600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7181B"/>
                </a:solidFill>
                <a:latin typeface="Yu Gothic UI"/>
              </a:rPr>
              <a:t>アプリサーバー（本番＋ステージング）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37360"/>
            <a:ext cx="2651760" cy="1371600"/>
          </a:xfrm>
          <a:prstGeom prst="rect">
            <a:avLst/>
          </a:prstGeom>
          <a:solidFill>
            <a:srgbClr val="F2F5F2"/>
          </a:solidFill>
          <a:ln w="9525">
            <a:solidFill>
              <a:srgbClr val="C9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82880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B01729"/>
                </a:solidFill>
                <a:latin typeface="Segoe UI"/>
              </a:rPr>
              <a:t>MySQL HeatWave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7181B"/>
                </a:solidFill>
                <a:latin typeface="Yu Gothic UI"/>
              </a:rPr>
              <a:t>TLS暗号化DB・日次暗号化バックアップ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1737360"/>
            <a:ext cx="2651760" cy="1371600"/>
          </a:xfrm>
          <a:prstGeom prst="rect">
            <a:avLst/>
          </a:prstGeom>
          <a:solidFill>
            <a:srgbClr val="F2F5F2"/>
          </a:solidFill>
          <a:ln w="9525">
            <a:solidFill>
              <a:srgbClr val="C9D0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82880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B01729"/>
                </a:solidFill>
                <a:latin typeface="Segoe UI"/>
              </a:rPr>
              <a:t>Cloudflare R2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286000"/>
            <a:ext cx="26517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7181B"/>
                </a:solidFill>
                <a:latin typeface="Yu Gothic UI"/>
              </a:rPr>
              <a:t>商品画像ストレージ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74720"/>
            <a:ext cx="1097280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TypeScript / React / tRPC / Drizzle ORM — 型安全なフルスタック、自社保有のソースコード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Бүх эх код өөрийн өмч, нэг репозитори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自動テスト 935件（実DB統合テスト含む）、CIで型検査・Lint・DBテストを毎回実行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935 автомат тест, CI бүрт DB тест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ワンコマンド・デプロイ（約3分、ヘルスチェック付き）、独立したステージング環境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Нэг командаар deploy, тусдаа staging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稼働監視（10分ごと）、エラートラッキング、暗号化バックアップ30日保持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Uptime хяналт, алдааны бүртгэл, 30 хоногийн backup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7181B"/>
                </a:solidFill>
                <a:latin typeface="Yu Gothic UI"/>
              </a:rPr>
              <a:t>セキュリティと法令対応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45958"/>
                </a:solidFill>
                <a:latin typeface="Segoe UI"/>
              </a:rPr>
              <a:t>Аюулгүй байдал, хуулийн нийцэл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Yu Gothic UI"/>
              </a:rPr>
              <a:t>SUGI ASAYAKE Mongolia · 2026年9月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66928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SQLインジェクション対策（全クエリをバインド、sqlmap検証済み）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SQL injection боломжгүй — sqlmap-аар шалгасан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CSRF・CSP・Secure Cookie・レート制限・スキャナーボット遮断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CSRF, CSP, rate limit, бот блок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管理画面は電話OTP＋顔認証、25分無操作でロック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Admin: OTP + царай, idle lock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決済コールバックを信用せず、必ず再照会（二重支払い・過少支払い対策）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Төлбөрийг заавал дахин шалгана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48640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モンゴル個人情報保護法に沿ったプライバシーポリシー、退会・データ削除機能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Хувийн мэдээлэл хамгаалах хуульд нийцсэн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多言語の不適切コメント自動フィルター、画像の安全性チェック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Олон хэлний хараалын шүүлт, зургийн шүүлт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注文・在庫・ストアクレジットは原子的に処理（二重注文・在庫ズレ防止）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Захиалга/нөөц/зээл атомик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すべての在庫変動を台帳に記録、ズレを自動検知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Нөөцийн ledger, зөрүү автомат илрүүлэлт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7181B"/>
                </a:solidFill>
                <a:latin typeface="Yu Gothic UI"/>
              </a:rPr>
              <a:t>現状の数字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45958"/>
                </a:solidFill>
                <a:latin typeface="Segoe UI"/>
              </a:rPr>
              <a:t>Одоогийн тоо баримт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Yu Gothic UI"/>
              </a:rPr>
              <a:t>SUGI ASAYAKE Mongolia · 2026年9月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651760" cy="146304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B01729"/>
                </a:solidFill>
                <a:latin typeface="Segoe UI"/>
              </a:rPr>
              <a:t>980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7181B"/>
                </a:solidFill>
                <a:latin typeface="Yu Gothic UI"/>
              </a:rPr>
              <a:t>掲載商品数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Нийтлэгдсэн бараа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737360"/>
            <a:ext cx="2651760" cy="146304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20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B01729"/>
                </a:solidFill>
                <a:latin typeface="Segoe UI"/>
              </a:rPr>
              <a:t>4 + 1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51460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7181B"/>
                </a:solidFill>
                <a:latin typeface="Yu Gothic UI"/>
              </a:rPr>
              <a:t>店舗 + 倉庫在庫管理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78892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Салбар + агуулах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59" y="1737360"/>
            <a:ext cx="2651760" cy="146304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874520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B01729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51460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7181B"/>
                </a:solidFill>
                <a:latin typeface="Yu Gothic UI"/>
              </a:rPr>
              <a:t>対応言語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78892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Хэл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19" y="1737360"/>
            <a:ext cx="2651760" cy="146304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1874520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B01729"/>
                </a:solidFill>
                <a:latin typeface="Segoe UI"/>
              </a:rPr>
              <a:t>935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51460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7181B"/>
                </a:solidFill>
                <a:latin typeface="Yu Gothic UI"/>
              </a:rPr>
              <a:t>自動テスト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78892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Автомат тест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74720"/>
            <a:ext cx="2651760" cy="146304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11880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B01729"/>
                </a:solidFill>
                <a:latin typeface="Segoe UI"/>
              </a:rPr>
              <a:t>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5196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7181B"/>
                </a:solidFill>
                <a:latin typeface="Yu Gothic UI"/>
              </a:rPr>
              <a:t>データベーステーブル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262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Хүснэгт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3474720"/>
            <a:ext cx="2651760" cy="146304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29000" y="3611880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B01729"/>
                </a:solidFill>
                <a:latin typeface="Segoe UI"/>
              </a:rPr>
              <a:t>&lt; 0.2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25196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7181B"/>
                </a:solidFill>
                <a:latin typeface="Yu Gothic UI"/>
              </a:rPr>
              <a:t>主要ページの応答（東京DC）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5262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Хуудасны хариу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3474720"/>
            <a:ext cx="2651760" cy="146304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3611880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B01729"/>
                </a:solidFill>
                <a:latin typeface="Segoe UI"/>
              </a:rPr>
              <a:t>30日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425196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7181B"/>
                </a:solidFill>
                <a:latin typeface="Yu Gothic UI"/>
              </a:rPr>
              <a:t>暗号化バックアップ保持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45262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Backup хадгалалт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19" y="3474720"/>
            <a:ext cx="2651760" cy="146304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19" y="3611880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>
                <a:solidFill>
                  <a:srgbClr val="B01729"/>
                </a:solidFill>
                <a:latin typeface="Segoe U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19" y="425196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7181B"/>
                </a:solidFill>
                <a:latin typeface="Yu Gothic UI"/>
              </a:rPr>
              <a:t>WCAG AA コントラスト違反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19" y="45262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Контрастын алдаа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45958"/>
                </a:solidFill>
                <a:latin typeface="Yu Gothic UI"/>
              </a:rPr>
              <a:t>数値はすべて2026年9月14日時点の本番システムで計測。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Бүх тоо 2026-09-14-ний бодит систем дээр хэмжигдсэн.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0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601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7181B"/>
                </a:solidFill>
                <a:latin typeface="Yu Gothic UI"/>
              </a:rPr>
              <a:t>ロードマップと、ご協力いただきたいこと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45958"/>
                </a:solidFill>
                <a:latin typeface="Segoe UI"/>
              </a:rPr>
              <a:t>Дараагийн алхам, хамтын ажиллагаа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36576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Yu Gothic UI"/>
              </a:rPr>
              <a:t>SUGI ASAYAKE Mongolia · 2026年9月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66928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QPay・StorePay の本番接続、電子領収書（eBarimt）の連携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QPay/StorePay, eBarimt амьд холболт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配送パートナー契約、自社ドメイン、全商品の写真撮影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Хүргэлтийн гэрээ, өөрийн домэйн, барааны зураг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Google・Meta 広告計測の開始、レビュー特典・紹介プログラム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Зар сурталчилгааны хэмжилт, referral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■ 本社在庫・商品データとのAPI連携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45958"/>
                </a:solidFill>
                <a:latin typeface="Segoe UI"/>
              </a:rPr>
              <a:t>　Япон талын бараа/нөөцийн өгөгдөлтэй холболт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303520" cy="4297680"/>
          </a:xfrm>
          <a:prstGeom prst="rect">
            <a:avLst/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84632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B01729"/>
                </a:solidFill>
                <a:latin typeface="Yu Gothic UI"/>
              </a:rPr>
              <a:t>日本側へのお願い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7181B"/>
                </a:solidFill>
                <a:latin typeface="Yu Gothic UI"/>
              </a:rPr>
              <a:t>・商品マスター（成分・内容量・使用期限）のデータ提供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　Барааны мэдээллийн сан (найрлага, хэмжээ, хугацаа)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7181B"/>
                </a:solidFill>
                <a:latin typeface="Yu Gothic UI"/>
              </a:rPr>
              <a:t>・日本語商品説明と公式画像の利用許諾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　Япон тайлбар, албан ёсны зураг ашиглах зөвшөөрөл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7181B"/>
                </a:solidFill>
                <a:latin typeface="Yu Gothic UI"/>
              </a:rPr>
              <a:t>・物流・決済の立ち上げに向けた投資と提携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45958"/>
                </a:solidFill>
                <a:latin typeface="Segoe UI"/>
              </a:rPr>
              <a:t>　Логистик, төлбөрийн нэвтрүүлэлтэд хөрөнгө оруулалт, хамтын ажиллагаа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7181B"/>
                </a:solidFill>
                <a:latin typeface="Segoe U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181B"/>
                </a:solidFill>
                <a:latin typeface="Yu Gothic UI"/>
              </a:rPr>
              <a:t>ご清聴ありがとうございました。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