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5.png"/><Relationship Id="rId6" Type="http://schemas.openxmlformats.org/officeDocument/2006/relationships/image" Target="../media/image9.png"/><Relationship Id="rId7" Type="http://schemas.openxmlformats.org/officeDocument/2006/relationships/image" Target="../media/image24.png"/><Relationship Id="rId8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5.png"/><Relationship Id="rId6" Type="http://schemas.openxmlformats.org/officeDocument/2006/relationships/image" Target="../media/image9.png"/><Relationship Id="rId7" Type="http://schemas.openxmlformats.org/officeDocument/2006/relationships/image" Target="../media/image24.png"/><Relationship Id="rId8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5.png"/><Relationship Id="rId6" Type="http://schemas.openxmlformats.org/officeDocument/2006/relationships/image" Target="../media/image9.png"/><Relationship Id="rId7" Type="http://schemas.openxmlformats.org/officeDocument/2006/relationships/image" Target="../media/image24.png"/><Relationship Id="rId8" Type="http://schemas.openxmlformats.org/officeDocument/2006/relationships/image" Target="../media/image3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5.png"/><Relationship Id="rId6" Type="http://schemas.openxmlformats.org/officeDocument/2006/relationships/image" Target="../media/image9.png"/><Relationship Id="rId7" Type="http://schemas.openxmlformats.org/officeDocument/2006/relationships/image" Target="../media/image24.png"/><Relationship Id="rId8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2.png"/><Relationship Id="rId4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2.png"/><Relationship Id="rId4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2.png"/><Relationship Id="rId4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4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4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4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33.png"/><Relationship Id="rId6" Type="http://schemas.openxmlformats.org/officeDocument/2006/relationships/image" Target="../media/image27.png"/><Relationship Id="rId7" Type="http://schemas.openxmlformats.org/officeDocument/2006/relationships/image" Target="../media/image35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33.png"/><Relationship Id="rId6" Type="http://schemas.openxmlformats.org/officeDocument/2006/relationships/image" Target="../media/image27.png"/><Relationship Id="rId7" Type="http://schemas.openxmlformats.org/officeDocument/2006/relationships/image" Target="../media/image35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33.png"/><Relationship Id="rId6" Type="http://schemas.openxmlformats.org/officeDocument/2006/relationships/image" Target="../media/image27.png"/><Relationship Id="rId7" Type="http://schemas.openxmlformats.org/officeDocument/2006/relationships/image" Target="../media/image35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1.png"/><Relationship Id="rId4" Type="http://schemas.openxmlformats.org/officeDocument/2006/relationships/image" Target="../media/image25.png"/><Relationship Id="rId5" Type="http://schemas.openxmlformats.org/officeDocument/2006/relationships/image" Target="../media/image41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17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18.png"/><Relationship Id="rId15" Type="http://schemas.openxmlformats.org/officeDocument/2006/relationships/image" Target="../media/image47.png"/><Relationship Id="rId16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1.png"/><Relationship Id="rId4" Type="http://schemas.openxmlformats.org/officeDocument/2006/relationships/image" Target="../media/image25.png"/><Relationship Id="rId5" Type="http://schemas.openxmlformats.org/officeDocument/2006/relationships/image" Target="../media/image41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17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18.png"/><Relationship Id="rId15" Type="http://schemas.openxmlformats.org/officeDocument/2006/relationships/image" Target="../media/image47.png"/><Relationship Id="rId16" Type="http://schemas.openxmlformats.org/officeDocument/2006/relationships/image" Target="../media/image2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1.png"/><Relationship Id="rId4" Type="http://schemas.openxmlformats.org/officeDocument/2006/relationships/image" Target="../media/image25.png"/><Relationship Id="rId5" Type="http://schemas.openxmlformats.org/officeDocument/2006/relationships/image" Target="../media/image41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17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18.png"/><Relationship Id="rId15" Type="http://schemas.openxmlformats.org/officeDocument/2006/relationships/image" Target="../media/image47.png"/><Relationship Id="rId16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1.png"/><Relationship Id="rId4" Type="http://schemas.openxmlformats.org/officeDocument/2006/relationships/image" Target="../media/image25.png"/><Relationship Id="rId5" Type="http://schemas.openxmlformats.org/officeDocument/2006/relationships/image" Target="../media/image41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17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18.png"/><Relationship Id="rId15" Type="http://schemas.openxmlformats.org/officeDocument/2006/relationships/image" Target="../media/image47.png"/><Relationship Id="rId16" Type="http://schemas.openxmlformats.org/officeDocument/2006/relationships/image" Target="../media/image2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1.png"/><Relationship Id="rId4" Type="http://schemas.openxmlformats.org/officeDocument/2006/relationships/image" Target="../media/image25.png"/><Relationship Id="rId5" Type="http://schemas.openxmlformats.org/officeDocument/2006/relationships/image" Target="../media/image41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17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18.png"/><Relationship Id="rId15" Type="http://schemas.openxmlformats.org/officeDocument/2006/relationships/image" Target="../media/image47.png"/><Relationship Id="rId16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1.png"/><Relationship Id="rId4" Type="http://schemas.openxmlformats.org/officeDocument/2006/relationships/image" Target="../media/image25.png"/><Relationship Id="rId5" Type="http://schemas.openxmlformats.org/officeDocument/2006/relationships/image" Target="../media/image41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17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18.png"/><Relationship Id="rId15" Type="http://schemas.openxmlformats.org/officeDocument/2006/relationships/image" Target="../media/image47.png"/><Relationship Id="rId16" Type="http://schemas.openxmlformats.org/officeDocument/2006/relationships/image" Target="../media/image2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5.png"/><Relationship Id="rId4" Type="http://schemas.openxmlformats.org/officeDocument/2006/relationships/image" Target="../media/image51.png"/><Relationship Id="rId5" Type="http://schemas.openxmlformats.org/officeDocument/2006/relationships/image" Target="../media/image31.png"/><Relationship Id="rId6" Type="http://schemas.openxmlformats.org/officeDocument/2006/relationships/image" Target="../media/image26.png"/><Relationship Id="rId7" Type="http://schemas.openxmlformats.org/officeDocument/2006/relationships/image" Target="../media/image36.png"/><Relationship Id="rId8" Type="http://schemas.openxmlformats.org/officeDocument/2006/relationships/image" Target="../media/image3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5.png"/><Relationship Id="rId4" Type="http://schemas.openxmlformats.org/officeDocument/2006/relationships/image" Target="../media/image51.png"/><Relationship Id="rId5" Type="http://schemas.openxmlformats.org/officeDocument/2006/relationships/image" Target="../media/image31.png"/><Relationship Id="rId6" Type="http://schemas.openxmlformats.org/officeDocument/2006/relationships/image" Target="../media/image26.png"/><Relationship Id="rId7" Type="http://schemas.openxmlformats.org/officeDocument/2006/relationships/image" Target="../media/image36.png"/><Relationship Id="rId8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6.png"/><Relationship Id="rId4" Type="http://schemas.openxmlformats.org/officeDocument/2006/relationships/image" Target="../media/image37.png"/><Relationship Id="rId5" Type="http://schemas.openxmlformats.org/officeDocument/2006/relationships/image" Target="../media/image57.png"/><Relationship Id="rId6" Type="http://schemas.openxmlformats.org/officeDocument/2006/relationships/image" Target="../media/image26.png"/><Relationship Id="rId7" Type="http://schemas.openxmlformats.org/officeDocument/2006/relationships/image" Target="../media/image2.png"/><Relationship Id="rId8" Type="http://schemas.openxmlformats.org/officeDocument/2006/relationships/image" Target="../media/image1.png"/><Relationship Id="rId9" Type="http://schemas.openxmlformats.org/officeDocument/2006/relationships/image" Target="../media/image5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Relationship Id="rId14" Type="http://schemas.openxmlformats.org/officeDocument/2006/relationships/image" Target="../media/image52.png"/><Relationship Id="rId15" Type="http://schemas.openxmlformats.org/officeDocument/2006/relationships/image" Target="../media/image5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6.png"/><Relationship Id="rId4" Type="http://schemas.openxmlformats.org/officeDocument/2006/relationships/image" Target="../media/image37.png"/><Relationship Id="rId5" Type="http://schemas.openxmlformats.org/officeDocument/2006/relationships/image" Target="../media/image57.png"/><Relationship Id="rId6" Type="http://schemas.openxmlformats.org/officeDocument/2006/relationships/image" Target="../media/image26.png"/><Relationship Id="rId7" Type="http://schemas.openxmlformats.org/officeDocument/2006/relationships/image" Target="../media/image2.png"/><Relationship Id="rId8" Type="http://schemas.openxmlformats.org/officeDocument/2006/relationships/image" Target="../media/image1.png"/><Relationship Id="rId9" Type="http://schemas.openxmlformats.org/officeDocument/2006/relationships/image" Target="../media/image5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Relationship Id="rId14" Type="http://schemas.openxmlformats.org/officeDocument/2006/relationships/image" Target="../media/image52.png"/><Relationship Id="rId15" Type="http://schemas.openxmlformats.org/officeDocument/2006/relationships/image" Target="../media/image5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6.png"/><Relationship Id="rId4" Type="http://schemas.openxmlformats.org/officeDocument/2006/relationships/image" Target="../media/image37.png"/><Relationship Id="rId5" Type="http://schemas.openxmlformats.org/officeDocument/2006/relationships/image" Target="../media/image57.png"/><Relationship Id="rId6" Type="http://schemas.openxmlformats.org/officeDocument/2006/relationships/image" Target="../media/image26.png"/><Relationship Id="rId7" Type="http://schemas.openxmlformats.org/officeDocument/2006/relationships/image" Target="../media/image2.png"/><Relationship Id="rId8" Type="http://schemas.openxmlformats.org/officeDocument/2006/relationships/image" Target="../media/image1.png"/><Relationship Id="rId9" Type="http://schemas.openxmlformats.org/officeDocument/2006/relationships/image" Target="../media/image5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Relationship Id="rId14" Type="http://schemas.openxmlformats.org/officeDocument/2006/relationships/image" Target="../media/image52.png"/><Relationship Id="rId15" Type="http://schemas.openxmlformats.org/officeDocument/2006/relationships/image" Target="../media/image5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34.png"/><Relationship Id="rId6" Type="http://schemas.openxmlformats.org/officeDocument/2006/relationships/image" Target="../media/image38.png"/><Relationship Id="rId7" Type="http://schemas.openxmlformats.org/officeDocument/2006/relationships/image" Target="../media/image33.png"/><Relationship Id="rId8" Type="http://schemas.openxmlformats.org/officeDocument/2006/relationships/image" Target="../media/image15.png"/><Relationship Id="rId9" Type="http://schemas.openxmlformats.org/officeDocument/2006/relationships/image" Target="../media/image26.png"/><Relationship Id="rId10" Type="http://schemas.openxmlformats.org/officeDocument/2006/relationships/image" Target="../media/image3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34.png"/><Relationship Id="rId6" Type="http://schemas.openxmlformats.org/officeDocument/2006/relationships/image" Target="../media/image38.png"/><Relationship Id="rId7" Type="http://schemas.openxmlformats.org/officeDocument/2006/relationships/image" Target="../media/image33.png"/><Relationship Id="rId8" Type="http://schemas.openxmlformats.org/officeDocument/2006/relationships/image" Target="../media/image15.png"/><Relationship Id="rId9" Type="http://schemas.openxmlformats.org/officeDocument/2006/relationships/image" Target="../media/image26.png"/><Relationship Id="rId10" Type="http://schemas.openxmlformats.org/officeDocument/2006/relationships/image" Target="../media/image3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9.png"/><Relationship Id="rId4" Type="http://schemas.openxmlformats.org/officeDocument/2006/relationships/image" Target="../media/image46.png"/><Relationship Id="rId5" Type="http://schemas.openxmlformats.org/officeDocument/2006/relationships/image" Target="../media/image48.png"/><Relationship Id="rId6" Type="http://schemas.openxmlformats.org/officeDocument/2006/relationships/image" Target="../media/image53.png"/><Relationship Id="rId7" Type="http://schemas.openxmlformats.org/officeDocument/2006/relationships/image" Target="../media/image45.png"/><Relationship Id="rId8" Type="http://schemas.openxmlformats.org/officeDocument/2006/relationships/image" Target="../media/image20.png"/><Relationship Id="rId9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9.png"/><Relationship Id="rId4" Type="http://schemas.openxmlformats.org/officeDocument/2006/relationships/image" Target="../media/image46.png"/><Relationship Id="rId5" Type="http://schemas.openxmlformats.org/officeDocument/2006/relationships/image" Target="../media/image48.png"/><Relationship Id="rId6" Type="http://schemas.openxmlformats.org/officeDocument/2006/relationships/image" Target="../media/image53.png"/><Relationship Id="rId7" Type="http://schemas.openxmlformats.org/officeDocument/2006/relationships/image" Target="../media/image45.png"/><Relationship Id="rId8" Type="http://schemas.openxmlformats.org/officeDocument/2006/relationships/image" Target="../media/image20.png"/><Relationship Id="rId9" Type="http://schemas.openxmlformats.org/officeDocument/2006/relationships/image" Target="../media/image4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9.png"/><Relationship Id="rId4" Type="http://schemas.openxmlformats.org/officeDocument/2006/relationships/image" Target="../media/image46.png"/><Relationship Id="rId5" Type="http://schemas.openxmlformats.org/officeDocument/2006/relationships/image" Target="../media/image48.png"/><Relationship Id="rId6" Type="http://schemas.openxmlformats.org/officeDocument/2006/relationships/image" Target="../media/image53.png"/><Relationship Id="rId7" Type="http://schemas.openxmlformats.org/officeDocument/2006/relationships/image" Target="../media/image45.png"/><Relationship Id="rId8" Type="http://schemas.openxmlformats.org/officeDocument/2006/relationships/image" Target="../media/image20.png"/><Relationship Id="rId9" Type="http://schemas.openxmlformats.org/officeDocument/2006/relationships/image" Target="../media/image4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BE9DC"/>
              </a:gs>
            </a:gsLst>
            <a:lin scaled="0" ang="198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un-glow"/>
          <p:cNvSpPr/>
          <p:nvPr/>
        </p:nvSpPr>
        <p:spPr>
          <a:xfrm>
            <a:off x="7543800" y="3657600"/>
            <a:ext cx="4389120" cy="4389120"/>
          </a:xfrm>
          <a:prstGeom prst="ellipse">
            <a:avLst/>
          </a:prstGeom>
          <a:solidFill>
            <a:srgbClr val="F9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un"/>
          <p:cNvSpPr/>
          <p:nvPr/>
        </p:nvSpPr>
        <p:spPr>
          <a:xfrm>
            <a:off x="8092440" y="4206240"/>
            <a:ext cx="3291840" cy="3291840"/>
          </a:xfrm>
          <a:prstGeom prst="ellipse">
            <a:avLst/>
          </a:prstGeom>
          <a:gradFill rotWithShape="1">
            <a:gsLst>
              <a:gs pos="0">
                <a:srgbClr val="B3122B"/>
              </a:gs>
              <a:gs pos="100000">
                <a:srgbClr val="E4572E"/>
              </a:gs>
            </a:gsLst>
            <a:lin scaled="0" ang="18000000"/>
          </a:gradFill>
          <a:ln>
            <a:noFill/>
          </a:ln>
          <a:effectLst>
            <a:outerShdw blurRad="889000" dist="127000" dir="5400000" algn="ctr" rotWithShape="0">
              <a:srgbClr val="1A14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an0-tile"/>
          <p:cNvSpPr/>
          <p:nvPr/>
        </p:nvSpPr>
        <p:spPr>
          <a:xfrm rot="21060000">
            <a:off x="7635240" y="11475720"/>
            <a:ext cx="1600200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fan0-img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060000">
            <a:off x="7763256" y="11603736"/>
            <a:ext cx="1344168" cy="1344168"/>
          </a:xfrm>
          <a:prstGeom prst="rect">
            <a:avLst/>
          </a:prstGeom>
        </p:spPr>
      </p:pic>
      <p:sp>
        <p:nvSpPr>
          <p:cNvPr id="7" name="fan1-tile"/>
          <p:cNvSpPr/>
          <p:nvPr/>
        </p:nvSpPr>
        <p:spPr>
          <a:xfrm rot="21420000">
            <a:off x="8915400" y="10927080"/>
            <a:ext cx="17830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an1-img" descr="s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9058046" y="11069726"/>
            <a:ext cx="1497788" cy="1497788"/>
          </a:xfrm>
          <a:prstGeom prst="rect">
            <a:avLst/>
          </a:prstGeom>
        </p:spPr>
      </p:pic>
      <p:sp>
        <p:nvSpPr>
          <p:cNvPr id="9" name="fan2-tile"/>
          <p:cNvSpPr/>
          <p:nvPr/>
        </p:nvSpPr>
        <p:spPr>
          <a:xfrm rot="420000">
            <a:off x="10378440" y="11338560"/>
            <a:ext cx="1600200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fan2-img" descr="s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20000">
            <a:off x="10506456" y="11466576"/>
            <a:ext cx="1344168" cy="1344168"/>
          </a:xfrm>
          <a:prstGeom prst="rect">
            <a:avLst/>
          </a:prstGeom>
        </p:spPr>
      </p:pic>
      <p:sp>
        <p:nvSpPr>
          <p:cNvPr id="11" name="fan3-tile"/>
          <p:cNvSpPr/>
          <p:nvPr/>
        </p:nvSpPr>
        <p:spPr>
          <a:xfrm rot="300000">
            <a:off x="8092440" y="12755880"/>
            <a:ext cx="141732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fan3-img" descr="s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00000">
            <a:off x="8205825" y="12869265"/>
            <a:ext cx="1190550" cy="1190550"/>
          </a:xfrm>
          <a:prstGeom prst="rect">
            <a:avLst/>
          </a:prstGeom>
        </p:spPr>
      </p:pic>
      <p:sp>
        <p:nvSpPr>
          <p:cNvPr id="13" name="fan4-tile"/>
          <p:cNvSpPr/>
          <p:nvPr/>
        </p:nvSpPr>
        <p:spPr>
          <a:xfrm rot="21360000">
            <a:off x="9646920" y="12481560"/>
            <a:ext cx="1691640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fan4-img" descr="s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360000">
            <a:off x="9782251" y="12616891"/>
            <a:ext cx="1420978" cy="1420978"/>
          </a:xfrm>
          <a:prstGeom prst="rect">
            <a:avLst/>
          </a:prstGeom>
        </p:spPr>
      </p:pic>
      <p:pic>
        <p:nvPicPr>
          <p:cNvPr id="15" name="logo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640080"/>
            <a:ext cx="2834640" cy="426508"/>
          </a:xfrm>
          <a:prstGeom prst="rect">
            <a:avLst/>
          </a:prstGeom>
        </p:spPr>
      </p:pic>
      <p:sp>
        <p:nvSpPr>
          <p:cNvPr id="16" name="vert"/>
          <p:cNvSpPr txBox="1"/>
          <p:nvPr/>
        </p:nvSpPr>
        <p:spPr>
          <a:xfrm>
            <a:off x="11475720" y="502920"/>
            <a:ext cx="502920" cy="4206240"/>
          </a:xfrm>
          <a:prstGeom prst="rect">
            <a:avLst/>
          </a:prstGeom>
          <a:noFill/>
        </p:spPr>
        <p:txBody>
          <a:bodyPr wrap="square" anchor="t" lIns="36576" rIns="36576" tIns="18288" bIns="18288" vert="eaVer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3122B"/>
                </a:solidFill>
                <a:latin typeface="Yu Mincho Demibold"/>
              </a:rPr>
              <a:t>朝焼けのように、毎日に新しい光を</a:t>
            </a:r>
          </a:p>
        </p:txBody>
      </p:sp>
      <p:sp>
        <p:nvSpPr>
          <p:cNvPr id="17" name="rule"/>
          <p:cNvSpPr/>
          <p:nvPr/>
        </p:nvSpPr>
        <p:spPr>
          <a:xfrm>
            <a:off x="0" y="6172200"/>
            <a:ext cx="12191695" cy="64008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icker"/>
          <p:cNvSpPr txBox="1"/>
          <p:nvPr/>
        </p:nvSpPr>
        <p:spPr>
          <a:xfrm>
            <a:off x="-11978640" y="1828800"/>
            <a:ext cx="69494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3122B"/>
                </a:solidFill>
                <a:latin typeface="Segoe UI"/>
              </a:rPr>
              <a:t>SUGI ASAYAKE ONLINE STORE</a:t>
            </a:r>
          </a:p>
        </p:txBody>
      </p:sp>
      <p:sp>
        <p:nvSpPr>
          <p:cNvPr id="19" name="title"/>
          <p:cNvSpPr txBox="1"/>
          <p:nvPr/>
        </p:nvSpPr>
        <p:spPr>
          <a:xfrm>
            <a:off x="-11978640" y="2240280"/>
            <a:ext cx="713232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0">
                <a:solidFill>
                  <a:srgbClr val="14161A"/>
                </a:solidFill>
                <a:latin typeface="Yu Mincho Demibold"/>
              </a:rPr>
              <a:t>日本品質を、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0">
                <a:solidFill>
                  <a:srgbClr val="14161A"/>
                </a:solidFill>
                <a:latin typeface="Yu Mincho Demibold"/>
              </a:rPr>
              <a:t>モンゴルのすべての家庭へ。</a:t>
            </a:r>
          </a:p>
        </p:txBody>
      </p:sp>
      <p:sp>
        <p:nvSpPr>
          <p:cNvPr id="20" name="sub"/>
          <p:cNvSpPr txBox="1"/>
          <p:nvPr/>
        </p:nvSpPr>
        <p:spPr>
          <a:xfrm>
            <a:off x="-11978640" y="4251960"/>
            <a:ext cx="67665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076"/>
                </a:solidFill>
                <a:latin typeface="Segoe UI"/>
              </a:rPr>
              <a:t>Япон чанарыг Монголын гэр бүл бүрт — онлайн дэлгүүрийн танилцуулга</a:t>
            </a:r>
          </a:p>
        </p:txBody>
      </p:sp>
      <p:sp>
        <p:nvSpPr>
          <p:cNvPr id="21" name="meta"/>
          <p:cNvSpPr txBox="1"/>
          <p:nvPr/>
        </p:nvSpPr>
        <p:spPr>
          <a:xfrm>
            <a:off x="-11978640" y="5120640"/>
            <a:ext cx="67665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Yu Gothic UI"/>
              </a:rPr>
              <a:t>2026年9月 · 事業説明資料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076"/>
                </a:solidFill>
                <a:latin typeface="Segoe UI"/>
              </a:rPr>
              <a:t>Батмагнай Мөнхтөвшин · SUGI ASAYAKE Mongolia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BE9DC"/>
              </a:gs>
            </a:gsLst>
            <a:lin scaled="0" ang="198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un-glow"/>
          <p:cNvSpPr/>
          <p:nvPr/>
        </p:nvSpPr>
        <p:spPr>
          <a:xfrm>
            <a:off x="7543800" y="137160"/>
            <a:ext cx="4389120" cy="4389120"/>
          </a:xfrm>
          <a:prstGeom prst="ellipse">
            <a:avLst/>
          </a:prstGeom>
          <a:solidFill>
            <a:srgbClr val="F9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un"/>
          <p:cNvSpPr/>
          <p:nvPr/>
        </p:nvSpPr>
        <p:spPr>
          <a:xfrm>
            <a:off x="8092440" y="685800"/>
            <a:ext cx="3291840" cy="3291840"/>
          </a:xfrm>
          <a:prstGeom prst="ellipse">
            <a:avLst/>
          </a:prstGeom>
          <a:gradFill rotWithShape="1">
            <a:gsLst>
              <a:gs pos="0">
                <a:srgbClr val="B3122B"/>
              </a:gs>
              <a:gs pos="100000">
                <a:srgbClr val="E4572E"/>
              </a:gs>
            </a:gsLst>
            <a:lin scaled="0" ang="18000000"/>
          </a:gradFill>
          <a:ln>
            <a:noFill/>
          </a:ln>
          <a:effectLst>
            <a:outerShdw blurRad="889000" dist="127000" dir="5400000" algn="ctr" rotWithShape="0">
              <a:srgbClr val="1A14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an0-tile"/>
          <p:cNvSpPr/>
          <p:nvPr/>
        </p:nvSpPr>
        <p:spPr>
          <a:xfrm rot="21060000">
            <a:off x="7635240" y="3246120"/>
            <a:ext cx="1600200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fan0-img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060000">
            <a:off x="7763256" y="3374136"/>
            <a:ext cx="1344168" cy="1344168"/>
          </a:xfrm>
          <a:prstGeom prst="rect">
            <a:avLst/>
          </a:prstGeom>
        </p:spPr>
      </p:pic>
      <p:sp>
        <p:nvSpPr>
          <p:cNvPr id="7" name="fan1-tile"/>
          <p:cNvSpPr/>
          <p:nvPr/>
        </p:nvSpPr>
        <p:spPr>
          <a:xfrm rot="21420000">
            <a:off x="8915400" y="2697480"/>
            <a:ext cx="17830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an1-img" descr="s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9058046" y="2840126"/>
            <a:ext cx="1497788" cy="1497788"/>
          </a:xfrm>
          <a:prstGeom prst="rect">
            <a:avLst/>
          </a:prstGeom>
        </p:spPr>
      </p:pic>
      <p:sp>
        <p:nvSpPr>
          <p:cNvPr id="9" name="fan2-tile"/>
          <p:cNvSpPr/>
          <p:nvPr/>
        </p:nvSpPr>
        <p:spPr>
          <a:xfrm rot="420000">
            <a:off x="10378440" y="3108960"/>
            <a:ext cx="1600200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fan2-img" descr="s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20000">
            <a:off x="10506456" y="3236976"/>
            <a:ext cx="1344168" cy="1344168"/>
          </a:xfrm>
          <a:prstGeom prst="rect">
            <a:avLst/>
          </a:prstGeom>
        </p:spPr>
      </p:pic>
      <p:sp>
        <p:nvSpPr>
          <p:cNvPr id="11" name="fan3-tile"/>
          <p:cNvSpPr/>
          <p:nvPr/>
        </p:nvSpPr>
        <p:spPr>
          <a:xfrm rot="300000">
            <a:off x="8092440" y="4526280"/>
            <a:ext cx="141732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fan3-img" descr="s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00000">
            <a:off x="8205825" y="4639665"/>
            <a:ext cx="1190550" cy="1190550"/>
          </a:xfrm>
          <a:prstGeom prst="rect">
            <a:avLst/>
          </a:prstGeom>
        </p:spPr>
      </p:pic>
      <p:sp>
        <p:nvSpPr>
          <p:cNvPr id="13" name="fan4-tile"/>
          <p:cNvSpPr/>
          <p:nvPr/>
        </p:nvSpPr>
        <p:spPr>
          <a:xfrm rot="21360000">
            <a:off x="9646920" y="4251960"/>
            <a:ext cx="1691640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fan4-img" descr="s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360000">
            <a:off x="9782251" y="4387291"/>
            <a:ext cx="1420978" cy="1420978"/>
          </a:xfrm>
          <a:prstGeom prst="rect">
            <a:avLst/>
          </a:prstGeom>
        </p:spPr>
      </p:pic>
      <p:pic>
        <p:nvPicPr>
          <p:cNvPr id="15" name="logo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640080"/>
            <a:ext cx="2834640" cy="426508"/>
          </a:xfrm>
          <a:prstGeom prst="rect">
            <a:avLst/>
          </a:prstGeom>
        </p:spPr>
      </p:pic>
      <p:sp>
        <p:nvSpPr>
          <p:cNvPr id="16" name="vert"/>
          <p:cNvSpPr txBox="1"/>
          <p:nvPr/>
        </p:nvSpPr>
        <p:spPr>
          <a:xfrm>
            <a:off x="11475720" y="502920"/>
            <a:ext cx="502920" cy="4206240"/>
          </a:xfrm>
          <a:prstGeom prst="rect">
            <a:avLst/>
          </a:prstGeom>
          <a:noFill/>
        </p:spPr>
        <p:txBody>
          <a:bodyPr wrap="square" anchor="t" lIns="36576" rIns="36576" tIns="18288" bIns="18288" vert="eaVer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3122B"/>
                </a:solidFill>
                <a:latin typeface="Yu Mincho Demibold"/>
              </a:rPr>
              <a:t>朝焼けのように、毎日に新しい光を</a:t>
            </a:r>
          </a:p>
        </p:txBody>
      </p:sp>
      <p:sp>
        <p:nvSpPr>
          <p:cNvPr id="17" name="rule"/>
          <p:cNvSpPr/>
          <p:nvPr/>
        </p:nvSpPr>
        <p:spPr>
          <a:xfrm>
            <a:off x="0" y="6172200"/>
            <a:ext cx="12191695" cy="64008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icker"/>
          <p:cNvSpPr txBox="1"/>
          <p:nvPr/>
        </p:nvSpPr>
        <p:spPr>
          <a:xfrm>
            <a:off x="822960" y="1828800"/>
            <a:ext cx="69494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B3122B"/>
                </a:solidFill>
                <a:latin typeface="Segoe UI"/>
              </a:rPr>
              <a:t>SUGI ASAYAKE ONLINE STORE</a:t>
            </a:r>
          </a:p>
        </p:txBody>
      </p:sp>
      <p:sp>
        <p:nvSpPr>
          <p:cNvPr id="19" name="title"/>
          <p:cNvSpPr txBox="1"/>
          <p:nvPr/>
        </p:nvSpPr>
        <p:spPr>
          <a:xfrm>
            <a:off x="822960" y="2240280"/>
            <a:ext cx="713232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0">
                <a:solidFill>
                  <a:srgbClr val="14161A"/>
                </a:solidFill>
                <a:latin typeface="Yu Mincho Demibold"/>
              </a:rPr>
              <a:t>日本品質を、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0">
                <a:solidFill>
                  <a:srgbClr val="14161A"/>
                </a:solidFill>
                <a:latin typeface="Yu Mincho Demibold"/>
              </a:rPr>
              <a:t>モンゴルのすべての家庭へ。</a:t>
            </a:r>
          </a:p>
        </p:txBody>
      </p:sp>
      <p:sp>
        <p:nvSpPr>
          <p:cNvPr id="20" name="sub"/>
          <p:cNvSpPr txBox="1"/>
          <p:nvPr/>
        </p:nvSpPr>
        <p:spPr>
          <a:xfrm>
            <a:off x="822960" y="4251960"/>
            <a:ext cx="67665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076"/>
                </a:solidFill>
                <a:latin typeface="Segoe UI"/>
              </a:rPr>
              <a:t>Япон чанарыг Монголын гэр бүл бүрт — онлайн дэлгүүрийн танилцуулга</a:t>
            </a:r>
          </a:p>
        </p:txBody>
      </p:sp>
      <p:sp>
        <p:nvSpPr>
          <p:cNvPr id="21" name="meta"/>
          <p:cNvSpPr txBox="1"/>
          <p:nvPr/>
        </p:nvSpPr>
        <p:spPr>
          <a:xfrm>
            <a:off x="822960" y="5120640"/>
            <a:ext cx="67665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Yu Gothic UI"/>
              </a:rPr>
              <a:t>2026年9月 · 事業説明資料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076"/>
                </a:solidFill>
                <a:latin typeface="Segoe UI"/>
              </a:rPr>
              <a:t>Батмагнай Мөнхтөвшин · SUGI ASAYAKE Mongolia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機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なぜモンゴル、なぜ今か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Яагаад Монгол, яагаад одоо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02 / 16</a:t>
            </a:r>
          </a:p>
        </p:txBody>
      </p:sp>
      <p:sp>
        <p:nvSpPr>
          <p:cNvPr id="11" name="intro"/>
          <p:cNvSpPr txBox="1"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Yu Gothic UI"/>
              </a:rPr>
              <a:t>人口の半分が首都に集まり、8割超がオンライン。日本への信頼はすでに根付いている。</a:t>
            </a:r>
          </a:p>
        </p:txBody>
      </p:sp>
      <p:sp>
        <p:nvSpPr>
          <p:cNvPr id="12" name="fig0"/>
          <p:cNvSpPr/>
          <p:nvPr/>
        </p:nvSpPr>
        <p:spPr>
          <a:xfrm>
            <a:off x="548640" y="10149840"/>
            <a:ext cx="2240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ig0-bg"/>
          <p:cNvSpPr/>
          <p:nvPr/>
        </p:nvSpPr>
        <p:spPr>
          <a:xfrm>
            <a:off x="731520" y="10332720"/>
            <a:ext cx="566928" cy="566928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fig0-ic" descr="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44" y="10457444"/>
            <a:ext cx="317480" cy="317480"/>
          </a:xfrm>
          <a:prstGeom prst="rect">
            <a:avLst/>
          </a:prstGeom>
        </p:spPr>
      </p:pic>
      <p:sp>
        <p:nvSpPr>
          <p:cNvPr id="15" name="fig0-v"/>
          <p:cNvSpPr txBox="1"/>
          <p:nvPr/>
        </p:nvSpPr>
        <p:spPr>
          <a:xfrm>
            <a:off x="713232" y="10927080"/>
            <a:ext cx="196596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B3122B"/>
                </a:solidFill>
                <a:latin typeface="Segoe UI"/>
              </a:rPr>
              <a:t>350万人</a:t>
            </a:r>
          </a:p>
        </p:txBody>
      </p:sp>
      <p:sp>
        <p:nvSpPr>
          <p:cNvPr id="16" name="fig0-t"/>
          <p:cNvSpPr txBox="1"/>
          <p:nvPr/>
        </p:nvSpPr>
        <p:spPr>
          <a:xfrm>
            <a:off x="713232" y="11448288"/>
            <a:ext cx="19659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61A"/>
                </a:solidFill>
                <a:latin typeface="Yu Gothic UI"/>
              </a:rPr>
              <a:t>総人口（2025年）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Нийт хүн ам</a:t>
            </a:r>
          </a:p>
        </p:txBody>
      </p:sp>
      <p:sp>
        <p:nvSpPr>
          <p:cNvPr id="17" name="fig1"/>
          <p:cNvSpPr/>
          <p:nvPr/>
        </p:nvSpPr>
        <p:spPr>
          <a:xfrm>
            <a:off x="2944368" y="10149840"/>
            <a:ext cx="2240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ig1-bg"/>
          <p:cNvSpPr/>
          <p:nvPr/>
        </p:nvSpPr>
        <p:spPr>
          <a:xfrm>
            <a:off x="3127248" y="10332720"/>
            <a:ext cx="566928" cy="566928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fig1-ic" descr="p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972" y="10457444"/>
            <a:ext cx="317480" cy="317480"/>
          </a:xfrm>
          <a:prstGeom prst="rect">
            <a:avLst/>
          </a:prstGeom>
        </p:spPr>
      </p:pic>
      <p:sp>
        <p:nvSpPr>
          <p:cNvPr id="20" name="fig1-v"/>
          <p:cNvSpPr txBox="1"/>
          <p:nvPr/>
        </p:nvSpPr>
        <p:spPr>
          <a:xfrm>
            <a:off x="3108960" y="10927080"/>
            <a:ext cx="196596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4572E"/>
                </a:solidFill>
                <a:latin typeface="Segoe UI"/>
              </a:rPr>
              <a:t>179万人</a:t>
            </a:r>
          </a:p>
        </p:txBody>
      </p:sp>
      <p:sp>
        <p:nvSpPr>
          <p:cNvPr id="21" name="fig1-t"/>
          <p:cNvSpPr txBox="1"/>
          <p:nvPr/>
        </p:nvSpPr>
        <p:spPr>
          <a:xfrm>
            <a:off x="3108960" y="11448288"/>
            <a:ext cx="19659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61A"/>
                </a:solidFill>
                <a:latin typeface="Yu Gothic UI"/>
              </a:rPr>
              <a:t>ウランバートル人口 ＝ 全国の約半分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УБ — хүн амын тал</a:t>
            </a:r>
          </a:p>
        </p:txBody>
      </p:sp>
      <p:sp>
        <p:nvSpPr>
          <p:cNvPr id="22" name="fig2"/>
          <p:cNvSpPr/>
          <p:nvPr/>
        </p:nvSpPr>
        <p:spPr>
          <a:xfrm>
            <a:off x="5340096" y="10149840"/>
            <a:ext cx="2240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ig2-bg"/>
          <p:cNvSpPr/>
          <p:nvPr/>
        </p:nvSpPr>
        <p:spPr>
          <a:xfrm>
            <a:off x="5522976" y="10332720"/>
            <a:ext cx="566928" cy="566928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fig2-ic" descr="wif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7700" y="10457444"/>
            <a:ext cx="317480" cy="317480"/>
          </a:xfrm>
          <a:prstGeom prst="rect">
            <a:avLst/>
          </a:prstGeom>
        </p:spPr>
      </p:pic>
      <p:sp>
        <p:nvSpPr>
          <p:cNvPr id="25" name="fig2-v"/>
          <p:cNvSpPr txBox="1"/>
          <p:nvPr/>
        </p:nvSpPr>
        <p:spPr>
          <a:xfrm>
            <a:off x="5504688" y="10927080"/>
            <a:ext cx="196596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C99312"/>
                </a:solidFill>
                <a:latin typeface="Segoe UI"/>
              </a:rPr>
              <a:t>83%</a:t>
            </a:r>
          </a:p>
        </p:txBody>
      </p:sp>
      <p:sp>
        <p:nvSpPr>
          <p:cNvPr id="26" name="fig2-t"/>
          <p:cNvSpPr txBox="1"/>
          <p:nvPr/>
        </p:nvSpPr>
        <p:spPr>
          <a:xfrm>
            <a:off x="5504688" y="11448288"/>
            <a:ext cx="19659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61A"/>
                </a:solidFill>
                <a:latin typeface="Yu Gothic UI"/>
              </a:rPr>
              <a:t>インターネット普及率（2025年初）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Интернэт хэрэглээ</a:t>
            </a:r>
          </a:p>
        </p:txBody>
      </p:sp>
      <p:sp>
        <p:nvSpPr>
          <p:cNvPr id="27" name="fig3"/>
          <p:cNvSpPr/>
          <p:nvPr/>
        </p:nvSpPr>
        <p:spPr>
          <a:xfrm>
            <a:off x="548640" y="12298680"/>
            <a:ext cx="2240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ig3-bg"/>
          <p:cNvSpPr/>
          <p:nvPr/>
        </p:nvSpPr>
        <p:spPr>
          <a:xfrm>
            <a:off x="731520" y="12481560"/>
            <a:ext cx="566928" cy="566928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fig3-ic" descr="tre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244" y="12606284"/>
            <a:ext cx="317480" cy="317480"/>
          </a:xfrm>
          <a:prstGeom prst="rect">
            <a:avLst/>
          </a:prstGeom>
        </p:spPr>
      </p:pic>
      <p:sp>
        <p:nvSpPr>
          <p:cNvPr id="30" name="fig3-v"/>
          <p:cNvSpPr txBox="1"/>
          <p:nvPr/>
        </p:nvSpPr>
        <p:spPr>
          <a:xfrm>
            <a:off x="713232" y="13075920"/>
            <a:ext cx="196596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F6B4F"/>
                </a:solidFill>
                <a:latin typeface="Segoe UI"/>
              </a:rPr>
              <a:t>US$245M</a:t>
            </a:r>
          </a:p>
        </p:txBody>
      </p:sp>
      <p:sp>
        <p:nvSpPr>
          <p:cNvPr id="31" name="fig3-t"/>
          <p:cNvSpPr txBox="1"/>
          <p:nvPr/>
        </p:nvSpPr>
        <p:spPr>
          <a:xfrm>
            <a:off x="713232" y="13597128"/>
            <a:ext cx="19659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61A"/>
                </a:solidFill>
                <a:latin typeface="Yu Gothic UI"/>
              </a:rPr>
              <a:t>EC市場規模（2024年）・年率 +15〜20%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Цахим худалдааны зах зээл</a:t>
            </a:r>
          </a:p>
        </p:txBody>
      </p:sp>
      <p:sp>
        <p:nvSpPr>
          <p:cNvPr id="32" name="fig4"/>
          <p:cNvSpPr/>
          <p:nvPr/>
        </p:nvSpPr>
        <p:spPr>
          <a:xfrm>
            <a:off x="2944368" y="12298680"/>
            <a:ext cx="2240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ig4-bg"/>
          <p:cNvSpPr/>
          <p:nvPr/>
        </p:nvSpPr>
        <p:spPr>
          <a:xfrm>
            <a:off x="3127248" y="12481560"/>
            <a:ext cx="566928" cy="566928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fig4-ic" descr="he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1972" y="12606284"/>
            <a:ext cx="317480" cy="317480"/>
          </a:xfrm>
          <a:prstGeom prst="rect">
            <a:avLst/>
          </a:prstGeom>
        </p:spPr>
      </p:pic>
      <p:sp>
        <p:nvSpPr>
          <p:cNvPr id="35" name="fig4-v"/>
          <p:cNvSpPr txBox="1"/>
          <p:nvPr/>
        </p:nvSpPr>
        <p:spPr>
          <a:xfrm>
            <a:off x="3108960" y="13075920"/>
            <a:ext cx="196596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F6FB3"/>
                </a:solidFill>
                <a:latin typeface="Segoe UI"/>
              </a:rPr>
              <a:t>87%</a:t>
            </a:r>
          </a:p>
        </p:txBody>
      </p:sp>
      <p:sp>
        <p:nvSpPr>
          <p:cNvPr id="36" name="fig4-t"/>
          <p:cNvSpPr txBox="1"/>
          <p:nvPr/>
        </p:nvSpPr>
        <p:spPr>
          <a:xfrm>
            <a:off x="3108960" y="13597128"/>
            <a:ext cx="19659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61A"/>
                </a:solidFill>
                <a:latin typeface="Yu Gothic UI"/>
              </a:rPr>
              <a:t>「日本と友好的」と答えた人（外務省調査）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Японд ээлтэй гэж хариулсан</a:t>
            </a:r>
          </a:p>
        </p:txBody>
      </p:sp>
      <p:sp>
        <p:nvSpPr>
          <p:cNvPr id="37" name="fig5"/>
          <p:cNvSpPr/>
          <p:nvPr/>
        </p:nvSpPr>
        <p:spPr>
          <a:xfrm>
            <a:off x="5340096" y="12298680"/>
            <a:ext cx="2240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ig5-bg"/>
          <p:cNvSpPr/>
          <p:nvPr/>
        </p:nvSpPr>
        <p:spPr>
          <a:xfrm>
            <a:off x="5522976" y="12481560"/>
            <a:ext cx="566928" cy="566928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fig5-ic" descr="c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7700" y="12606284"/>
            <a:ext cx="317480" cy="317480"/>
          </a:xfrm>
          <a:prstGeom prst="rect">
            <a:avLst/>
          </a:prstGeom>
        </p:spPr>
      </p:pic>
      <p:sp>
        <p:nvSpPr>
          <p:cNvPr id="40" name="fig5-v"/>
          <p:cNvSpPr txBox="1"/>
          <p:nvPr/>
        </p:nvSpPr>
        <p:spPr>
          <a:xfrm>
            <a:off x="5504688" y="13075920"/>
            <a:ext cx="196596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7B4FC9"/>
                </a:solidFill>
                <a:latin typeface="Segoe UI"/>
              </a:rPr>
              <a:t>約5.5時間</a:t>
            </a:r>
          </a:p>
        </p:txBody>
      </p:sp>
      <p:sp>
        <p:nvSpPr>
          <p:cNvPr id="41" name="fig5-t"/>
          <p:cNvSpPr txBox="1"/>
          <p:nvPr/>
        </p:nvSpPr>
        <p:spPr>
          <a:xfrm>
            <a:off x="5504688" y="13597128"/>
            <a:ext cx="19659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61A"/>
                </a:solidFill>
                <a:latin typeface="Yu Gothic UI"/>
              </a:rPr>
              <a:t>東京—ウランバートル 直行便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Токио—УБ шууд нислэг</a:t>
            </a:r>
          </a:p>
        </p:txBody>
      </p:sp>
      <p:sp>
        <p:nvSpPr>
          <p:cNvPr id="42" name="route"/>
          <p:cNvSpPr/>
          <p:nvPr/>
        </p:nvSpPr>
        <p:spPr>
          <a:xfrm>
            <a:off x="7818120" y="1920240"/>
            <a:ext cx="38404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810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te-t"/>
          <p:cNvSpPr txBox="1"/>
          <p:nvPr/>
        </p:nvSpPr>
        <p:spPr>
          <a:xfrm>
            <a:off x="8046720" y="2103120"/>
            <a:ext cx="33832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4161A"/>
                </a:solidFill>
                <a:latin typeface="Yu Mincho Demibold"/>
              </a:rPr>
              <a:t>東京 → ウランバートル</a:t>
            </a:r>
          </a:p>
        </p:txBody>
      </p:sp>
      <p:sp>
        <p:nvSpPr>
          <p:cNvPr id="44" name="arc"/>
          <p:cNvSpPr/>
          <p:nvPr/>
        </p:nvSpPr>
        <p:spPr>
          <a:xfrm>
            <a:off x="8321040" y="2971800"/>
            <a:ext cx="2834640" cy="2377440"/>
          </a:xfrm>
          <a:prstGeom prst="arc">
            <a:avLst>
              <a:gd name="adj1" fmla="val 18000000"/>
              <a:gd name="adj2" fmla="val 0"/>
            </a:avLst>
          </a:prstGeom>
          <a:noFill/>
          <a:ln w="19050">
            <a:solidFill>
              <a:srgbClr val="D8D5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ity0"/>
          <p:cNvSpPr/>
          <p:nvPr/>
        </p:nvSpPr>
        <p:spPr>
          <a:xfrm>
            <a:off x="8193024" y="4032504"/>
            <a:ext cx="256032" cy="256032"/>
          </a:xfrm>
          <a:prstGeom prst="ellipse">
            <a:avLst/>
          </a:prstGeom>
          <a:solidFill>
            <a:srgbClr val="B3122B"/>
          </a:solidFill>
          <a:ln>
            <a:noFill/>
          </a:ln>
          <a:effectLst>
            <a:outerShdw blurRad="127000" dist="254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ity0-t"/>
          <p:cNvSpPr txBox="1"/>
          <p:nvPr/>
        </p:nvSpPr>
        <p:spPr>
          <a:xfrm>
            <a:off x="7498080" y="4343400"/>
            <a:ext cx="16459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東京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Tokyo · NRT</a:t>
            </a:r>
          </a:p>
        </p:txBody>
      </p:sp>
      <p:sp>
        <p:nvSpPr>
          <p:cNvPr id="47" name="city1"/>
          <p:cNvSpPr/>
          <p:nvPr/>
        </p:nvSpPr>
        <p:spPr>
          <a:xfrm>
            <a:off x="11027664" y="4032504"/>
            <a:ext cx="256032" cy="256032"/>
          </a:xfrm>
          <a:prstGeom prst="ellipse">
            <a:avLst/>
          </a:prstGeom>
          <a:solidFill>
            <a:srgbClr val="2F6FB3"/>
          </a:solidFill>
          <a:ln>
            <a:noFill/>
          </a:ln>
          <a:effectLst>
            <a:outerShdw blurRad="127000" dist="254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ity1-t"/>
          <p:cNvSpPr txBox="1"/>
          <p:nvPr/>
        </p:nvSpPr>
        <p:spPr>
          <a:xfrm>
            <a:off x="10332720" y="4343400"/>
            <a:ext cx="16459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ウランバートル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Ulaanbaatar · UBN</a:t>
            </a:r>
          </a:p>
        </p:txBody>
      </p:sp>
      <p:sp>
        <p:nvSpPr>
          <p:cNvPr id="49" name="plane-bg"/>
          <p:cNvSpPr/>
          <p:nvPr/>
        </p:nvSpPr>
        <p:spPr>
          <a:xfrm>
            <a:off x="8183880" y="2606040"/>
            <a:ext cx="566928" cy="566928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lane-ic" descr="plan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8604" y="2730764"/>
            <a:ext cx="317480" cy="317480"/>
          </a:xfrm>
          <a:prstGeom prst="rect">
            <a:avLst/>
          </a:prstGeom>
        </p:spPr>
      </p:pic>
      <p:sp>
        <p:nvSpPr>
          <p:cNvPr id="51" name="route-b"/>
          <p:cNvSpPr txBox="1"/>
          <p:nvPr/>
        </p:nvSpPr>
        <p:spPr>
          <a:xfrm>
            <a:off x="8046720" y="4983480"/>
            <a:ext cx="338328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4161A"/>
                </a:solidFill>
                <a:latin typeface="Yu Gothic UI"/>
              </a:rPr>
              <a:t>直行便 約5時間半・時差 1時間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A2E35"/>
                </a:solidFill>
                <a:latin typeface="Yu Gothic UI"/>
              </a:rPr>
              <a:t>日・モンゴルEPA（2016年発効）— 日本製品 9,300品目が関税免除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6B7076"/>
                </a:solidFill>
                <a:latin typeface="Segoe UI"/>
              </a:rPr>
              <a:t>EPA-гаар Японы 9,300 бараа татваргүй</a:t>
            </a:r>
          </a:p>
        </p:txBody>
      </p:sp>
      <p:sp>
        <p:nvSpPr>
          <p:cNvPr id="52" name="src"/>
          <p:cNvSpPr txBox="1"/>
          <p:nvPr/>
        </p:nvSpPr>
        <p:spPr>
          <a:xfrm>
            <a:off x="548640" y="6053328"/>
            <a:ext cx="7132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>
                <a:solidFill>
                  <a:srgbClr val="6B7076"/>
                </a:solidFill>
                <a:latin typeface="Yu Gothic UI"/>
              </a:rPr>
              <a:t>出典: 国連人口推計 · DataReportal「Digital 2025: Mongolia」· ecdb.com · 外務省「モンゴルにおける対日世論調査」· 日・モンゴル経済連携協定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機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なぜモンゴル、なぜ今か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Яагаад Монгол, яагаад одоо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02 / 16</a:t>
            </a:r>
          </a:p>
        </p:txBody>
      </p:sp>
      <p:sp>
        <p:nvSpPr>
          <p:cNvPr id="11" name="intro"/>
          <p:cNvSpPr txBox="1"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Yu Gothic UI"/>
              </a:rPr>
              <a:t>人口の半分が首都に集まり、8割超がオンライン。日本への信頼はすでに根付いている。</a:t>
            </a:r>
          </a:p>
        </p:txBody>
      </p:sp>
      <p:sp>
        <p:nvSpPr>
          <p:cNvPr id="12" name="fig0"/>
          <p:cNvSpPr/>
          <p:nvPr/>
        </p:nvSpPr>
        <p:spPr>
          <a:xfrm>
            <a:off x="548640" y="1920240"/>
            <a:ext cx="2240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ig0-bg"/>
          <p:cNvSpPr/>
          <p:nvPr/>
        </p:nvSpPr>
        <p:spPr>
          <a:xfrm>
            <a:off x="731520" y="2103120"/>
            <a:ext cx="566928" cy="566928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fig0-ic" descr="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44" y="2227844"/>
            <a:ext cx="317480" cy="317480"/>
          </a:xfrm>
          <a:prstGeom prst="rect">
            <a:avLst/>
          </a:prstGeom>
        </p:spPr>
      </p:pic>
      <p:sp>
        <p:nvSpPr>
          <p:cNvPr id="15" name="fig0-v"/>
          <p:cNvSpPr txBox="1"/>
          <p:nvPr/>
        </p:nvSpPr>
        <p:spPr>
          <a:xfrm>
            <a:off x="713232" y="2697480"/>
            <a:ext cx="196596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B3122B"/>
                </a:solidFill>
                <a:latin typeface="Segoe UI"/>
              </a:rPr>
              <a:t>350万人</a:t>
            </a:r>
          </a:p>
        </p:txBody>
      </p:sp>
      <p:sp>
        <p:nvSpPr>
          <p:cNvPr id="16" name="fig0-t"/>
          <p:cNvSpPr txBox="1"/>
          <p:nvPr/>
        </p:nvSpPr>
        <p:spPr>
          <a:xfrm>
            <a:off x="713232" y="3218688"/>
            <a:ext cx="19659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61A"/>
                </a:solidFill>
                <a:latin typeface="Yu Gothic UI"/>
              </a:rPr>
              <a:t>総人口（2025年）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Нийт хүн ам</a:t>
            </a:r>
          </a:p>
        </p:txBody>
      </p:sp>
      <p:sp>
        <p:nvSpPr>
          <p:cNvPr id="17" name="fig1"/>
          <p:cNvSpPr/>
          <p:nvPr/>
        </p:nvSpPr>
        <p:spPr>
          <a:xfrm>
            <a:off x="2944368" y="1920240"/>
            <a:ext cx="2240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ig1-bg"/>
          <p:cNvSpPr/>
          <p:nvPr/>
        </p:nvSpPr>
        <p:spPr>
          <a:xfrm>
            <a:off x="3127248" y="2103120"/>
            <a:ext cx="566928" cy="566928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fig1-ic" descr="p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972" y="2227844"/>
            <a:ext cx="317480" cy="317480"/>
          </a:xfrm>
          <a:prstGeom prst="rect">
            <a:avLst/>
          </a:prstGeom>
        </p:spPr>
      </p:pic>
      <p:sp>
        <p:nvSpPr>
          <p:cNvPr id="20" name="fig1-v"/>
          <p:cNvSpPr txBox="1"/>
          <p:nvPr/>
        </p:nvSpPr>
        <p:spPr>
          <a:xfrm>
            <a:off x="3108960" y="2697480"/>
            <a:ext cx="196596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4572E"/>
                </a:solidFill>
                <a:latin typeface="Segoe UI"/>
              </a:rPr>
              <a:t>179万人</a:t>
            </a:r>
          </a:p>
        </p:txBody>
      </p:sp>
      <p:sp>
        <p:nvSpPr>
          <p:cNvPr id="21" name="fig1-t"/>
          <p:cNvSpPr txBox="1"/>
          <p:nvPr/>
        </p:nvSpPr>
        <p:spPr>
          <a:xfrm>
            <a:off x="3108960" y="3218688"/>
            <a:ext cx="19659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61A"/>
                </a:solidFill>
                <a:latin typeface="Yu Gothic UI"/>
              </a:rPr>
              <a:t>ウランバートル人口 ＝ 全国の約半分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УБ — хүн амын тал</a:t>
            </a:r>
          </a:p>
        </p:txBody>
      </p:sp>
      <p:sp>
        <p:nvSpPr>
          <p:cNvPr id="22" name="fig2"/>
          <p:cNvSpPr/>
          <p:nvPr/>
        </p:nvSpPr>
        <p:spPr>
          <a:xfrm>
            <a:off x="5340096" y="1920240"/>
            <a:ext cx="2240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ig2-bg"/>
          <p:cNvSpPr/>
          <p:nvPr/>
        </p:nvSpPr>
        <p:spPr>
          <a:xfrm>
            <a:off x="5522976" y="2103120"/>
            <a:ext cx="566928" cy="566928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fig2-ic" descr="wif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7700" y="2227844"/>
            <a:ext cx="317480" cy="317480"/>
          </a:xfrm>
          <a:prstGeom prst="rect">
            <a:avLst/>
          </a:prstGeom>
        </p:spPr>
      </p:pic>
      <p:sp>
        <p:nvSpPr>
          <p:cNvPr id="25" name="fig2-v"/>
          <p:cNvSpPr txBox="1"/>
          <p:nvPr/>
        </p:nvSpPr>
        <p:spPr>
          <a:xfrm>
            <a:off x="5504688" y="2697480"/>
            <a:ext cx="196596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C99312"/>
                </a:solidFill>
                <a:latin typeface="Segoe UI"/>
              </a:rPr>
              <a:t>83%</a:t>
            </a:r>
          </a:p>
        </p:txBody>
      </p:sp>
      <p:sp>
        <p:nvSpPr>
          <p:cNvPr id="26" name="fig2-t"/>
          <p:cNvSpPr txBox="1"/>
          <p:nvPr/>
        </p:nvSpPr>
        <p:spPr>
          <a:xfrm>
            <a:off x="5504688" y="3218688"/>
            <a:ext cx="19659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61A"/>
                </a:solidFill>
                <a:latin typeface="Yu Gothic UI"/>
              </a:rPr>
              <a:t>インターネット普及率（2025年初）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Интернэт хэрэглээ</a:t>
            </a:r>
          </a:p>
        </p:txBody>
      </p:sp>
      <p:sp>
        <p:nvSpPr>
          <p:cNvPr id="27" name="fig3"/>
          <p:cNvSpPr/>
          <p:nvPr/>
        </p:nvSpPr>
        <p:spPr>
          <a:xfrm>
            <a:off x="548640" y="4069080"/>
            <a:ext cx="2240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ig3-bg"/>
          <p:cNvSpPr/>
          <p:nvPr/>
        </p:nvSpPr>
        <p:spPr>
          <a:xfrm>
            <a:off x="731520" y="4251960"/>
            <a:ext cx="566928" cy="566928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fig3-ic" descr="tre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244" y="4376684"/>
            <a:ext cx="317480" cy="317480"/>
          </a:xfrm>
          <a:prstGeom prst="rect">
            <a:avLst/>
          </a:prstGeom>
        </p:spPr>
      </p:pic>
      <p:sp>
        <p:nvSpPr>
          <p:cNvPr id="30" name="fig3-v"/>
          <p:cNvSpPr txBox="1"/>
          <p:nvPr/>
        </p:nvSpPr>
        <p:spPr>
          <a:xfrm>
            <a:off x="713232" y="4846320"/>
            <a:ext cx="196596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F6B4F"/>
                </a:solidFill>
                <a:latin typeface="Segoe UI"/>
              </a:rPr>
              <a:t>US$245M</a:t>
            </a:r>
          </a:p>
        </p:txBody>
      </p:sp>
      <p:sp>
        <p:nvSpPr>
          <p:cNvPr id="31" name="fig3-t"/>
          <p:cNvSpPr txBox="1"/>
          <p:nvPr/>
        </p:nvSpPr>
        <p:spPr>
          <a:xfrm>
            <a:off x="713232" y="5367528"/>
            <a:ext cx="19659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61A"/>
                </a:solidFill>
                <a:latin typeface="Yu Gothic UI"/>
              </a:rPr>
              <a:t>EC市場規模（2024年）・年率 +15〜20%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Цахим худалдааны зах зээл</a:t>
            </a:r>
          </a:p>
        </p:txBody>
      </p:sp>
      <p:sp>
        <p:nvSpPr>
          <p:cNvPr id="32" name="fig4"/>
          <p:cNvSpPr/>
          <p:nvPr/>
        </p:nvSpPr>
        <p:spPr>
          <a:xfrm>
            <a:off x="2944368" y="4069080"/>
            <a:ext cx="2240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ig4-bg"/>
          <p:cNvSpPr/>
          <p:nvPr/>
        </p:nvSpPr>
        <p:spPr>
          <a:xfrm>
            <a:off x="3127248" y="4251960"/>
            <a:ext cx="566928" cy="566928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fig4-ic" descr="he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1972" y="4376684"/>
            <a:ext cx="317480" cy="317480"/>
          </a:xfrm>
          <a:prstGeom prst="rect">
            <a:avLst/>
          </a:prstGeom>
        </p:spPr>
      </p:pic>
      <p:sp>
        <p:nvSpPr>
          <p:cNvPr id="35" name="fig4-v"/>
          <p:cNvSpPr txBox="1"/>
          <p:nvPr/>
        </p:nvSpPr>
        <p:spPr>
          <a:xfrm>
            <a:off x="3108960" y="4846320"/>
            <a:ext cx="196596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F6FB3"/>
                </a:solidFill>
                <a:latin typeface="Segoe UI"/>
              </a:rPr>
              <a:t>87%</a:t>
            </a:r>
          </a:p>
        </p:txBody>
      </p:sp>
      <p:sp>
        <p:nvSpPr>
          <p:cNvPr id="36" name="fig4-t"/>
          <p:cNvSpPr txBox="1"/>
          <p:nvPr/>
        </p:nvSpPr>
        <p:spPr>
          <a:xfrm>
            <a:off x="3108960" y="5367528"/>
            <a:ext cx="19659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61A"/>
                </a:solidFill>
                <a:latin typeface="Yu Gothic UI"/>
              </a:rPr>
              <a:t>「日本と友好的」と答えた人（外務省調査）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Японд ээлтэй гэж хариулсан</a:t>
            </a:r>
          </a:p>
        </p:txBody>
      </p:sp>
      <p:sp>
        <p:nvSpPr>
          <p:cNvPr id="37" name="fig5"/>
          <p:cNvSpPr/>
          <p:nvPr/>
        </p:nvSpPr>
        <p:spPr>
          <a:xfrm>
            <a:off x="5340096" y="4069080"/>
            <a:ext cx="2240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ig5-bg"/>
          <p:cNvSpPr/>
          <p:nvPr/>
        </p:nvSpPr>
        <p:spPr>
          <a:xfrm>
            <a:off x="5522976" y="4251960"/>
            <a:ext cx="566928" cy="566928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fig5-ic" descr="c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7700" y="4376684"/>
            <a:ext cx="317480" cy="317480"/>
          </a:xfrm>
          <a:prstGeom prst="rect">
            <a:avLst/>
          </a:prstGeom>
        </p:spPr>
      </p:pic>
      <p:sp>
        <p:nvSpPr>
          <p:cNvPr id="40" name="fig5-v"/>
          <p:cNvSpPr txBox="1"/>
          <p:nvPr/>
        </p:nvSpPr>
        <p:spPr>
          <a:xfrm>
            <a:off x="5504688" y="4846320"/>
            <a:ext cx="196596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7B4FC9"/>
                </a:solidFill>
                <a:latin typeface="Segoe UI"/>
              </a:rPr>
              <a:t>約5.5時間</a:t>
            </a:r>
          </a:p>
        </p:txBody>
      </p:sp>
      <p:sp>
        <p:nvSpPr>
          <p:cNvPr id="41" name="fig5-t"/>
          <p:cNvSpPr txBox="1"/>
          <p:nvPr/>
        </p:nvSpPr>
        <p:spPr>
          <a:xfrm>
            <a:off x="5504688" y="5367528"/>
            <a:ext cx="19659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61A"/>
                </a:solidFill>
                <a:latin typeface="Yu Gothic UI"/>
              </a:rPr>
              <a:t>東京—ウランバートル 直行便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Токио—УБ шууд нислэг</a:t>
            </a:r>
          </a:p>
        </p:txBody>
      </p:sp>
      <p:sp>
        <p:nvSpPr>
          <p:cNvPr id="42" name="route"/>
          <p:cNvSpPr/>
          <p:nvPr/>
        </p:nvSpPr>
        <p:spPr>
          <a:xfrm>
            <a:off x="7818120" y="1920240"/>
            <a:ext cx="38404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810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te-t"/>
          <p:cNvSpPr txBox="1"/>
          <p:nvPr/>
        </p:nvSpPr>
        <p:spPr>
          <a:xfrm>
            <a:off x="8046720" y="2103120"/>
            <a:ext cx="33832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4161A"/>
                </a:solidFill>
                <a:latin typeface="Yu Mincho Demibold"/>
              </a:rPr>
              <a:t>東京 → ウランバートル</a:t>
            </a:r>
          </a:p>
        </p:txBody>
      </p:sp>
      <p:sp>
        <p:nvSpPr>
          <p:cNvPr id="44" name="arc"/>
          <p:cNvSpPr/>
          <p:nvPr/>
        </p:nvSpPr>
        <p:spPr>
          <a:xfrm>
            <a:off x="8321040" y="2971800"/>
            <a:ext cx="2834640" cy="2377440"/>
          </a:xfrm>
          <a:prstGeom prst="arc">
            <a:avLst>
              <a:gd name="adj1" fmla="val 18000000"/>
              <a:gd name="adj2" fmla="val 0"/>
            </a:avLst>
          </a:prstGeom>
          <a:noFill/>
          <a:ln w="19050">
            <a:solidFill>
              <a:srgbClr val="D8D5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ity0"/>
          <p:cNvSpPr/>
          <p:nvPr/>
        </p:nvSpPr>
        <p:spPr>
          <a:xfrm>
            <a:off x="8193024" y="4032504"/>
            <a:ext cx="256032" cy="256032"/>
          </a:xfrm>
          <a:prstGeom prst="ellipse">
            <a:avLst/>
          </a:prstGeom>
          <a:solidFill>
            <a:srgbClr val="B3122B"/>
          </a:solidFill>
          <a:ln>
            <a:noFill/>
          </a:ln>
          <a:effectLst>
            <a:outerShdw blurRad="127000" dist="254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ity0-t"/>
          <p:cNvSpPr txBox="1"/>
          <p:nvPr/>
        </p:nvSpPr>
        <p:spPr>
          <a:xfrm>
            <a:off x="7498080" y="4343400"/>
            <a:ext cx="16459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東京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Tokyo · NRT</a:t>
            </a:r>
          </a:p>
        </p:txBody>
      </p:sp>
      <p:sp>
        <p:nvSpPr>
          <p:cNvPr id="47" name="city1"/>
          <p:cNvSpPr/>
          <p:nvPr/>
        </p:nvSpPr>
        <p:spPr>
          <a:xfrm>
            <a:off x="11027664" y="4032504"/>
            <a:ext cx="256032" cy="256032"/>
          </a:xfrm>
          <a:prstGeom prst="ellipse">
            <a:avLst/>
          </a:prstGeom>
          <a:solidFill>
            <a:srgbClr val="2F6FB3"/>
          </a:solidFill>
          <a:ln>
            <a:noFill/>
          </a:ln>
          <a:effectLst>
            <a:outerShdw blurRad="127000" dist="254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ity1-t"/>
          <p:cNvSpPr txBox="1"/>
          <p:nvPr/>
        </p:nvSpPr>
        <p:spPr>
          <a:xfrm>
            <a:off x="10332720" y="4343400"/>
            <a:ext cx="16459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ウランバートル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Ulaanbaatar · UBN</a:t>
            </a:r>
          </a:p>
        </p:txBody>
      </p:sp>
      <p:sp>
        <p:nvSpPr>
          <p:cNvPr id="49" name="plane-bg"/>
          <p:cNvSpPr/>
          <p:nvPr/>
        </p:nvSpPr>
        <p:spPr>
          <a:xfrm>
            <a:off x="8183880" y="2606040"/>
            <a:ext cx="566928" cy="566928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lane-ic" descr="plan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8604" y="2730764"/>
            <a:ext cx="317480" cy="317480"/>
          </a:xfrm>
          <a:prstGeom prst="rect">
            <a:avLst/>
          </a:prstGeom>
        </p:spPr>
      </p:pic>
      <p:sp>
        <p:nvSpPr>
          <p:cNvPr id="51" name="route-b"/>
          <p:cNvSpPr txBox="1"/>
          <p:nvPr/>
        </p:nvSpPr>
        <p:spPr>
          <a:xfrm>
            <a:off x="8046720" y="4983480"/>
            <a:ext cx="338328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4161A"/>
                </a:solidFill>
                <a:latin typeface="Yu Gothic UI"/>
              </a:rPr>
              <a:t>直行便 約5時間半・時差 1時間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A2E35"/>
                </a:solidFill>
                <a:latin typeface="Yu Gothic UI"/>
              </a:rPr>
              <a:t>日・モンゴルEPA（2016年発効）— 日本製品 9,300品目が関税免除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6B7076"/>
                </a:solidFill>
                <a:latin typeface="Segoe UI"/>
              </a:rPr>
              <a:t>EPA-гаар Японы 9,300 бараа татваргүй</a:t>
            </a:r>
          </a:p>
        </p:txBody>
      </p:sp>
      <p:sp>
        <p:nvSpPr>
          <p:cNvPr id="52" name="src"/>
          <p:cNvSpPr txBox="1"/>
          <p:nvPr/>
        </p:nvSpPr>
        <p:spPr>
          <a:xfrm>
            <a:off x="548640" y="6053328"/>
            <a:ext cx="7132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>
                <a:solidFill>
                  <a:srgbClr val="6B7076"/>
                </a:solidFill>
                <a:latin typeface="Yu Gothic UI"/>
              </a:rPr>
              <a:t>出典: 国連人口推計 · DataReportal「Digital 2025: Mongolia」· ecdb.com · 外務省「モンゴルにおける対日世論調査」· 日・モンゴル経済連携協定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機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なぜモンゴル、なぜ今か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Яагаад Монгол, яагаад одоо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02 / 16</a:t>
            </a:r>
          </a:p>
        </p:txBody>
      </p:sp>
      <p:sp>
        <p:nvSpPr>
          <p:cNvPr id="11" name="intro"/>
          <p:cNvSpPr txBox="1"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Yu Gothic UI"/>
              </a:rPr>
              <a:t>人口の半分が首都に集まり、8割超がオンライン。日本への信頼はすでに根付いている。</a:t>
            </a:r>
          </a:p>
        </p:txBody>
      </p:sp>
      <p:sp>
        <p:nvSpPr>
          <p:cNvPr id="12" name="fig0"/>
          <p:cNvSpPr/>
          <p:nvPr/>
        </p:nvSpPr>
        <p:spPr>
          <a:xfrm>
            <a:off x="548640" y="1920240"/>
            <a:ext cx="2240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ig0-bg"/>
          <p:cNvSpPr/>
          <p:nvPr/>
        </p:nvSpPr>
        <p:spPr>
          <a:xfrm>
            <a:off x="731520" y="2103120"/>
            <a:ext cx="566928" cy="566928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fig0-ic" descr="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44" y="2227844"/>
            <a:ext cx="317480" cy="317480"/>
          </a:xfrm>
          <a:prstGeom prst="rect">
            <a:avLst/>
          </a:prstGeom>
        </p:spPr>
      </p:pic>
      <p:sp>
        <p:nvSpPr>
          <p:cNvPr id="15" name="fig0-v"/>
          <p:cNvSpPr txBox="1"/>
          <p:nvPr/>
        </p:nvSpPr>
        <p:spPr>
          <a:xfrm>
            <a:off x="713232" y="2697480"/>
            <a:ext cx="196596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B3122B"/>
                </a:solidFill>
                <a:latin typeface="Segoe UI"/>
              </a:rPr>
              <a:t>350万人</a:t>
            </a:r>
          </a:p>
        </p:txBody>
      </p:sp>
      <p:sp>
        <p:nvSpPr>
          <p:cNvPr id="16" name="fig0-t"/>
          <p:cNvSpPr txBox="1"/>
          <p:nvPr/>
        </p:nvSpPr>
        <p:spPr>
          <a:xfrm>
            <a:off x="713232" y="3218688"/>
            <a:ext cx="19659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61A"/>
                </a:solidFill>
                <a:latin typeface="Yu Gothic UI"/>
              </a:rPr>
              <a:t>総人口（2025年）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Нийт хүн ам</a:t>
            </a:r>
          </a:p>
        </p:txBody>
      </p:sp>
      <p:sp>
        <p:nvSpPr>
          <p:cNvPr id="17" name="fig1"/>
          <p:cNvSpPr/>
          <p:nvPr/>
        </p:nvSpPr>
        <p:spPr>
          <a:xfrm>
            <a:off x="2944368" y="1920240"/>
            <a:ext cx="2240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ig1-bg"/>
          <p:cNvSpPr/>
          <p:nvPr/>
        </p:nvSpPr>
        <p:spPr>
          <a:xfrm>
            <a:off x="3127248" y="2103120"/>
            <a:ext cx="566928" cy="566928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fig1-ic" descr="p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972" y="2227844"/>
            <a:ext cx="317480" cy="317480"/>
          </a:xfrm>
          <a:prstGeom prst="rect">
            <a:avLst/>
          </a:prstGeom>
        </p:spPr>
      </p:pic>
      <p:sp>
        <p:nvSpPr>
          <p:cNvPr id="20" name="fig1-v"/>
          <p:cNvSpPr txBox="1"/>
          <p:nvPr/>
        </p:nvSpPr>
        <p:spPr>
          <a:xfrm>
            <a:off x="3108960" y="2697480"/>
            <a:ext cx="196596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4572E"/>
                </a:solidFill>
                <a:latin typeface="Segoe UI"/>
              </a:rPr>
              <a:t>179万人</a:t>
            </a:r>
          </a:p>
        </p:txBody>
      </p:sp>
      <p:sp>
        <p:nvSpPr>
          <p:cNvPr id="21" name="fig1-t"/>
          <p:cNvSpPr txBox="1"/>
          <p:nvPr/>
        </p:nvSpPr>
        <p:spPr>
          <a:xfrm>
            <a:off x="3108960" y="3218688"/>
            <a:ext cx="19659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61A"/>
                </a:solidFill>
                <a:latin typeface="Yu Gothic UI"/>
              </a:rPr>
              <a:t>ウランバートル人口 ＝ 全国の約半分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УБ — хүн амын тал</a:t>
            </a:r>
          </a:p>
        </p:txBody>
      </p:sp>
      <p:sp>
        <p:nvSpPr>
          <p:cNvPr id="22" name="fig2"/>
          <p:cNvSpPr/>
          <p:nvPr/>
        </p:nvSpPr>
        <p:spPr>
          <a:xfrm>
            <a:off x="5340096" y="1920240"/>
            <a:ext cx="2240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ig2-bg"/>
          <p:cNvSpPr/>
          <p:nvPr/>
        </p:nvSpPr>
        <p:spPr>
          <a:xfrm>
            <a:off x="5522976" y="2103120"/>
            <a:ext cx="566928" cy="566928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fig2-ic" descr="wif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7700" y="2227844"/>
            <a:ext cx="317480" cy="317480"/>
          </a:xfrm>
          <a:prstGeom prst="rect">
            <a:avLst/>
          </a:prstGeom>
        </p:spPr>
      </p:pic>
      <p:sp>
        <p:nvSpPr>
          <p:cNvPr id="25" name="fig2-v"/>
          <p:cNvSpPr txBox="1"/>
          <p:nvPr/>
        </p:nvSpPr>
        <p:spPr>
          <a:xfrm>
            <a:off x="5504688" y="2697480"/>
            <a:ext cx="196596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C99312"/>
                </a:solidFill>
                <a:latin typeface="Segoe UI"/>
              </a:rPr>
              <a:t>83%</a:t>
            </a:r>
          </a:p>
        </p:txBody>
      </p:sp>
      <p:sp>
        <p:nvSpPr>
          <p:cNvPr id="26" name="fig2-t"/>
          <p:cNvSpPr txBox="1"/>
          <p:nvPr/>
        </p:nvSpPr>
        <p:spPr>
          <a:xfrm>
            <a:off x="5504688" y="3218688"/>
            <a:ext cx="19659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61A"/>
                </a:solidFill>
                <a:latin typeface="Yu Gothic UI"/>
              </a:rPr>
              <a:t>インターネット普及率（2025年初）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Интернэт хэрэглээ</a:t>
            </a:r>
          </a:p>
        </p:txBody>
      </p:sp>
      <p:sp>
        <p:nvSpPr>
          <p:cNvPr id="27" name="fig3"/>
          <p:cNvSpPr/>
          <p:nvPr/>
        </p:nvSpPr>
        <p:spPr>
          <a:xfrm>
            <a:off x="548640" y="4069080"/>
            <a:ext cx="2240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ig3-bg"/>
          <p:cNvSpPr/>
          <p:nvPr/>
        </p:nvSpPr>
        <p:spPr>
          <a:xfrm>
            <a:off x="731520" y="4251960"/>
            <a:ext cx="566928" cy="566928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fig3-ic" descr="tre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244" y="4376684"/>
            <a:ext cx="317480" cy="317480"/>
          </a:xfrm>
          <a:prstGeom prst="rect">
            <a:avLst/>
          </a:prstGeom>
        </p:spPr>
      </p:pic>
      <p:sp>
        <p:nvSpPr>
          <p:cNvPr id="30" name="fig3-v"/>
          <p:cNvSpPr txBox="1"/>
          <p:nvPr/>
        </p:nvSpPr>
        <p:spPr>
          <a:xfrm>
            <a:off x="713232" y="4846320"/>
            <a:ext cx="196596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F6B4F"/>
                </a:solidFill>
                <a:latin typeface="Segoe UI"/>
              </a:rPr>
              <a:t>US$245M</a:t>
            </a:r>
          </a:p>
        </p:txBody>
      </p:sp>
      <p:sp>
        <p:nvSpPr>
          <p:cNvPr id="31" name="fig3-t"/>
          <p:cNvSpPr txBox="1"/>
          <p:nvPr/>
        </p:nvSpPr>
        <p:spPr>
          <a:xfrm>
            <a:off x="713232" y="5367528"/>
            <a:ext cx="19659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61A"/>
                </a:solidFill>
                <a:latin typeface="Yu Gothic UI"/>
              </a:rPr>
              <a:t>EC市場規模（2024年）・年率 +15〜20%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Цахим худалдааны зах зээл</a:t>
            </a:r>
          </a:p>
        </p:txBody>
      </p:sp>
      <p:sp>
        <p:nvSpPr>
          <p:cNvPr id="32" name="fig4"/>
          <p:cNvSpPr/>
          <p:nvPr/>
        </p:nvSpPr>
        <p:spPr>
          <a:xfrm>
            <a:off x="2944368" y="4069080"/>
            <a:ext cx="2240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ig4-bg"/>
          <p:cNvSpPr/>
          <p:nvPr/>
        </p:nvSpPr>
        <p:spPr>
          <a:xfrm>
            <a:off x="3127248" y="4251960"/>
            <a:ext cx="566928" cy="566928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fig4-ic" descr="he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1972" y="4376684"/>
            <a:ext cx="317480" cy="317480"/>
          </a:xfrm>
          <a:prstGeom prst="rect">
            <a:avLst/>
          </a:prstGeom>
        </p:spPr>
      </p:pic>
      <p:sp>
        <p:nvSpPr>
          <p:cNvPr id="35" name="fig4-v"/>
          <p:cNvSpPr txBox="1"/>
          <p:nvPr/>
        </p:nvSpPr>
        <p:spPr>
          <a:xfrm>
            <a:off x="3108960" y="4846320"/>
            <a:ext cx="196596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F6FB3"/>
                </a:solidFill>
                <a:latin typeface="Segoe UI"/>
              </a:rPr>
              <a:t>87%</a:t>
            </a:r>
          </a:p>
        </p:txBody>
      </p:sp>
      <p:sp>
        <p:nvSpPr>
          <p:cNvPr id="36" name="fig4-t"/>
          <p:cNvSpPr txBox="1"/>
          <p:nvPr/>
        </p:nvSpPr>
        <p:spPr>
          <a:xfrm>
            <a:off x="3108960" y="5367528"/>
            <a:ext cx="19659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61A"/>
                </a:solidFill>
                <a:latin typeface="Yu Gothic UI"/>
              </a:rPr>
              <a:t>「日本と友好的」と答えた人（外務省調査）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Японд ээлтэй гэж хариулсан</a:t>
            </a:r>
          </a:p>
        </p:txBody>
      </p:sp>
      <p:sp>
        <p:nvSpPr>
          <p:cNvPr id="37" name="fig5"/>
          <p:cNvSpPr/>
          <p:nvPr/>
        </p:nvSpPr>
        <p:spPr>
          <a:xfrm>
            <a:off x="5340096" y="4069080"/>
            <a:ext cx="2240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ig5-bg"/>
          <p:cNvSpPr/>
          <p:nvPr/>
        </p:nvSpPr>
        <p:spPr>
          <a:xfrm>
            <a:off x="5522976" y="4251960"/>
            <a:ext cx="566928" cy="566928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fig5-ic" descr="c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7700" y="4376684"/>
            <a:ext cx="317480" cy="317480"/>
          </a:xfrm>
          <a:prstGeom prst="rect">
            <a:avLst/>
          </a:prstGeom>
        </p:spPr>
      </p:pic>
      <p:sp>
        <p:nvSpPr>
          <p:cNvPr id="40" name="fig5-v"/>
          <p:cNvSpPr txBox="1"/>
          <p:nvPr/>
        </p:nvSpPr>
        <p:spPr>
          <a:xfrm>
            <a:off x="5504688" y="4846320"/>
            <a:ext cx="196596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7B4FC9"/>
                </a:solidFill>
                <a:latin typeface="Segoe UI"/>
              </a:rPr>
              <a:t>約5.5時間</a:t>
            </a:r>
          </a:p>
        </p:txBody>
      </p:sp>
      <p:sp>
        <p:nvSpPr>
          <p:cNvPr id="41" name="fig5-t"/>
          <p:cNvSpPr txBox="1"/>
          <p:nvPr/>
        </p:nvSpPr>
        <p:spPr>
          <a:xfrm>
            <a:off x="5504688" y="5367528"/>
            <a:ext cx="19659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61A"/>
                </a:solidFill>
                <a:latin typeface="Yu Gothic UI"/>
              </a:rPr>
              <a:t>東京—ウランバートル 直行便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Токио—УБ шууд нислэг</a:t>
            </a:r>
          </a:p>
        </p:txBody>
      </p:sp>
      <p:sp>
        <p:nvSpPr>
          <p:cNvPr id="42" name="route"/>
          <p:cNvSpPr/>
          <p:nvPr/>
        </p:nvSpPr>
        <p:spPr>
          <a:xfrm>
            <a:off x="7818120" y="1920240"/>
            <a:ext cx="38404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810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te-t"/>
          <p:cNvSpPr txBox="1"/>
          <p:nvPr/>
        </p:nvSpPr>
        <p:spPr>
          <a:xfrm>
            <a:off x="8046720" y="2103120"/>
            <a:ext cx="33832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4161A"/>
                </a:solidFill>
                <a:latin typeface="Yu Mincho Demibold"/>
              </a:rPr>
              <a:t>東京 → ウランバートル</a:t>
            </a:r>
          </a:p>
        </p:txBody>
      </p:sp>
      <p:sp>
        <p:nvSpPr>
          <p:cNvPr id="44" name="arc"/>
          <p:cNvSpPr/>
          <p:nvPr/>
        </p:nvSpPr>
        <p:spPr>
          <a:xfrm>
            <a:off x="8321040" y="2971800"/>
            <a:ext cx="2834640" cy="2377440"/>
          </a:xfrm>
          <a:prstGeom prst="arc">
            <a:avLst>
              <a:gd name="adj1" fmla="val 18000000"/>
              <a:gd name="adj2" fmla="val 0"/>
            </a:avLst>
          </a:prstGeom>
          <a:noFill/>
          <a:ln w="19050">
            <a:solidFill>
              <a:srgbClr val="D8D5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ity0"/>
          <p:cNvSpPr/>
          <p:nvPr/>
        </p:nvSpPr>
        <p:spPr>
          <a:xfrm>
            <a:off x="8193024" y="4032504"/>
            <a:ext cx="256032" cy="256032"/>
          </a:xfrm>
          <a:prstGeom prst="ellipse">
            <a:avLst/>
          </a:prstGeom>
          <a:solidFill>
            <a:srgbClr val="B3122B"/>
          </a:solidFill>
          <a:ln>
            <a:noFill/>
          </a:ln>
          <a:effectLst>
            <a:outerShdw blurRad="127000" dist="254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ity0-t"/>
          <p:cNvSpPr txBox="1"/>
          <p:nvPr/>
        </p:nvSpPr>
        <p:spPr>
          <a:xfrm>
            <a:off x="7498080" y="4343400"/>
            <a:ext cx="16459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東京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Tokyo · NRT</a:t>
            </a:r>
          </a:p>
        </p:txBody>
      </p:sp>
      <p:sp>
        <p:nvSpPr>
          <p:cNvPr id="47" name="city1"/>
          <p:cNvSpPr/>
          <p:nvPr/>
        </p:nvSpPr>
        <p:spPr>
          <a:xfrm>
            <a:off x="11027664" y="4032504"/>
            <a:ext cx="256032" cy="256032"/>
          </a:xfrm>
          <a:prstGeom prst="ellipse">
            <a:avLst/>
          </a:prstGeom>
          <a:solidFill>
            <a:srgbClr val="2F6FB3"/>
          </a:solidFill>
          <a:ln>
            <a:noFill/>
          </a:ln>
          <a:effectLst>
            <a:outerShdw blurRad="127000" dist="254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ity1-t"/>
          <p:cNvSpPr txBox="1"/>
          <p:nvPr/>
        </p:nvSpPr>
        <p:spPr>
          <a:xfrm>
            <a:off x="10332720" y="4343400"/>
            <a:ext cx="16459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ウランバートル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Ulaanbaatar · UBN</a:t>
            </a:r>
          </a:p>
        </p:txBody>
      </p:sp>
      <p:sp>
        <p:nvSpPr>
          <p:cNvPr id="49" name="plane-bg"/>
          <p:cNvSpPr/>
          <p:nvPr/>
        </p:nvSpPr>
        <p:spPr>
          <a:xfrm>
            <a:off x="10561320" y="2606040"/>
            <a:ext cx="566928" cy="566928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lane-ic" descr="plan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6044" y="2730764"/>
            <a:ext cx="317480" cy="317480"/>
          </a:xfrm>
          <a:prstGeom prst="rect">
            <a:avLst/>
          </a:prstGeom>
        </p:spPr>
      </p:pic>
      <p:sp>
        <p:nvSpPr>
          <p:cNvPr id="51" name="route-b"/>
          <p:cNvSpPr txBox="1"/>
          <p:nvPr/>
        </p:nvSpPr>
        <p:spPr>
          <a:xfrm>
            <a:off x="8046720" y="4983480"/>
            <a:ext cx="338328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4161A"/>
                </a:solidFill>
                <a:latin typeface="Yu Gothic UI"/>
              </a:rPr>
              <a:t>直行便 約5時間半・時差 1時間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A2E35"/>
                </a:solidFill>
                <a:latin typeface="Yu Gothic UI"/>
              </a:rPr>
              <a:t>日・モンゴルEPA（2016年発効）— 日本製品 9,300品目が関税免除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6B7076"/>
                </a:solidFill>
                <a:latin typeface="Segoe UI"/>
              </a:rPr>
              <a:t>EPA-гаар Японы 9,300 бараа татваргүй</a:t>
            </a:r>
          </a:p>
        </p:txBody>
      </p:sp>
      <p:sp>
        <p:nvSpPr>
          <p:cNvPr id="52" name="src"/>
          <p:cNvSpPr txBox="1"/>
          <p:nvPr/>
        </p:nvSpPr>
        <p:spPr>
          <a:xfrm>
            <a:off x="548640" y="6053328"/>
            <a:ext cx="7132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>
                <a:solidFill>
                  <a:srgbClr val="6B7076"/>
                </a:solidFill>
                <a:latin typeface="Yu Gothic UI"/>
              </a:rPr>
              <a:t>出典: 国連人口推計 · DataReportal「Digital 2025: Mongolia」· ecdb.com · 外務省「モンゴルにおける対日世論調査」· 日・モンゴル経済連携協定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信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会社と事業機会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Компани ба боломж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03 / 16</a:t>
            </a:r>
          </a:p>
        </p:txBody>
      </p:sp>
      <p:sp>
        <p:nvSpPr>
          <p:cNvPr id="11" name="intro"/>
          <p:cNvSpPr txBox="1"/>
          <p:nvPr/>
        </p:nvSpPr>
        <p:spPr>
          <a:xfrm>
            <a:off x="777240" y="1417320"/>
            <a:ext cx="78638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Yu Gothic UI"/>
              </a:rPr>
              <a:t>SUGI ASAYAKE は「日本の日常品質」をモンゴルに届けるブランド。ECはその次の成長段階。</a:t>
            </a:r>
          </a:p>
        </p:txBody>
      </p:sp>
      <p:sp>
        <p:nvSpPr>
          <p:cNvPr id="12" name="card0-sheet"/>
          <p:cNvSpPr/>
          <p:nvPr/>
        </p:nvSpPr>
        <p:spPr>
          <a:xfrm>
            <a:off x="548640" y="1874519"/>
            <a:ext cx="2487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431800" dist="1270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0-tab"/>
          <p:cNvSpPr/>
          <p:nvPr/>
        </p:nvSpPr>
        <p:spPr>
          <a:xfrm>
            <a:off x="548640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0-num"/>
          <p:cNvSpPr txBox="1"/>
          <p:nvPr/>
        </p:nvSpPr>
        <p:spPr>
          <a:xfrm>
            <a:off x="548640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5" name="card0-icon-bg"/>
          <p:cNvSpPr/>
          <p:nvPr/>
        </p:nvSpPr>
        <p:spPr>
          <a:xfrm>
            <a:off x="1938528" y="2130551"/>
            <a:ext cx="786384" cy="786384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card0-icon-ic" descr="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532" y="2303555"/>
            <a:ext cx="440376" cy="440376"/>
          </a:xfrm>
          <a:prstGeom prst="rect">
            <a:avLst/>
          </a:prstGeom>
        </p:spPr>
      </p:pic>
      <p:sp>
        <p:nvSpPr>
          <p:cNvPr id="17" name="card0-title"/>
          <p:cNvSpPr txBox="1"/>
          <p:nvPr/>
        </p:nvSpPr>
        <p:spPr>
          <a:xfrm>
            <a:off x="822960" y="3063239"/>
            <a:ext cx="19385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61A"/>
                </a:solidFill>
                <a:latin typeface="Yu Gothic UI"/>
              </a:rPr>
              <a:t>日本のドラッグストアの正規子会社</a:t>
            </a:r>
          </a:p>
        </p:txBody>
      </p:sp>
      <p:sp>
        <p:nvSpPr>
          <p:cNvPr id="18" name="card0-body"/>
          <p:cNvSpPr txBox="1"/>
          <p:nvPr/>
        </p:nvSpPr>
        <p:spPr>
          <a:xfrm>
            <a:off x="822960" y="3657599"/>
            <a:ext cx="1938528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E35"/>
                </a:solidFill>
                <a:latin typeface="Yu Gothic UI"/>
              </a:rPr>
              <a:t>SUGI Drug Store Japan のモンゴル子会社。ウランバートル市内に4店舗を展開し、化粧品・医薬部外品・日用品・食品を正規ルートで輸入販売。</a:t>
            </a:r>
          </a:p>
        </p:txBody>
      </p:sp>
      <p:sp>
        <p:nvSpPr>
          <p:cNvPr id="19" name="card0-rule"/>
          <p:cNvSpPr/>
          <p:nvPr/>
        </p:nvSpPr>
        <p:spPr>
          <a:xfrm>
            <a:off x="822960" y="5166359"/>
            <a:ext cx="457200" cy="36576"/>
          </a:xfrm>
          <a:prstGeom prst="rect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0-mn"/>
          <p:cNvSpPr txBox="1"/>
          <p:nvPr/>
        </p:nvSpPr>
        <p:spPr>
          <a:xfrm>
            <a:off x="822960" y="5257799"/>
            <a:ext cx="193852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SUGI Drug Store Japan-ийн охин компани, УБ-д 4 салбар, албан ёсны импорт.</a:t>
            </a:r>
          </a:p>
        </p:txBody>
      </p:sp>
      <p:sp>
        <p:nvSpPr>
          <p:cNvPr id="21" name="card1-sheet"/>
          <p:cNvSpPr/>
          <p:nvPr/>
        </p:nvSpPr>
        <p:spPr>
          <a:xfrm>
            <a:off x="3236976" y="10104119"/>
            <a:ext cx="2487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431800" dist="1270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1-tab"/>
          <p:cNvSpPr/>
          <p:nvPr/>
        </p:nvSpPr>
        <p:spPr>
          <a:xfrm>
            <a:off x="3236976" y="101041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1-num"/>
          <p:cNvSpPr txBox="1"/>
          <p:nvPr/>
        </p:nvSpPr>
        <p:spPr>
          <a:xfrm>
            <a:off x="3236976" y="102138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4" name="card1-icon-bg"/>
          <p:cNvSpPr/>
          <p:nvPr/>
        </p:nvSpPr>
        <p:spPr>
          <a:xfrm>
            <a:off x="4626864" y="10360151"/>
            <a:ext cx="786384" cy="786384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card1-icon-ic" descr="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868" y="10533155"/>
            <a:ext cx="440376" cy="440376"/>
          </a:xfrm>
          <a:prstGeom prst="rect">
            <a:avLst/>
          </a:prstGeom>
        </p:spPr>
      </p:pic>
      <p:sp>
        <p:nvSpPr>
          <p:cNvPr id="26" name="card1-title"/>
          <p:cNvSpPr txBox="1"/>
          <p:nvPr/>
        </p:nvSpPr>
        <p:spPr>
          <a:xfrm>
            <a:off x="3511296" y="11292839"/>
            <a:ext cx="19385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61A"/>
                </a:solidFill>
                <a:latin typeface="Yu Gothic UI"/>
              </a:rPr>
              <a:t>9万人超の既存顧客基盤</a:t>
            </a:r>
          </a:p>
        </p:txBody>
      </p:sp>
      <p:sp>
        <p:nvSpPr>
          <p:cNvPr id="27" name="card1-body"/>
          <p:cNvSpPr txBox="1"/>
          <p:nvPr/>
        </p:nvSpPr>
        <p:spPr>
          <a:xfrm>
            <a:off x="3511296" y="11887199"/>
            <a:ext cx="1938528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E35"/>
                </a:solidFill>
                <a:latin typeface="Yu Gothic UI"/>
              </a:rPr>
              <a:t>Facebook で 93,000 人以上のフォロワー。店舗で築いた信頼を、オンラインの購買に直接つなげる土台がすでにある。</a:t>
            </a:r>
          </a:p>
        </p:txBody>
      </p:sp>
      <p:sp>
        <p:nvSpPr>
          <p:cNvPr id="28" name="card1-rule"/>
          <p:cNvSpPr/>
          <p:nvPr/>
        </p:nvSpPr>
        <p:spPr>
          <a:xfrm>
            <a:off x="3511296" y="13395959"/>
            <a:ext cx="457200" cy="36576"/>
          </a:xfrm>
          <a:prstGeom prst="rect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1-mn"/>
          <p:cNvSpPr txBox="1"/>
          <p:nvPr/>
        </p:nvSpPr>
        <p:spPr>
          <a:xfrm>
            <a:off x="3511296" y="13487399"/>
            <a:ext cx="193852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Facebook-т 93,000+ дагагч — бэлэн харилцагчийн суурь.</a:t>
            </a:r>
          </a:p>
        </p:txBody>
      </p:sp>
      <p:sp>
        <p:nvSpPr>
          <p:cNvPr id="30" name="card2-sheet"/>
          <p:cNvSpPr/>
          <p:nvPr/>
        </p:nvSpPr>
        <p:spPr>
          <a:xfrm>
            <a:off x="5925312" y="10104119"/>
            <a:ext cx="2487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431800" dist="1270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ard2-tab"/>
          <p:cNvSpPr/>
          <p:nvPr/>
        </p:nvSpPr>
        <p:spPr>
          <a:xfrm>
            <a:off x="5925312" y="101041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ard2-num"/>
          <p:cNvSpPr txBox="1"/>
          <p:nvPr/>
        </p:nvSpPr>
        <p:spPr>
          <a:xfrm>
            <a:off x="5925312" y="102138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3" name="card2-icon-bg"/>
          <p:cNvSpPr/>
          <p:nvPr/>
        </p:nvSpPr>
        <p:spPr>
          <a:xfrm>
            <a:off x="7315200" y="10360151"/>
            <a:ext cx="786384" cy="78638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card2-icon-ic" descr="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204" y="10533155"/>
            <a:ext cx="440376" cy="440376"/>
          </a:xfrm>
          <a:prstGeom prst="rect">
            <a:avLst/>
          </a:prstGeom>
        </p:spPr>
      </p:pic>
      <p:sp>
        <p:nvSpPr>
          <p:cNvPr id="35" name="card2-title"/>
          <p:cNvSpPr txBox="1"/>
          <p:nvPr/>
        </p:nvSpPr>
        <p:spPr>
          <a:xfrm>
            <a:off x="6199632" y="11292839"/>
            <a:ext cx="19385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61A"/>
                </a:solidFill>
                <a:latin typeface="Yu Gothic UI"/>
              </a:rPr>
              <a:t>自社ECで時間と場所の制約をなくす</a:t>
            </a:r>
          </a:p>
        </p:txBody>
      </p:sp>
      <p:sp>
        <p:nvSpPr>
          <p:cNvPr id="36" name="card2-body"/>
          <p:cNvSpPr txBox="1"/>
          <p:nvPr/>
        </p:nvSpPr>
        <p:spPr>
          <a:xfrm>
            <a:off x="6199632" y="11887199"/>
            <a:ext cx="1938528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E35"/>
                </a:solidFill>
                <a:latin typeface="Yu Gothic UI"/>
              </a:rPr>
              <a:t>店舗の営業時間・立地に縛られない販売チャネル。在庫・注文・顧客データを一元化し、日本本社との連携を容易にする。</a:t>
            </a:r>
          </a:p>
        </p:txBody>
      </p:sp>
      <p:sp>
        <p:nvSpPr>
          <p:cNvPr id="37" name="card2-rule"/>
          <p:cNvSpPr/>
          <p:nvPr/>
        </p:nvSpPr>
        <p:spPr>
          <a:xfrm>
            <a:off x="6199632" y="13395959"/>
            <a:ext cx="457200" cy="36576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ard2-mn"/>
          <p:cNvSpPr txBox="1"/>
          <p:nvPr/>
        </p:nvSpPr>
        <p:spPr>
          <a:xfrm>
            <a:off x="6199632" y="13487399"/>
            <a:ext cx="193852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Дэлгүүрийн цаг, байршлаас хамаарахгүй өөрийн суваг; нэг системд бүх өгөгдөл.</a:t>
            </a:r>
          </a:p>
        </p:txBody>
      </p:sp>
      <p:sp>
        <p:nvSpPr>
          <p:cNvPr id="39" name="mo0-tile"/>
          <p:cNvSpPr/>
          <p:nvPr/>
        </p:nvSpPr>
        <p:spPr>
          <a:xfrm>
            <a:off x="8732520" y="10104119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mo0-img" descr="s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2006" y="10203605"/>
            <a:ext cx="1044612" cy="1044612"/>
          </a:xfrm>
          <a:prstGeom prst="rect">
            <a:avLst/>
          </a:prstGeom>
        </p:spPr>
      </p:pic>
      <p:sp>
        <p:nvSpPr>
          <p:cNvPr id="41" name="mo1-tile"/>
          <p:cNvSpPr/>
          <p:nvPr/>
        </p:nvSpPr>
        <p:spPr>
          <a:xfrm>
            <a:off x="10094976" y="10104119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mo1-img" descr="s0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4462" y="10203605"/>
            <a:ext cx="1044612" cy="1044612"/>
          </a:xfrm>
          <a:prstGeom prst="rect">
            <a:avLst/>
          </a:prstGeom>
        </p:spPr>
      </p:pic>
      <p:sp>
        <p:nvSpPr>
          <p:cNvPr id="43" name="mo2-tile"/>
          <p:cNvSpPr/>
          <p:nvPr/>
        </p:nvSpPr>
        <p:spPr>
          <a:xfrm>
            <a:off x="8732520" y="11466575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mo2-img" descr="s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2006" y="11566061"/>
            <a:ext cx="1044612" cy="1044612"/>
          </a:xfrm>
          <a:prstGeom prst="rect">
            <a:avLst/>
          </a:prstGeom>
        </p:spPr>
      </p:pic>
      <p:sp>
        <p:nvSpPr>
          <p:cNvPr id="45" name="mo3-tile"/>
          <p:cNvSpPr/>
          <p:nvPr/>
        </p:nvSpPr>
        <p:spPr>
          <a:xfrm>
            <a:off x="10094976" y="11466575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mo3-img" descr="s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4462" y="11566061"/>
            <a:ext cx="1044612" cy="1044612"/>
          </a:xfrm>
          <a:prstGeom prst="rect">
            <a:avLst/>
          </a:prstGeom>
        </p:spPr>
      </p:pic>
      <p:sp>
        <p:nvSpPr>
          <p:cNvPr id="47" name="mo4-tile"/>
          <p:cNvSpPr/>
          <p:nvPr/>
        </p:nvSpPr>
        <p:spPr>
          <a:xfrm>
            <a:off x="8732520" y="12829031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mo4-img" descr="s0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32006" y="12928517"/>
            <a:ext cx="1044612" cy="1044612"/>
          </a:xfrm>
          <a:prstGeom prst="rect">
            <a:avLst/>
          </a:prstGeom>
        </p:spPr>
      </p:pic>
      <p:sp>
        <p:nvSpPr>
          <p:cNvPr id="49" name="mo5-tile"/>
          <p:cNvSpPr/>
          <p:nvPr/>
        </p:nvSpPr>
        <p:spPr>
          <a:xfrm>
            <a:off x="10094976" y="12829031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mo5-img" descr="s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94462" y="12928517"/>
            <a:ext cx="1044612" cy="1044612"/>
          </a:xfrm>
          <a:prstGeom prst="rect">
            <a:avLst/>
          </a:prstGeom>
        </p:spPr>
      </p:pic>
      <p:sp>
        <p:nvSpPr>
          <p:cNvPr id="51" name="mo-cap"/>
          <p:cNvSpPr txBox="1"/>
          <p:nvPr/>
        </p:nvSpPr>
        <p:spPr>
          <a:xfrm>
            <a:off x="8732520" y="14173200"/>
            <a:ext cx="2926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980点の日本製品を掲載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信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会社と事業機会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Компани ба боломж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03 / 16</a:t>
            </a:r>
          </a:p>
        </p:txBody>
      </p:sp>
      <p:sp>
        <p:nvSpPr>
          <p:cNvPr id="11" name="intro"/>
          <p:cNvSpPr txBox="1"/>
          <p:nvPr/>
        </p:nvSpPr>
        <p:spPr>
          <a:xfrm>
            <a:off x="777240" y="1417320"/>
            <a:ext cx="78638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Yu Gothic UI"/>
              </a:rPr>
              <a:t>SUGI ASAYAKE は「日本の日常品質」をモンゴルに届けるブランド。ECはその次の成長段階。</a:t>
            </a:r>
          </a:p>
        </p:txBody>
      </p:sp>
      <p:sp>
        <p:nvSpPr>
          <p:cNvPr id="12" name="card0-sheet"/>
          <p:cNvSpPr/>
          <p:nvPr/>
        </p:nvSpPr>
        <p:spPr>
          <a:xfrm>
            <a:off x="548640" y="1874519"/>
            <a:ext cx="2487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431800" dist="1270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0-tab"/>
          <p:cNvSpPr/>
          <p:nvPr/>
        </p:nvSpPr>
        <p:spPr>
          <a:xfrm>
            <a:off x="548640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0-num"/>
          <p:cNvSpPr txBox="1"/>
          <p:nvPr/>
        </p:nvSpPr>
        <p:spPr>
          <a:xfrm>
            <a:off x="548640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5" name="card0-icon-bg"/>
          <p:cNvSpPr/>
          <p:nvPr/>
        </p:nvSpPr>
        <p:spPr>
          <a:xfrm>
            <a:off x="1938528" y="2130551"/>
            <a:ext cx="786384" cy="786384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card0-icon-ic" descr="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532" y="2303555"/>
            <a:ext cx="440376" cy="440376"/>
          </a:xfrm>
          <a:prstGeom prst="rect">
            <a:avLst/>
          </a:prstGeom>
        </p:spPr>
      </p:pic>
      <p:sp>
        <p:nvSpPr>
          <p:cNvPr id="17" name="card0-title"/>
          <p:cNvSpPr txBox="1"/>
          <p:nvPr/>
        </p:nvSpPr>
        <p:spPr>
          <a:xfrm>
            <a:off x="822960" y="3063239"/>
            <a:ext cx="19385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61A"/>
                </a:solidFill>
                <a:latin typeface="Yu Gothic UI"/>
              </a:rPr>
              <a:t>日本のドラッグストアの正規子会社</a:t>
            </a:r>
          </a:p>
        </p:txBody>
      </p:sp>
      <p:sp>
        <p:nvSpPr>
          <p:cNvPr id="18" name="card0-body"/>
          <p:cNvSpPr txBox="1"/>
          <p:nvPr/>
        </p:nvSpPr>
        <p:spPr>
          <a:xfrm>
            <a:off x="822960" y="3657599"/>
            <a:ext cx="1938528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E35"/>
                </a:solidFill>
                <a:latin typeface="Yu Gothic UI"/>
              </a:rPr>
              <a:t>SUGI Drug Store Japan のモンゴル子会社。ウランバートル市内に4店舗を展開し、化粧品・医薬部外品・日用品・食品を正規ルートで輸入販売。</a:t>
            </a:r>
          </a:p>
        </p:txBody>
      </p:sp>
      <p:sp>
        <p:nvSpPr>
          <p:cNvPr id="19" name="card0-rule"/>
          <p:cNvSpPr/>
          <p:nvPr/>
        </p:nvSpPr>
        <p:spPr>
          <a:xfrm>
            <a:off x="822960" y="5166359"/>
            <a:ext cx="457200" cy="36576"/>
          </a:xfrm>
          <a:prstGeom prst="rect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0-mn"/>
          <p:cNvSpPr txBox="1"/>
          <p:nvPr/>
        </p:nvSpPr>
        <p:spPr>
          <a:xfrm>
            <a:off x="822960" y="5257799"/>
            <a:ext cx="193852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SUGI Drug Store Japan-ийн охин компани, УБ-д 4 салбар, албан ёсны импорт.</a:t>
            </a:r>
          </a:p>
        </p:txBody>
      </p:sp>
      <p:sp>
        <p:nvSpPr>
          <p:cNvPr id="21" name="card1-sheet"/>
          <p:cNvSpPr/>
          <p:nvPr/>
        </p:nvSpPr>
        <p:spPr>
          <a:xfrm>
            <a:off x="3236976" y="1874519"/>
            <a:ext cx="2487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431800" dist="1270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1-tab"/>
          <p:cNvSpPr/>
          <p:nvPr/>
        </p:nvSpPr>
        <p:spPr>
          <a:xfrm>
            <a:off x="3236976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1-num"/>
          <p:cNvSpPr txBox="1"/>
          <p:nvPr/>
        </p:nvSpPr>
        <p:spPr>
          <a:xfrm>
            <a:off x="3236976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4" name="card1-icon-bg"/>
          <p:cNvSpPr/>
          <p:nvPr/>
        </p:nvSpPr>
        <p:spPr>
          <a:xfrm>
            <a:off x="4626864" y="2130551"/>
            <a:ext cx="786384" cy="786384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card1-icon-ic" descr="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868" y="2303555"/>
            <a:ext cx="440376" cy="440376"/>
          </a:xfrm>
          <a:prstGeom prst="rect">
            <a:avLst/>
          </a:prstGeom>
        </p:spPr>
      </p:pic>
      <p:sp>
        <p:nvSpPr>
          <p:cNvPr id="26" name="card1-title"/>
          <p:cNvSpPr txBox="1"/>
          <p:nvPr/>
        </p:nvSpPr>
        <p:spPr>
          <a:xfrm>
            <a:off x="3511296" y="3063239"/>
            <a:ext cx="19385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61A"/>
                </a:solidFill>
                <a:latin typeface="Yu Gothic UI"/>
              </a:rPr>
              <a:t>9万人超の既存顧客基盤</a:t>
            </a:r>
          </a:p>
        </p:txBody>
      </p:sp>
      <p:sp>
        <p:nvSpPr>
          <p:cNvPr id="27" name="card1-body"/>
          <p:cNvSpPr txBox="1"/>
          <p:nvPr/>
        </p:nvSpPr>
        <p:spPr>
          <a:xfrm>
            <a:off x="3511296" y="3657599"/>
            <a:ext cx="1938528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E35"/>
                </a:solidFill>
                <a:latin typeface="Yu Gothic UI"/>
              </a:rPr>
              <a:t>Facebook で 93,000 人以上のフォロワー。店舗で築いた信頼を、オンラインの購買に直接つなげる土台がすでにある。</a:t>
            </a:r>
          </a:p>
        </p:txBody>
      </p:sp>
      <p:sp>
        <p:nvSpPr>
          <p:cNvPr id="28" name="card1-rule"/>
          <p:cNvSpPr/>
          <p:nvPr/>
        </p:nvSpPr>
        <p:spPr>
          <a:xfrm>
            <a:off x="3511296" y="5166359"/>
            <a:ext cx="457200" cy="36576"/>
          </a:xfrm>
          <a:prstGeom prst="rect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1-mn"/>
          <p:cNvSpPr txBox="1"/>
          <p:nvPr/>
        </p:nvSpPr>
        <p:spPr>
          <a:xfrm>
            <a:off x="3511296" y="5257799"/>
            <a:ext cx="193852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Facebook-т 93,000+ дагагч — бэлэн харилцагчийн суурь.</a:t>
            </a:r>
          </a:p>
        </p:txBody>
      </p:sp>
      <p:sp>
        <p:nvSpPr>
          <p:cNvPr id="30" name="card2-sheet"/>
          <p:cNvSpPr/>
          <p:nvPr/>
        </p:nvSpPr>
        <p:spPr>
          <a:xfrm>
            <a:off x="5925312" y="10104119"/>
            <a:ext cx="2487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431800" dist="1270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ard2-tab"/>
          <p:cNvSpPr/>
          <p:nvPr/>
        </p:nvSpPr>
        <p:spPr>
          <a:xfrm>
            <a:off x="5925312" y="101041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ard2-num"/>
          <p:cNvSpPr txBox="1"/>
          <p:nvPr/>
        </p:nvSpPr>
        <p:spPr>
          <a:xfrm>
            <a:off x="5925312" y="102138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3" name="card2-icon-bg"/>
          <p:cNvSpPr/>
          <p:nvPr/>
        </p:nvSpPr>
        <p:spPr>
          <a:xfrm>
            <a:off x="7315200" y="10360151"/>
            <a:ext cx="786384" cy="78638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card2-icon-ic" descr="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204" y="10533155"/>
            <a:ext cx="440376" cy="440376"/>
          </a:xfrm>
          <a:prstGeom prst="rect">
            <a:avLst/>
          </a:prstGeom>
        </p:spPr>
      </p:pic>
      <p:sp>
        <p:nvSpPr>
          <p:cNvPr id="35" name="card2-title"/>
          <p:cNvSpPr txBox="1"/>
          <p:nvPr/>
        </p:nvSpPr>
        <p:spPr>
          <a:xfrm>
            <a:off x="6199632" y="11292839"/>
            <a:ext cx="19385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61A"/>
                </a:solidFill>
                <a:latin typeface="Yu Gothic UI"/>
              </a:rPr>
              <a:t>自社ECで時間と場所の制約をなくす</a:t>
            </a:r>
          </a:p>
        </p:txBody>
      </p:sp>
      <p:sp>
        <p:nvSpPr>
          <p:cNvPr id="36" name="card2-body"/>
          <p:cNvSpPr txBox="1"/>
          <p:nvPr/>
        </p:nvSpPr>
        <p:spPr>
          <a:xfrm>
            <a:off x="6199632" y="11887199"/>
            <a:ext cx="1938528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E35"/>
                </a:solidFill>
                <a:latin typeface="Yu Gothic UI"/>
              </a:rPr>
              <a:t>店舗の営業時間・立地に縛られない販売チャネル。在庫・注文・顧客データを一元化し、日本本社との連携を容易にする。</a:t>
            </a:r>
          </a:p>
        </p:txBody>
      </p:sp>
      <p:sp>
        <p:nvSpPr>
          <p:cNvPr id="37" name="card2-rule"/>
          <p:cNvSpPr/>
          <p:nvPr/>
        </p:nvSpPr>
        <p:spPr>
          <a:xfrm>
            <a:off x="6199632" y="13395959"/>
            <a:ext cx="457200" cy="36576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ard2-mn"/>
          <p:cNvSpPr txBox="1"/>
          <p:nvPr/>
        </p:nvSpPr>
        <p:spPr>
          <a:xfrm>
            <a:off x="6199632" y="13487399"/>
            <a:ext cx="193852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Дэлгүүрийн цаг, байршлаас хамаарахгүй өөрийн суваг; нэг системд бүх өгөгдөл.</a:t>
            </a:r>
          </a:p>
        </p:txBody>
      </p:sp>
      <p:sp>
        <p:nvSpPr>
          <p:cNvPr id="39" name="mo0-tile"/>
          <p:cNvSpPr/>
          <p:nvPr/>
        </p:nvSpPr>
        <p:spPr>
          <a:xfrm>
            <a:off x="8732520" y="10104119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mo0-img" descr="s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2006" y="10203605"/>
            <a:ext cx="1044612" cy="1044612"/>
          </a:xfrm>
          <a:prstGeom prst="rect">
            <a:avLst/>
          </a:prstGeom>
        </p:spPr>
      </p:pic>
      <p:sp>
        <p:nvSpPr>
          <p:cNvPr id="41" name="mo1-tile"/>
          <p:cNvSpPr/>
          <p:nvPr/>
        </p:nvSpPr>
        <p:spPr>
          <a:xfrm>
            <a:off x="10094976" y="10104119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mo1-img" descr="s0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4462" y="10203605"/>
            <a:ext cx="1044612" cy="1044612"/>
          </a:xfrm>
          <a:prstGeom prst="rect">
            <a:avLst/>
          </a:prstGeom>
        </p:spPr>
      </p:pic>
      <p:sp>
        <p:nvSpPr>
          <p:cNvPr id="43" name="mo2-tile"/>
          <p:cNvSpPr/>
          <p:nvPr/>
        </p:nvSpPr>
        <p:spPr>
          <a:xfrm>
            <a:off x="8732520" y="11466575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mo2-img" descr="s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2006" y="11566061"/>
            <a:ext cx="1044612" cy="1044612"/>
          </a:xfrm>
          <a:prstGeom prst="rect">
            <a:avLst/>
          </a:prstGeom>
        </p:spPr>
      </p:pic>
      <p:sp>
        <p:nvSpPr>
          <p:cNvPr id="45" name="mo3-tile"/>
          <p:cNvSpPr/>
          <p:nvPr/>
        </p:nvSpPr>
        <p:spPr>
          <a:xfrm>
            <a:off x="10094976" y="11466575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mo3-img" descr="s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4462" y="11566061"/>
            <a:ext cx="1044612" cy="1044612"/>
          </a:xfrm>
          <a:prstGeom prst="rect">
            <a:avLst/>
          </a:prstGeom>
        </p:spPr>
      </p:pic>
      <p:sp>
        <p:nvSpPr>
          <p:cNvPr id="47" name="mo4-tile"/>
          <p:cNvSpPr/>
          <p:nvPr/>
        </p:nvSpPr>
        <p:spPr>
          <a:xfrm>
            <a:off x="8732520" y="12829031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mo4-img" descr="s0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32006" y="12928517"/>
            <a:ext cx="1044612" cy="1044612"/>
          </a:xfrm>
          <a:prstGeom prst="rect">
            <a:avLst/>
          </a:prstGeom>
        </p:spPr>
      </p:pic>
      <p:sp>
        <p:nvSpPr>
          <p:cNvPr id="49" name="mo5-tile"/>
          <p:cNvSpPr/>
          <p:nvPr/>
        </p:nvSpPr>
        <p:spPr>
          <a:xfrm>
            <a:off x="10094976" y="12829031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mo5-img" descr="s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94462" y="12928517"/>
            <a:ext cx="1044612" cy="1044612"/>
          </a:xfrm>
          <a:prstGeom prst="rect">
            <a:avLst/>
          </a:prstGeom>
        </p:spPr>
      </p:pic>
      <p:sp>
        <p:nvSpPr>
          <p:cNvPr id="51" name="mo-cap"/>
          <p:cNvSpPr txBox="1"/>
          <p:nvPr/>
        </p:nvSpPr>
        <p:spPr>
          <a:xfrm>
            <a:off x="8732520" y="14173200"/>
            <a:ext cx="2926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980点の日本製品を掲載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信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会社と事業機会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Компани ба боломж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03 / 16</a:t>
            </a:r>
          </a:p>
        </p:txBody>
      </p:sp>
      <p:sp>
        <p:nvSpPr>
          <p:cNvPr id="11" name="intro"/>
          <p:cNvSpPr txBox="1"/>
          <p:nvPr/>
        </p:nvSpPr>
        <p:spPr>
          <a:xfrm>
            <a:off x="777240" y="1417320"/>
            <a:ext cx="78638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Yu Gothic UI"/>
              </a:rPr>
              <a:t>SUGI ASAYAKE は「日本の日常品質」をモンゴルに届けるブランド。ECはその次の成長段階。</a:t>
            </a:r>
          </a:p>
        </p:txBody>
      </p:sp>
      <p:sp>
        <p:nvSpPr>
          <p:cNvPr id="12" name="card0-sheet"/>
          <p:cNvSpPr/>
          <p:nvPr/>
        </p:nvSpPr>
        <p:spPr>
          <a:xfrm>
            <a:off x="548640" y="1874519"/>
            <a:ext cx="2487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431800" dist="1270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0-tab"/>
          <p:cNvSpPr/>
          <p:nvPr/>
        </p:nvSpPr>
        <p:spPr>
          <a:xfrm>
            <a:off x="548640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0-num"/>
          <p:cNvSpPr txBox="1"/>
          <p:nvPr/>
        </p:nvSpPr>
        <p:spPr>
          <a:xfrm>
            <a:off x="548640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5" name="card0-icon-bg"/>
          <p:cNvSpPr/>
          <p:nvPr/>
        </p:nvSpPr>
        <p:spPr>
          <a:xfrm>
            <a:off x="1938528" y="2130551"/>
            <a:ext cx="786384" cy="786384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card0-icon-ic" descr="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532" y="2303555"/>
            <a:ext cx="440376" cy="440376"/>
          </a:xfrm>
          <a:prstGeom prst="rect">
            <a:avLst/>
          </a:prstGeom>
        </p:spPr>
      </p:pic>
      <p:sp>
        <p:nvSpPr>
          <p:cNvPr id="17" name="card0-title"/>
          <p:cNvSpPr txBox="1"/>
          <p:nvPr/>
        </p:nvSpPr>
        <p:spPr>
          <a:xfrm>
            <a:off x="822960" y="3063239"/>
            <a:ext cx="19385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61A"/>
                </a:solidFill>
                <a:latin typeface="Yu Gothic UI"/>
              </a:rPr>
              <a:t>日本のドラッグストアの正規子会社</a:t>
            </a:r>
          </a:p>
        </p:txBody>
      </p:sp>
      <p:sp>
        <p:nvSpPr>
          <p:cNvPr id="18" name="card0-body"/>
          <p:cNvSpPr txBox="1"/>
          <p:nvPr/>
        </p:nvSpPr>
        <p:spPr>
          <a:xfrm>
            <a:off x="822960" y="3657599"/>
            <a:ext cx="1938528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E35"/>
                </a:solidFill>
                <a:latin typeface="Yu Gothic UI"/>
              </a:rPr>
              <a:t>SUGI Drug Store Japan のモンゴル子会社。ウランバートル市内に4店舗を展開し、化粧品・医薬部外品・日用品・食品を正規ルートで輸入販売。</a:t>
            </a:r>
          </a:p>
        </p:txBody>
      </p:sp>
      <p:sp>
        <p:nvSpPr>
          <p:cNvPr id="19" name="card0-rule"/>
          <p:cNvSpPr/>
          <p:nvPr/>
        </p:nvSpPr>
        <p:spPr>
          <a:xfrm>
            <a:off x="822960" y="5166359"/>
            <a:ext cx="457200" cy="36576"/>
          </a:xfrm>
          <a:prstGeom prst="rect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0-mn"/>
          <p:cNvSpPr txBox="1"/>
          <p:nvPr/>
        </p:nvSpPr>
        <p:spPr>
          <a:xfrm>
            <a:off x="822960" y="5257799"/>
            <a:ext cx="193852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SUGI Drug Store Japan-ийн охин компани, УБ-д 4 салбар, албан ёсны импорт.</a:t>
            </a:r>
          </a:p>
        </p:txBody>
      </p:sp>
      <p:sp>
        <p:nvSpPr>
          <p:cNvPr id="21" name="card1-sheet"/>
          <p:cNvSpPr/>
          <p:nvPr/>
        </p:nvSpPr>
        <p:spPr>
          <a:xfrm>
            <a:off x="3236976" y="1874519"/>
            <a:ext cx="2487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431800" dist="1270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1-tab"/>
          <p:cNvSpPr/>
          <p:nvPr/>
        </p:nvSpPr>
        <p:spPr>
          <a:xfrm>
            <a:off x="3236976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1-num"/>
          <p:cNvSpPr txBox="1"/>
          <p:nvPr/>
        </p:nvSpPr>
        <p:spPr>
          <a:xfrm>
            <a:off x="3236976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4" name="card1-icon-bg"/>
          <p:cNvSpPr/>
          <p:nvPr/>
        </p:nvSpPr>
        <p:spPr>
          <a:xfrm>
            <a:off x="4626864" y="2130551"/>
            <a:ext cx="786384" cy="786384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card1-icon-ic" descr="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868" y="2303555"/>
            <a:ext cx="440376" cy="440376"/>
          </a:xfrm>
          <a:prstGeom prst="rect">
            <a:avLst/>
          </a:prstGeom>
        </p:spPr>
      </p:pic>
      <p:sp>
        <p:nvSpPr>
          <p:cNvPr id="26" name="card1-title"/>
          <p:cNvSpPr txBox="1"/>
          <p:nvPr/>
        </p:nvSpPr>
        <p:spPr>
          <a:xfrm>
            <a:off x="3511296" y="3063239"/>
            <a:ext cx="19385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61A"/>
                </a:solidFill>
                <a:latin typeface="Yu Gothic UI"/>
              </a:rPr>
              <a:t>9万人超の既存顧客基盤</a:t>
            </a:r>
          </a:p>
        </p:txBody>
      </p:sp>
      <p:sp>
        <p:nvSpPr>
          <p:cNvPr id="27" name="card1-body"/>
          <p:cNvSpPr txBox="1"/>
          <p:nvPr/>
        </p:nvSpPr>
        <p:spPr>
          <a:xfrm>
            <a:off x="3511296" y="3657599"/>
            <a:ext cx="1938528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E35"/>
                </a:solidFill>
                <a:latin typeface="Yu Gothic UI"/>
              </a:rPr>
              <a:t>Facebook で 93,000 人以上のフォロワー。店舗で築いた信頼を、オンラインの購買に直接つなげる土台がすでにある。</a:t>
            </a:r>
          </a:p>
        </p:txBody>
      </p:sp>
      <p:sp>
        <p:nvSpPr>
          <p:cNvPr id="28" name="card1-rule"/>
          <p:cNvSpPr/>
          <p:nvPr/>
        </p:nvSpPr>
        <p:spPr>
          <a:xfrm>
            <a:off x="3511296" y="5166359"/>
            <a:ext cx="457200" cy="36576"/>
          </a:xfrm>
          <a:prstGeom prst="rect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1-mn"/>
          <p:cNvSpPr txBox="1"/>
          <p:nvPr/>
        </p:nvSpPr>
        <p:spPr>
          <a:xfrm>
            <a:off x="3511296" y="5257799"/>
            <a:ext cx="193852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Facebook-т 93,000+ дагагч — бэлэн харилцагчийн суурь.</a:t>
            </a:r>
          </a:p>
        </p:txBody>
      </p:sp>
      <p:sp>
        <p:nvSpPr>
          <p:cNvPr id="30" name="card2-sheet"/>
          <p:cNvSpPr/>
          <p:nvPr/>
        </p:nvSpPr>
        <p:spPr>
          <a:xfrm>
            <a:off x="5925312" y="1874519"/>
            <a:ext cx="2487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431800" dist="1270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ard2-tab"/>
          <p:cNvSpPr/>
          <p:nvPr/>
        </p:nvSpPr>
        <p:spPr>
          <a:xfrm>
            <a:off x="5925312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ard2-num"/>
          <p:cNvSpPr txBox="1"/>
          <p:nvPr/>
        </p:nvSpPr>
        <p:spPr>
          <a:xfrm>
            <a:off x="5925312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3" name="card2-icon-bg"/>
          <p:cNvSpPr/>
          <p:nvPr/>
        </p:nvSpPr>
        <p:spPr>
          <a:xfrm>
            <a:off x="7315200" y="2130551"/>
            <a:ext cx="786384" cy="78638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card2-icon-ic" descr="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204" y="2303555"/>
            <a:ext cx="440376" cy="440376"/>
          </a:xfrm>
          <a:prstGeom prst="rect">
            <a:avLst/>
          </a:prstGeom>
        </p:spPr>
      </p:pic>
      <p:sp>
        <p:nvSpPr>
          <p:cNvPr id="35" name="card2-title"/>
          <p:cNvSpPr txBox="1"/>
          <p:nvPr/>
        </p:nvSpPr>
        <p:spPr>
          <a:xfrm>
            <a:off x="6199632" y="3063239"/>
            <a:ext cx="19385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61A"/>
                </a:solidFill>
                <a:latin typeface="Yu Gothic UI"/>
              </a:rPr>
              <a:t>自社ECで時間と場所の制約をなくす</a:t>
            </a:r>
          </a:p>
        </p:txBody>
      </p:sp>
      <p:sp>
        <p:nvSpPr>
          <p:cNvPr id="36" name="card2-body"/>
          <p:cNvSpPr txBox="1"/>
          <p:nvPr/>
        </p:nvSpPr>
        <p:spPr>
          <a:xfrm>
            <a:off x="6199632" y="3657599"/>
            <a:ext cx="1938528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E35"/>
                </a:solidFill>
                <a:latin typeface="Yu Gothic UI"/>
              </a:rPr>
              <a:t>店舗の営業時間・立地に縛られない販売チャネル。在庫・注文・顧客データを一元化し、日本本社との連携を容易にする。</a:t>
            </a:r>
          </a:p>
        </p:txBody>
      </p:sp>
      <p:sp>
        <p:nvSpPr>
          <p:cNvPr id="37" name="card2-rule"/>
          <p:cNvSpPr/>
          <p:nvPr/>
        </p:nvSpPr>
        <p:spPr>
          <a:xfrm>
            <a:off x="6199632" y="5166359"/>
            <a:ext cx="457200" cy="36576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ard2-mn"/>
          <p:cNvSpPr txBox="1"/>
          <p:nvPr/>
        </p:nvSpPr>
        <p:spPr>
          <a:xfrm>
            <a:off x="6199632" y="5257799"/>
            <a:ext cx="193852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Дэлгүүрийн цаг, байршлаас хамаарахгүй өөрийн суваг; нэг системд бүх өгөгдөл.</a:t>
            </a:r>
          </a:p>
        </p:txBody>
      </p:sp>
      <p:sp>
        <p:nvSpPr>
          <p:cNvPr id="39" name="mo0-tile"/>
          <p:cNvSpPr/>
          <p:nvPr/>
        </p:nvSpPr>
        <p:spPr>
          <a:xfrm>
            <a:off x="8732520" y="10104119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mo0-img" descr="s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2006" y="10203605"/>
            <a:ext cx="1044612" cy="1044612"/>
          </a:xfrm>
          <a:prstGeom prst="rect">
            <a:avLst/>
          </a:prstGeom>
        </p:spPr>
      </p:pic>
      <p:sp>
        <p:nvSpPr>
          <p:cNvPr id="41" name="mo1-tile"/>
          <p:cNvSpPr/>
          <p:nvPr/>
        </p:nvSpPr>
        <p:spPr>
          <a:xfrm>
            <a:off x="10094976" y="10104119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mo1-img" descr="s0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4462" y="10203605"/>
            <a:ext cx="1044612" cy="1044612"/>
          </a:xfrm>
          <a:prstGeom prst="rect">
            <a:avLst/>
          </a:prstGeom>
        </p:spPr>
      </p:pic>
      <p:sp>
        <p:nvSpPr>
          <p:cNvPr id="43" name="mo2-tile"/>
          <p:cNvSpPr/>
          <p:nvPr/>
        </p:nvSpPr>
        <p:spPr>
          <a:xfrm>
            <a:off x="8732520" y="11466575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mo2-img" descr="s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2006" y="11566061"/>
            <a:ext cx="1044612" cy="1044612"/>
          </a:xfrm>
          <a:prstGeom prst="rect">
            <a:avLst/>
          </a:prstGeom>
        </p:spPr>
      </p:pic>
      <p:sp>
        <p:nvSpPr>
          <p:cNvPr id="45" name="mo3-tile"/>
          <p:cNvSpPr/>
          <p:nvPr/>
        </p:nvSpPr>
        <p:spPr>
          <a:xfrm>
            <a:off x="10094976" y="11466575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mo3-img" descr="s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4462" y="11566061"/>
            <a:ext cx="1044612" cy="1044612"/>
          </a:xfrm>
          <a:prstGeom prst="rect">
            <a:avLst/>
          </a:prstGeom>
        </p:spPr>
      </p:pic>
      <p:sp>
        <p:nvSpPr>
          <p:cNvPr id="47" name="mo4-tile"/>
          <p:cNvSpPr/>
          <p:nvPr/>
        </p:nvSpPr>
        <p:spPr>
          <a:xfrm>
            <a:off x="8732520" y="12829031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mo4-img" descr="s0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32006" y="12928517"/>
            <a:ext cx="1044612" cy="1044612"/>
          </a:xfrm>
          <a:prstGeom prst="rect">
            <a:avLst/>
          </a:prstGeom>
        </p:spPr>
      </p:pic>
      <p:sp>
        <p:nvSpPr>
          <p:cNvPr id="49" name="mo5-tile"/>
          <p:cNvSpPr/>
          <p:nvPr/>
        </p:nvSpPr>
        <p:spPr>
          <a:xfrm>
            <a:off x="10094976" y="12829031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mo5-img" descr="s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94462" y="12928517"/>
            <a:ext cx="1044612" cy="1044612"/>
          </a:xfrm>
          <a:prstGeom prst="rect">
            <a:avLst/>
          </a:prstGeom>
        </p:spPr>
      </p:pic>
      <p:sp>
        <p:nvSpPr>
          <p:cNvPr id="51" name="mo-cap"/>
          <p:cNvSpPr txBox="1"/>
          <p:nvPr/>
        </p:nvSpPr>
        <p:spPr>
          <a:xfrm>
            <a:off x="8732520" y="14173200"/>
            <a:ext cx="2926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980点の日本製品を掲載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信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会社と事業機会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Компани ба боломж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03 / 16</a:t>
            </a:r>
          </a:p>
        </p:txBody>
      </p:sp>
      <p:sp>
        <p:nvSpPr>
          <p:cNvPr id="11" name="intro"/>
          <p:cNvSpPr txBox="1"/>
          <p:nvPr/>
        </p:nvSpPr>
        <p:spPr>
          <a:xfrm>
            <a:off x="777240" y="1417320"/>
            <a:ext cx="78638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Yu Gothic UI"/>
              </a:rPr>
              <a:t>SUGI ASAYAKE は「日本の日常品質」をモンゴルに届けるブランド。ECはその次の成長段階。</a:t>
            </a:r>
          </a:p>
        </p:txBody>
      </p:sp>
      <p:sp>
        <p:nvSpPr>
          <p:cNvPr id="12" name="card0-sheet"/>
          <p:cNvSpPr/>
          <p:nvPr/>
        </p:nvSpPr>
        <p:spPr>
          <a:xfrm>
            <a:off x="548640" y="1874519"/>
            <a:ext cx="2487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431800" dist="1270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0-tab"/>
          <p:cNvSpPr/>
          <p:nvPr/>
        </p:nvSpPr>
        <p:spPr>
          <a:xfrm>
            <a:off x="548640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0-num"/>
          <p:cNvSpPr txBox="1"/>
          <p:nvPr/>
        </p:nvSpPr>
        <p:spPr>
          <a:xfrm>
            <a:off x="548640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5" name="card0-icon-bg"/>
          <p:cNvSpPr/>
          <p:nvPr/>
        </p:nvSpPr>
        <p:spPr>
          <a:xfrm>
            <a:off x="1938528" y="2130551"/>
            <a:ext cx="786384" cy="786384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card0-icon-ic" descr="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532" y="2303555"/>
            <a:ext cx="440376" cy="440376"/>
          </a:xfrm>
          <a:prstGeom prst="rect">
            <a:avLst/>
          </a:prstGeom>
        </p:spPr>
      </p:pic>
      <p:sp>
        <p:nvSpPr>
          <p:cNvPr id="17" name="card0-title"/>
          <p:cNvSpPr txBox="1"/>
          <p:nvPr/>
        </p:nvSpPr>
        <p:spPr>
          <a:xfrm>
            <a:off x="822960" y="3063239"/>
            <a:ext cx="19385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61A"/>
                </a:solidFill>
                <a:latin typeface="Yu Gothic UI"/>
              </a:rPr>
              <a:t>日本のドラッグストアの正規子会社</a:t>
            </a:r>
          </a:p>
        </p:txBody>
      </p:sp>
      <p:sp>
        <p:nvSpPr>
          <p:cNvPr id="18" name="card0-body"/>
          <p:cNvSpPr txBox="1"/>
          <p:nvPr/>
        </p:nvSpPr>
        <p:spPr>
          <a:xfrm>
            <a:off x="822960" y="3657599"/>
            <a:ext cx="1938528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E35"/>
                </a:solidFill>
                <a:latin typeface="Yu Gothic UI"/>
              </a:rPr>
              <a:t>SUGI Drug Store Japan のモンゴル子会社。ウランバートル市内に4店舗を展開し、化粧品・医薬部外品・日用品・食品を正規ルートで輸入販売。</a:t>
            </a:r>
          </a:p>
        </p:txBody>
      </p:sp>
      <p:sp>
        <p:nvSpPr>
          <p:cNvPr id="19" name="card0-rule"/>
          <p:cNvSpPr/>
          <p:nvPr/>
        </p:nvSpPr>
        <p:spPr>
          <a:xfrm>
            <a:off x="822960" y="5166359"/>
            <a:ext cx="457200" cy="36576"/>
          </a:xfrm>
          <a:prstGeom prst="rect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0-mn"/>
          <p:cNvSpPr txBox="1"/>
          <p:nvPr/>
        </p:nvSpPr>
        <p:spPr>
          <a:xfrm>
            <a:off x="822960" y="5257799"/>
            <a:ext cx="193852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SUGI Drug Store Japan-ийн охин компани, УБ-д 4 салбар, албан ёсны импорт.</a:t>
            </a:r>
          </a:p>
        </p:txBody>
      </p:sp>
      <p:sp>
        <p:nvSpPr>
          <p:cNvPr id="21" name="card1-sheet"/>
          <p:cNvSpPr/>
          <p:nvPr/>
        </p:nvSpPr>
        <p:spPr>
          <a:xfrm>
            <a:off x="3236976" y="1874519"/>
            <a:ext cx="2487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431800" dist="1270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1-tab"/>
          <p:cNvSpPr/>
          <p:nvPr/>
        </p:nvSpPr>
        <p:spPr>
          <a:xfrm>
            <a:off x="3236976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1-num"/>
          <p:cNvSpPr txBox="1"/>
          <p:nvPr/>
        </p:nvSpPr>
        <p:spPr>
          <a:xfrm>
            <a:off x="3236976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4" name="card1-icon-bg"/>
          <p:cNvSpPr/>
          <p:nvPr/>
        </p:nvSpPr>
        <p:spPr>
          <a:xfrm>
            <a:off x="4626864" y="2130551"/>
            <a:ext cx="786384" cy="786384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card1-icon-ic" descr="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868" y="2303555"/>
            <a:ext cx="440376" cy="440376"/>
          </a:xfrm>
          <a:prstGeom prst="rect">
            <a:avLst/>
          </a:prstGeom>
        </p:spPr>
      </p:pic>
      <p:sp>
        <p:nvSpPr>
          <p:cNvPr id="26" name="card1-title"/>
          <p:cNvSpPr txBox="1"/>
          <p:nvPr/>
        </p:nvSpPr>
        <p:spPr>
          <a:xfrm>
            <a:off x="3511296" y="3063239"/>
            <a:ext cx="19385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61A"/>
                </a:solidFill>
                <a:latin typeface="Yu Gothic UI"/>
              </a:rPr>
              <a:t>9万人超の既存顧客基盤</a:t>
            </a:r>
          </a:p>
        </p:txBody>
      </p:sp>
      <p:sp>
        <p:nvSpPr>
          <p:cNvPr id="27" name="card1-body"/>
          <p:cNvSpPr txBox="1"/>
          <p:nvPr/>
        </p:nvSpPr>
        <p:spPr>
          <a:xfrm>
            <a:off x="3511296" y="3657599"/>
            <a:ext cx="1938528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E35"/>
                </a:solidFill>
                <a:latin typeface="Yu Gothic UI"/>
              </a:rPr>
              <a:t>Facebook で 93,000 人以上のフォロワー。店舗で築いた信頼を、オンラインの購買に直接つなげる土台がすでにある。</a:t>
            </a:r>
          </a:p>
        </p:txBody>
      </p:sp>
      <p:sp>
        <p:nvSpPr>
          <p:cNvPr id="28" name="card1-rule"/>
          <p:cNvSpPr/>
          <p:nvPr/>
        </p:nvSpPr>
        <p:spPr>
          <a:xfrm>
            <a:off x="3511296" y="5166359"/>
            <a:ext cx="457200" cy="36576"/>
          </a:xfrm>
          <a:prstGeom prst="rect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1-mn"/>
          <p:cNvSpPr txBox="1"/>
          <p:nvPr/>
        </p:nvSpPr>
        <p:spPr>
          <a:xfrm>
            <a:off x="3511296" y="5257799"/>
            <a:ext cx="193852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Facebook-т 93,000+ дагагч — бэлэн харилцагчийн суурь.</a:t>
            </a:r>
          </a:p>
        </p:txBody>
      </p:sp>
      <p:sp>
        <p:nvSpPr>
          <p:cNvPr id="30" name="card2-sheet"/>
          <p:cNvSpPr/>
          <p:nvPr/>
        </p:nvSpPr>
        <p:spPr>
          <a:xfrm>
            <a:off x="5925312" y="1874519"/>
            <a:ext cx="2487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431800" dist="1270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ard2-tab"/>
          <p:cNvSpPr/>
          <p:nvPr/>
        </p:nvSpPr>
        <p:spPr>
          <a:xfrm>
            <a:off x="5925312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ard2-num"/>
          <p:cNvSpPr txBox="1"/>
          <p:nvPr/>
        </p:nvSpPr>
        <p:spPr>
          <a:xfrm>
            <a:off x="5925312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3" name="card2-icon-bg"/>
          <p:cNvSpPr/>
          <p:nvPr/>
        </p:nvSpPr>
        <p:spPr>
          <a:xfrm>
            <a:off x="7315200" y="2130551"/>
            <a:ext cx="786384" cy="78638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card2-icon-ic" descr="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204" y="2303555"/>
            <a:ext cx="440376" cy="440376"/>
          </a:xfrm>
          <a:prstGeom prst="rect">
            <a:avLst/>
          </a:prstGeom>
        </p:spPr>
      </p:pic>
      <p:sp>
        <p:nvSpPr>
          <p:cNvPr id="35" name="card2-title"/>
          <p:cNvSpPr txBox="1"/>
          <p:nvPr/>
        </p:nvSpPr>
        <p:spPr>
          <a:xfrm>
            <a:off x="6199632" y="3063239"/>
            <a:ext cx="19385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61A"/>
                </a:solidFill>
                <a:latin typeface="Yu Gothic UI"/>
              </a:rPr>
              <a:t>自社ECで時間と場所の制約をなくす</a:t>
            </a:r>
          </a:p>
        </p:txBody>
      </p:sp>
      <p:sp>
        <p:nvSpPr>
          <p:cNvPr id="36" name="card2-body"/>
          <p:cNvSpPr txBox="1"/>
          <p:nvPr/>
        </p:nvSpPr>
        <p:spPr>
          <a:xfrm>
            <a:off x="6199632" y="3657599"/>
            <a:ext cx="1938528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E35"/>
                </a:solidFill>
                <a:latin typeface="Yu Gothic UI"/>
              </a:rPr>
              <a:t>店舗の営業時間・立地に縛られない販売チャネル。在庫・注文・顧客データを一元化し、日本本社との連携を容易にする。</a:t>
            </a:r>
          </a:p>
        </p:txBody>
      </p:sp>
      <p:sp>
        <p:nvSpPr>
          <p:cNvPr id="37" name="card2-rule"/>
          <p:cNvSpPr/>
          <p:nvPr/>
        </p:nvSpPr>
        <p:spPr>
          <a:xfrm>
            <a:off x="6199632" y="5166359"/>
            <a:ext cx="457200" cy="36576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ard2-mn"/>
          <p:cNvSpPr txBox="1"/>
          <p:nvPr/>
        </p:nvSpPr>
        <p:spPr>
          <a:xfrm>
            <a:off x="6199632" y="5257799"/>
            <a:ext cx="193852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Дэлгүүрийн цаг, байршлаас хамаарахгүй өөрийн суваг; нэг системд бүх өгөгдөл.</a:t>
            </a:r>
          </a:p>
        </p:txBody>
      </p:sp>
      <p:sp>
        <p:nvSpPr>
          <p:cNvPr id="39" name="mo0-tile"/>
          <p:cNvSpPr/>
          <p:nvPr/>
        </p:nvSpPr>
        <p:spPr>
          <a:xfrm>
            <a:off x="8732520" y="1874519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mo0-img" descr="s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2006" y="1974005"/>
            <a:ext cx="1044612" cy="1044612"/>
          </a:xfrm>
          <a:prstGeom prst="rect">
            <a:avLst/>
          </a:prstGeom>
        </p:spPr>
      </p:pic>
      <p:sp>
        <p:nvSpPr>
          <p:cNvPr id="41" name="mo1-tile"/>
          <p:cNvSpPr/>
          <p:nvPr/>
        </p:nvSpPr>
        <p:spPr>
          <a:xfrm>
            <a:off x="10094976" y="1874519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mo1-img" descr="s0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4462" y="1974005"/>
            <a:ext cx="1044612" cy="1044612"/>
          </a:xfrm>
          <a:prstGeom prst="rect">
            <a:avLst/>
          </a:prstGeom>
        </p:spPr>
      </p:pic>
      <p:sp>
        <p:nvSpPr>
          <p:cNvPr id="43" name="mo2-tile"/>
          <p:cNvSpPr/>
          <p:nvPr/>
        </p:nvSpPr>
        <p:spPr>
          <a:xfrm>
            <a:off x="8732520" y="3236975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mo2-img" descr="s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2006" y="3336461"/>
            <a:ext cx="1044612" cy="1044612"/>
          </a:xfrm>
          <a:prstGeom prst="rect">
            <a:avLst/>
          </a:prstGeom>
        </p:spPr>
      </p:pic>
      <p:sp>
        <p:nvSpPr>
          <p:cNvPr id="45" name="mo3-tile"/>
          <p:cNvSpPr/>
          <p:nvPr/>
        </p:nvSpPr>
        <p:spPr>
          <a:xfrm>
            <a:off x="10094976" y="3236975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mo3-img" descr="s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4462" y="3336461"/>
            <a:ext cx="1044612" cy="1044612"/>
          </a:xfrm>
          <a:prstGeom prst="rect">
            <a:avLst/>
          </a:prstGeom>
        </p:spPr>
      </p:pic>
      <p:sp>
        <p:nvSpPr>
          <p:cNvPr id="47" name="mo4-tile"/>
          <p:cNvSpPr/>
          <p:nvPr/>
        </p:nvSpPr>
        <p:spPr>
          <a:xfrm>
            <a:off x="8732520" y="4599431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mo4-img" descr="s0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32006" y="4698917"/>
            <a:ext cx="1044612" cy="1044612"/>
          </a:xfrm>
          <a:prstGeom prst="rect">
            <a:avLst/>
          </a:prstGeom>
        </p:spPr>
      </p:pic>
      <p:sp>
        <p:nvSpPr>
          <p:cNvPr id="49" name="mo5-tile"/>
          <p:cNvSpPr/>
          <p:nvPr/>
        </p:nvSpPr>
        <p:spPr>
          <a:xfrm>
            <a:off x="10094976" y="4599431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mo5-img" descr="s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94462" y="4698917"/>
            <a:ext cx="1044612" cy="1044612"/>
          </a:xfrm>
          <a:prstGeom prst="rect">
            <a:avLst/>
          </a:prstGeom>
        </p:spPr>
      </p:pic>
      <p:sp>
        <p:nvSpPr>
          <p:cNvPr id="51" name="mo-cap"/>
          <p:cNvSpPr txBox="1"/>
          <p:nvPr/>
        </p:nvSpPr>
        <p:spPr>
          <a:xfrm>
            <a:off x="8732520" y="5943600"/>
            <a:ext cx="2926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980点の日本製品を掲載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見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サイト概要 — ドラッグストアの体験をオンラインに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Сайтын ерөнхий дүр зураг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04 / 16</a:t>
            </a:r>
          </a:p>
        </p:txBody>
      </p:sp>
      <p:sp>
        <p:nvSpPr>
          <p:cNvPr id="11" name="home-frame"/>
          <p:cNvSpPr/>
          <p:nvPr/>
        </p:nvSpPr>
        <p:spPr>
          <a:xfrm>
            <a:off x="548640" y="10012680"/>
            <a:ext cx="6949440" cy="4308652"/>
          </a:xfrm>
          <a:prstGeom prst="roundRect">
            <a:avLst>
              <a:gd name="adj" fmla="val 3000"/>
            </a:avLst>
          </a:prstGeom>
          <a:solidFill>
            <a:srgbClr val="2A2E35"/>
          </a:solidFill>
          <a:ln>
            <a:noFill/>
          </a:ln>
          <a:effectLst>
            <a:outerShdw blurRad="508000" dist="1778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home-img" descr="slide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0158984"/>
            <a:ext cx="6656832" cy="4016044"/>
          </a:xfrm>
          <a:prstGeom prst="rect">
            <a:avLst/>
          </a:prstGeom>
        </p:spPr>
      </p:pic>
      <p:sp>
        <p:nvSpPr>
          <p:cNvPr id="13" name="home-base"/>
          <p:cNvSpPr/>
          <p:nvPr/>
        </p:nvSpPr>
        <p:spPr>
          <a:xfrm>
            <a:off x="228600" y="14321332"/>
            <a:ext cx="7589520" cy="14630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ill0"/>
          <p:cNvSpPr/>
          <p:nvPr/>
        </p:nvSpPr>
        <p:spPr>
          <a:xfrm>
            <a:off x="7818120" y="10012680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ill0-bg"/>
          <p:cNvSpPr/>
          <p:nvPr/>
        </p:nvSpPr>
        <p:spPr>
          <a:xfrm>
            <a:off x="7955280" y="10131552"/>
            <a:ext cx="512064" cy="512064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ll0-ic" descr="langu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934" y="10244206"/>
            <a:ext cx="286756" cy="286756"/>
          </a:xfrm>
          <a:prstGeom prst="rect">
            <a:avLst/>
          </a:prstGeom>
        </p:spPr>
      </p:pic>
      <p:sp>
        <p:nvSpPr>
          <p:cNvPr id="17" name="pill0-t"/>
          <p:cNvSpPr txBox="1"/>
          <p:nvPr/>
        </p:nvSpPr>
        <p:spPr>
          <a:xfrm>
            <a:off x="8595360" y="10085832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3言語表示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Монгол / English / 日本語</a:t>
            </a:r>
          </a:p>
        </p:txBody>
      </p:sp>
      <p:sp>
        <p:nvSpPr>
          <p:cNvPr id="18" name="pill1"/>
          <p:cNvSpPr/>
          <p:nvPr/>
        </p:nvSpPr>
        <p:spPr>
          <a:xfrm>
            <a:off x="7818120" y="10908792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ill1-bg"/>
          <p:cNvSpPr/>
          <p:nvPr/>
        </p:nvSpPr>
        <p:spPr>
          <a:xfrm>
            <a:off x="7955280" y="11027664"/>
            <a:ext cx="512064" cy="51206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ll1-ic" descr="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7934" y="11140318"/>
            <a:ext cx="286756" cy="286756"/>
          </a:xfrm>
          <a:prstGeom prst="rect">
            <a:avLst/>
          </a:prstGeom>
        </p:spPr>
      </p:pic>
      <p:sp>
        <p:nvSpPr>
          <p:cNvPr id="21" name="pill1-t"/>
          <p:cNvSpPr txBox="1"/>
          <p:nvPr/>
        </p:nvSpPr>
        <p:spPr>
          <a:xfrm>
            <a:off x="8595360" y="1098194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スマホ優先・PWA・ダークモード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Утсанд, PWA, харанхуй горим</a:t>
            </a:r>
          </a:p>
        </p:txBody>
      </p:sp>
      <p:sp>
        <p:nvSpPr>
          <p:cNvPr id="22" name="pill2"/>
          <p:cNvSpPr/>
          <p:nvPr/>
        </p:nvSpPr>
        <p:spPr>
          <a:xfrm>
            <a:off x="7818120" y="11804904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ill2-bg"/>
          <p:cNvSpPr/>
          <p:nvPr/>
        </p:nvSpPr>
        <p:spPr>
          <a:xfrm>
            <a:off x="7955280" y="11923776"/>
            <a:ext cx="512064" cy="512064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ll2-ic" descr="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934" y="12036430"/>
            <a:ext cx="286756" cy="286756"/>
          </a:xfrm>
          <a:prstGeom prst="rect">
            <a:avLst/>
          </a:prstGeom>
        </p:spPr>
      </p:pic>
      <p:sp>
        <p:nvSpPr>
          <p:cNvPr id="25" name="pill2-t"/>
          <p:cNvSpPr txBox="1"/>
          <p:nvPr/>
        </p:nvSpPr>
        <p:spPr>
          <a:xfrm>
            <a:off x="8595360" y="11878056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ブランド・カテゴリーを管理画面から編集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Брэнд, ангилал бүгд админаас</a:t>
            </a:r>
          </a:p>
        </p:txBody>
      </p:sp>
      <p:sp>
        <p:nvSpPr>
          <p:cNvPr id="26" name="pill3"/>
          <p:cNvSpPr/>
          <p:nvPr/>
        </p:nvSpPr>
        <p:spPr>
          <a:xfrm>
            <a:off x="7818120" y="12701016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ill3-bg"/>
          <p:cNvSpPr/>
          <p:nvPr/>
        </p:nvSpPr>
        <p:spPr>
          <a:xfrm>
            <a:off x="7955280" y="12819888"/>
            <a:ext cx="512064" cy="51206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ll3-ic" descr="st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7934" y="12932542"/>
            <a:ext cx="286756" cy="286756"/>
          </a:xfrm>
          <a:prstGeom prst="rect">
            <a:avLst/>
          </a:prstGeom>
        </p:spPr>
      </p:pic>
      <p:sp>
        <p:nvSpPr>
          <p:cNvPr id="29" name="pill3-t"/>
          <p:cNvSpPr txBox="1"/>
          <p:nvPr/>
        </p:nvSpPr>
        <p:spPr>
          <a:xfrm>
            <a:off x="8595360" y="127741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肌質・髪質プロフィールに基づく提案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Профайлд суурилсан санал</a:t>
            </a:r>
          </a:p>
        </p:txBody>
      </p:sp>
      <p:sp>
        <p:nvSpPr>
          <p:cNvPr id="30" name="pill4"/>
          <p:cNvSpPr/>
          <p:nvPr/>
        </p:nvSpPr>
        <p:spPr>
          <a:xfrm>
            <a:off x="7818120" y="13597128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ill4-bg"/>
          <p:cNvSpPr/>
          <p:nvPr/>
        </p:nvSpPr>
        <p:spPr>
          <a:xfrm>
            <a:off x="7955280" y="13716000"/>
            <a:ext cx="512064" cy="512064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ll4-ic" descr="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7934" y="13828654"/>
            <a:ext cx="286756" cy="286756"/>
          </a:xfrm>
          <a:prstGeom prst="rect">
            <a:avLst/>
          </a:prstGeom>
        </p:spPr>
      </p:pic>
      <p:sp>
        <p:nvSpPr>
          <p:cNvPr id="33" name="pill4-t"/>
          <p:cNvSpPr txBox="1"/>
          <p:nvPr/>
        </p:nvSpPr>
        <p:spPr>
          <a:xfrm>
            <a:off x="8595360" y="1367028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Cookie同意・WCAG 2.2 AA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Күкийн зөвшөөрөл, хүртээмж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見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サイト概要 — ドラッグストアの体験をオンラインに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Сайтын ерөнхий дүр зураг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04 / 16</a:t>
            </a:r>
          </a:p>
        </p:txBody>
      </p:sp>
      <p:sp>
        <p:nvSpPr>
          <p:cNvPr id="11" name="home-frame"/>
          <p:cNvSpPr/>
          <p:nvPr/>
        </p:nvSpPr>
        <p:spPr>
          <a:xfrm>
            <a:off x="548640" y="1783080"/>
            <a:ext cx="6949440" cy="4308652"/>
          </a:xfrm>
          <a:prstGeom prst="roundRect">
            <a:avLst>
              <a:gd name="adj" fmla="val 3000"/>
            </a:avLst>
          </a:prstGeom>
          <a:solidFill>
            <a:srgbClr val="2A2E35"/>
          </a:solidFill>
          <a:ln>
            <a:noFill/>
          </a:ln>
          <a:effectLst>
            <a:outerShdw blurRad="508000" dist="1778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home-img" descr="slide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929384"/>
            <a:ext cx="6656832" cy="4016044"/>
          </a:xfrm>
          <a:prstGeom prst="rect">
            <a:avLst/>
          </a:prstGeom>
        </p:spPr>
      </p:pic>
      <p:sp>
        <p:nvSpPr>
          <p:cNvPr id="13" name="home-base"/>
          <p:cNvSpPr/>
          <p:nvPr/>
        </p:nvSpPr>
        <p:spPr>
          <a:xfrm>
            <a:off x="228600" y="6091732"/>
            <a:ext cx="7589520" cy="14630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ill0"/>
          <p:cNvSpPr/>
          <p:nvPr/>
        </p:nvSpPr>
        <p:spPr>
          <a:xfrm>
            <a:off x="7818120" y="1783080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ill0-bg"/>
          <p:cNvSpPr/>
          <p:nvPr/>
        </p:nvSpPr>
        <p:spPr>
          <a:xfrm>
            <a:off x="7955280" y="1901952"/>
            <a:ext cx="512064" cy="512064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ll0-ic" descr="langu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934" y="2014606"/>
            <a:ext cx="286756" cy="286756"/>
          </a:xfrm>
          <a:prstGeom prst="rect">
            <a:avLst/>
          </a:prstGeom>
        </p:spPr>
      </p:pic>
      <p:sp>
        <p:nvSpPr>
          <p:cNvPr id="17" name="pill0-t"/>
          <p:cNvSpPr txBox="1"/>
          <p:nvPr/>
        </p:nvSpPr>
        <p:spPr>
          <a:xfrm>
            <a:off x="8595360" y="1856232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3言語表示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Монгол / English / 日本語</a:t>
            </a:r>
          </a:p>
        </p:txBody>
      </p:sp>
      <p:sp>
        <p:nvSpPr>
          <p:cNvPr id="18" name="pill1"/>
          <p:cNvSpPr/>
          <p:nvPr/>
        </p:nvSpPr>
        <p:spPr>
          <a:xfrm>
            <a:off x="7818120" y="2679192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ill1-bg"/>
          <p:cNvSpPr/>
          <p:nvPr/>
        </p:nvSpPr>
        <p:spPr>
          <a:xfrm>
            <a:off x="7955280" y="2798064"/>
            <a:ext cx="512064" cy="51206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ll1-ic" descr="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7934" y="2910718"/>
            <a:ext cx="286756" cy="286756"/>
          </a:xfrm>
          <a:prstGeom prst="rect">
            <a:avLst/>
          </a:prstGeom>
        </p:spPr>
      </p:pic>
      <p:sp>
        <p:nvSpPr>
          <p:cNvPr id="21" name="pill1-t"/>
          <p:cNvSpPr txBox="1"/>
          <p:nvPr/>
        </p:nvSpPr>
        <p:spPr>
          <a:xfrm>
            <a:off x="8595360" y="275234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スマホ優先・PWA・ダークモード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Утсанд, PWA, харанхуй горим</a:t>
            </a:r>
          </a:p>
        </p:txBody>
      </p:sp>
      <p:sp>
        <p:nvSpPr>
          <p:cNvPr id="22" name="pill2"/>
          <p:cNvSpPr/>
          <p:nvPr/>
        </p:nvSpPr>
        <p:spPr>
          <a:xfrm>
            <a:off x="7818120" y="3575304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ill2-bg"/>
          <p:cNvSpPr/>
          <p:nvPr/>
        </p:nvSpPr>
        <p:spPr>
          <a:xfrm>
            <a:off x="7955280" y="3694176"/>
            <a:ext cx="512064" cy="512064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ll2-ic" descr="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934" y="3806830"/>
            <a:ext cx="286756" cy="286756"/>
          </a:xfrm>
          <a:prstGeom prst="rect">
            <a:avLst/>
          </a:prstGeom>
        </p:spPr>
      </p:pic>
      <p:sp>
        <p:nvSpPr>
          <p:cNvPr id="25" name="pill2-t"/>
          <p:cNvSpPr txBox="1"/>
          <p:nvPr/>
        </p:nvSpPr>
        <p:spPr>
          <a:xfrm>
            <a:off x="8595360" y="3648456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ブランド・カテゴリーを管理画面から編集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Брэнд, ангилал бүгд админаас</a:t>
            </a:r>
          </a:p>
        </p:txBody>
      </p:sp>
      <p:sp>
        <p:nvSpPr>
          <p:cNvPr id="26" name="pill3"/>
          <p:cNvSpPr/>
          <p:nvPr/>
        </p:nvSpPr>
        <p:spPr>
          <a:xfrm>
            <a:off x="7818120" y="4471416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ill3-bg"/>
          <p:cNvSpPr/>
          <p:nvPr/>
        </p:nvSpPr>
        <p:spPr>
          <a:xfrm>
            <a:off x="7955280" y="4590288"/>
            <a:ext cx="512064" cy="51206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ll3-ic" descr="st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7934" y="4702942"/>
            <a:ext cx="286756" cy="286756"/>
          </a:xfrm>
          <a:prstGeom prst="rect">
            <a:avLst/>
          </a:prstGeom>
        </p:spPr>
      </p:pic>
      <p:sp>
        <p:nvSpPr>
          <p:cNvPr id="29" name="pill3-t"/>
          <p:cNvSpPr txBox="1"/>
          <p:nvPr/>
        </p:nvSpPr>
        <p:spPr>
          <a:xfrm>
            <a:off x="8595360" y="45445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肌質・髪質プロフィールに基づく提案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Профайлд суурилсан санал</a:t>
            </a:r>
          </a:p>
        </p:txBody>
      </p:sp>
      <p:sp>
        <p:nvSpPr>
          <p:cNvPr id="30" name="pill4"/>
          <p:cNvSpPr/>
          <p:nvPr/>
        </p:nvSpPr>
        <p:spPr>
          <a:xfrm>
            <a:off x="7818120" y="5367528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ill4-bg"/>
          <p:cNvSpPr/>
          <p:nvPr/>
        </p:nvSpPr>
        <p:spPr>
          <a:xfrm>
            <a:off x="7955280" y="5486400"/>
            <a:ext cx="512064" cy="512064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ll4-ic" descr="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7934" y="5599054"/>
            <a:ext cx="286756" cy="286756"/>
          </a:xfrm>
          <a:prstGeom prst="rect">
            <a:avLst/>
          </a:prstGeom>
        </p:spPr>
      </p:pic>
      <p:sp>
        <p:nvSpPr>
          <p:cNvPr id="33" name="pill4-t"/>
          <p:cNvSpPr txBox="1"/>
          <p:nvPr/>
        </p:nvSpPr>
        <p:spPr>
          <a:xfrm>
            <a:off x="8595360" y="544068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Cookie同意・WCAG 2.2 AA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Күкийн зөвшөөрөл, хүртээмж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手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スマホで完結する買い物体験（実際の画面）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Утсан дээрх бодит дэлгэц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05 / 16</a:t>
            </a:r>
          </a:p>
        </p:txBody>
      </p:sp>
      <p:sp>
        <p:nvSpPr>
          <p:cNvPr id="11" name="intro"/>
          <p:cNvSpPr txBox="1"/>
          <p:nvPr/>
        </p:nvSpPr>
        <p:spPr>
          <a:xfrm>
            <a:off x="777240" y="1371600"/>
            <a:ext cx="68580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076"/>
                </a:solidFill>
                <a:latin typeface="Yu Gothic UI"/>
              </a:rPr>
              <a:t>モンゴルのオンライン購入の大半はスマートフォンから。2026年9月14日、本番サイトの日本語表示をそのまま掲載。</a:t>
            </a:r>
          </a:p>
        </p:txBody>
      </p:sp>
      <p:sp>
        <p:nvSpPr>
          <p:cNvPr id="12" name="ph1-body"/>
          <p:cNvSpPr/>
          <p:nvPr/>
        </p:nvSpPr>
        <p:spPr>
          <a:xfrm>
            <a:off x="868680" y="1783080"/>
            <a:ext cx="2011680" cy="4184294"/>
          </a:xfrm>
          <a:prstGeom prst="roundRect">
            <a:avLst>
              <a:gd name="adj" fmla="val 14000"/>
            </a:avLst>
          </a:prstGeom>
          <a:solidFill>
            <a:srgbClr val="14161A"/>
          </a:solidFill>
          <a:ln>
            <a:noFill/>
          </a:ln>
          <a:effectLst>
            <a:outerShdw blurRad="508000" dist="1524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h1-screen" descr="mobile-home-ja-crop.png"/>
          <p:cNvPicPr>
            <a:picLocks noChangeAspect="1"/>
          </p:cNvPicPr>
          <p:nvPr/>
        </p:nvPicPr>
        <p:blipFill>
          <a:blip r:embed="rId3"/>
          <a:srcRect b="88905"/>
          <a:stretch>
            <a:fillRect/>
          </a:stretch>
        </p:blipFill>
        <p:spPr>
          <a:xfrm>
            <a:off x="969264" y="1883664"/>
            <a:ext cx="1810512" cy="3983126"/>
          </a:xfrm>
          <a:prstGeom prst="roundRect">
            <a:avLst>
              <a:gd name="adj" fmla="val 9000"/>
            </a:avLst>
          </a:prstGeom>
        </p:spPr>
      </p:pic>
      <p:sp>
        <p:nvSpPr>
          <p:cNvPr id="14" name="ph1-notch"/>
          <p:cNvSpPr/>
          <p:nvPr/>
        </p:nvSpPr>
        <p:spPr>
          <a:xfrm>
            <a:off x="1463040" y="1847088"/>
            <a:ext cx="822960" cy="128016"/>
          </a:xfrm>
          <a:prstGeom prst="roundRect">
            <a:avLst>
              <a:gd name="adj" fmla="val 50000"/>
            </a:avLst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h2-body"/>
          <p:cNvSpPr/>
          <p:nvPr/>
        </p:nvSpPr>
        <p:spPr>
          <a:xfrm>
            <a:off x="3383280" y="1783080"/>
            <a:ext cx="2011680" cy="4184294"/>
          </a:xfrm>
          <a:prstGeom prst="roundRect">
            <a:avLst>
              <a:gd name="adj" fmla="val 14000"/>
            </a:avLst>
          </a:prstGeom>
          <a:solidFill>
            <a:srgbClr val="14161A"/>
          </a:solidFill>
          <a:ln>
            <a:noFill/>
          </a:ln>
          <a:effectLst>
            <a:outerShdw blurRad="508000" dist="1524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h2-screen" descr="mobile-shop-ja-crop.png"/>
          <p:cNvPicPr>
            <a:picLocks noChangeAspect="1"/>
          </p:cNvPicPr>
          <p:nvPr/>
        </p:nvPicPr>
        <p:blipFill>
          <a:blip r:embed="rId4"/>
          <a:srcRect b="87434"/>
          <a:stretch>
            <a:fillRect/>
          </a:stretch>
        </p:blipFill>
        <p:spPr>
          <a:xfrm>
            <a:off x="3483864" y="1883664"/>
            <a:ext cx="1810512" cy="3983126"/>
          </a:xfrm>
          <a:prstGeom prst="roundRect">
            <a:avLst>
              <a:gd name="adj" fmla="val 9000"/>
            </a:avLst>
          </a:prstGeom>
        </p:spPr>
      </p:pic>
      <p:sp>
        <p:nvSpPr>
          <p:cNvPr id="17" name="ph2-notch"/>
          <p:cNvSpPr/>
          <p:nvPr/>
        </p:nvSpPr>
        <p:spPr>
          <a:xfrm>
            <a:off x="3977640" y="1847088"/>
            <a:ext cx="822960" cy="128016"/>
          </a:xfrm>
          <a:prstGeom prst="roundRect">
            <a:avLst>
              <a:gd name="adj" fmla="val 50000"/>
            </a:avLst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h1-cap"/>
          <p:cNvSpPr txBox="1"/>
          <p:nvPr/>
        </p:nvSpPr>
        <p:spPr>
          <a:xfrm>
            <a:off x="868680" y="6035040"/>
            <a:ext cx="2011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7076"/>
                </a:solidFill>
                <a:latin typeface="Yu Gothic UI"/>
              </a:rPr>
              <a:t>トップページ</a:t>
            </a:r>
          </a:p>
        </p:txBody>
      </p:sp>
      <p:sp>
        <p:nvSpPr>
          <p:cNvPr id="19" name="ph2-cap"/>
          <p:cNvSpPr txBox="1"/>
          <p:nvPr/>
        </p:nvSpPr>
        <p:spPr>
          <a:xfrm>
            <a:off x="3383280" y="6035040"/>
            <a:ext cx="2011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7076"/>
                </a:solidFill>
                <a:latin typeface="Yu Gothic UI"/>
              </a:rPr>
              <a:t>商品一覧・絞り込み</a:t>
            </a:r>
          </a:p>
        </p:txBody>
      </p:sp>
      <p:sp>
        <p:nvSpPr>
          <p:cNvPr id="20" name="mb0"/>
          <p:cNvSpPr/>
          <p:nvPr/>
        </p:nvSpPr>
        <p:spPr>
          <a:xfrm>
            <a:off x="6126480" y="10058400"/>
            <a:ext cx="5532120" cy="8778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b0-bg"/>
          <p:cNvSpPr/>
          <p:nvPr/>
        </p:nvSpPr>
        <p:spPr>
          <a:xfrm>
            <a:off x="6263640" y="10213848"/>
            <a:ext cx="566928" cy="566928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mb0-ic" descr="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8364" y="10338572"/>
            <a:ext cx="317480" cy="317480"/>
          </a:xfrm>
          <a:prstGeom prst="rect">
            <a:avLst/>
          </a:prstGeom>
        </p:spPr>
      </p:pic>
      <p:sp>
        <p:nvSpPr>
          <p:cNvPr id="23" name="mb0-t"/>
          <p:cNvSpPr txBox="1"/>
          <p:nvPr/>
        </p:nvSpPr>
        <p:spPr>
          <a:xfrm>
            <a:off x="6949440" y="10131552"/>
            <a:ext cx="46177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61A"/>
                </a:solidFill>
                <a:latin typeface="Yu Gothic UI"/>
              </a:rPr>
              <a:t>スマホ優先のレイアウト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親指で届く下部ナビ、1列カード、軽量ページ</a:t>
            </a:r>
          </a:p>
        </p:txBody>
      </p:sp>
      <p:sp>
        <p:nvSpPr>
          <p:cNvPr id="24" name="mb1"/>
          <p:cNvSpPr/>
          <p:nvPr/>
        </p:nvSpPr>
        <p:spPr>
          <a:xfrm>
            <a:off x="6126480" y="11082528"/>
            <a:ext cx="5532120" cy="8778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b1-bg"/>
          <p:cNvSpPr/>
          <p:nvPr/>
        </p:nvSpPr>
        <p:spPr>
          <a:xfrm>
            <a:off x="6263640" y="11237976"/>
            <a:ext cx="566928" cy="566928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mb1-ic" descr="wif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8364" y="11362700"/>
            <a:ext cx="317480" cy="317480"/>
          </a:xfrm>
          <a:prstGeom prst="rect">
            <a:avLst/>
          </a:prstGeom>
        </p:spPr>
      </p:pic>
      <p:sp>
        <p:nvSpPr>
          <p:cNvPr id="27" name="mb1-t"/>
          <p:cNvSpPr txBox="1"/>
          <p:nvPr/>
        </p:nvSpPr>
        <p:spPr>
          <a:xfrm>
            <a:off x="6949440" y="11155680"/>
            <a:ext cx="46177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61A"/>
                </a:solidFill>
                <a:latin typeface="Yu Gothic UI"/>
              </a:rPr>
              <a:t>PWA — アプリのように使える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ホーム画面に追加、オフライン画面、プッシュ通知</a:t>
            </a:r>
          </a:p>
        </p:txBody>
      </p:sp>
      <p:sp>
        <p:nvSpPr>
          <p:cNvPr id="28" name="mb2"/>
          <p:cNvSpPr/>
          <p:nvPr/>
        </p:nvSpPr>
        <p:spPr>
          <a:xfrm>
            <a:off x="6126480" y="12106656"/>
            <a:ext cx="5532120" cy="8778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mb2-bg"/>
          <p:cNvSpPr/>
          <p:nvPr/>
        </p:nvSpPr>
        <p:spPr>
          <a:xfrm>
            <a:off x="6263640" y="12262104"/>
            <a:ext cx="566928" cy="566928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mb2-ic" descr="languag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8364" y="12386828"/>
            <a:ext cx="317480" cy="317480"/>
          </a:xfrm>
          <a:prstGeom prst="rect">
            <a:avLst/>
          </a:prstGeom>
        </p:spPr>
      </p:pic>
      <p:sp>
        <p:nvSpPr>
          <p:cNvPr id="31" name="mb2-t"/>
          <p:cNvSpPr txBox="1"/>
          <p:nvPr/>
        </p:nvSpPr>
        <p:spPr>
          <a:xfrm>
            <a:off x="6949440" y="12179808"/>
            <a:ext cx="46177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61A"/>
                </a:solidFill>
                <a:latin typeface="Yu Gothic UI"/>
              </a:rPr>
              <a:t>日本語・英語・モンゴル語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ワンタップで切替、ダークモードにも対応</a:t>
            </a:r>
          </a:p>
        </p:txBody>
      </p:sp>
      <p:sp>
        <p:nvSpPr>
          <p:cNvPr id="32" name="mb3"/>
          <p:cNvSpPr/>
          <p:nvPr/>
        </p:nvSpPr>
        <p:spPr>
          <a:xfrm>
            <a:off x="6126480" y="13130784"/>
            <a:ext cx="5532120" cy="8778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b3-bg"/>
          <p:cNvSpPr/>
          <p:nvPr/>
        </p:nvSpPr>
        <p:spPr>
          <a:xfrm>
            <a:off x="6263640" y="13286232"/>
            <a:ext cx="566928" cy="566928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mb3-ic" descr="sc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8364" y="13410956"/>
            <a:ext cx="317480" cy="317480"/>
          </a:xfrm>
          <a:prstGeom prst="rect">
            <a:avLst/>
          </a:prstGeom>
        </p:spPr>
      </p:pic>
      <p:sp>
        <p:nvSpPr>
          <p:cNvPr id="35" name="mb3-t"/>
          <p:cNvSpPr txBox="1"/>
          <p:nvPr/>
        </p:nvSpPr>
        <p:spPr>
          <a:xfrm>
            <a:off x="6949440" y="13203936"/>
            <a:ext cx="46177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61A"/>
                </a:solidFill>
                <a:latin typeface="Yu Gothic UI"/>
              </a:rPr>
              <a:t>店頭と同じJANコードで検索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バーコードで商品ページを開き、そのまま共有</a:t>
            </a:r>
          </a:p>
        </p:txBody>
      </p:sp>
      <p:sp>
        <p:nvSpPr>
          <p:cNvPr id="36" name="mb-hint"/>
          <p:cNvSpPr txBox="1"/>
          <p:nvPr/>
        </p:nvSpPr>
        <p:spPr>
          <a:xfrm>
            <a:off x="6126480" y="14218920"/>
            <a:ext cx="55321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B3122B"/>
                </a:solidFill>
                <a:latin typeface="Yu Gothic UI"/>
              </a:rPr>
              <a:t>▶ スライドが進むと画面がスクロールします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手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スマホで完結する買い物体験（実際の画面）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Утсан дээрх бодит дэлгэц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05 / 16</a:t>
            </a:r>
          </a:p>
        </p:txBody>
      </p:sp>
      <p:sp>
        <p:nvSpPr>
          <p:cNvPr id="11" name="intro"/>
          <p:cNvSpPr txBox="1"/>
          <p:nvPr/>
        </p:nvSpPr>
        <p:spPr>
          <a:xfrm>
            <a:off x="777240" y="1371600"/>
            <a:ext cx="68580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076"/>
                </a:solidFill>
                <a:latin typeface="Yu Gothic UI"/>
              </a:rPr>
              <a:t>モンゴルのオンライン購入の大半はスマートフォンから。2026年9月14日、本番サイトの日本語表示をそのまま掲載。</a:t>
            </a:r>
          </a:p>
        </p:txBody>
      </p:sp>
      <p:sp>
        <p:nvSpPr>
          <p:cNvPr id="12" name="ph1-body"/>
          <p:cNvSpPr/>
          <p:nvPr/>
        </p:nvSpPr>
        <p:spPr>
          <a:xfrm>
            <a:off x="868680" y="1783080"/>
            <a:ext cx="2011680" cy="4184294"/>
          </a:xfrm>
          <a:prstGeom prst="roundRect">
            <a:avLst>
              <a:gd name="adj" fmla="val 14000"/>
            </a:avLst>
          </a:prstGeom>
          <a:solidFill>
            <a:srgbClr val="14161A"/>
          </a:solidFill>
          <a:ln>
            <a:noFill/>
          </a:ln>
          <a:effectLst>
            <a:outerShdw blurRad="508000" dist="1524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h1-screen" descr="mobile-home-ja-crop.png"/>
          <p:cNvPicPr>
            <a:picLocks noChangeAspect="1"/>
          </p:cNvPicPr>
          <p:nvPr/>
        </p:nvPicPr>
        <p:blipFill>
          <a:blip r:embed="rId3"/>
          <a:srcRect t="17273" b="71632"/>
          <a:stretch>
            <a:fillRect/>
          </a:stretch>
        </p:blipFill>
        <p:spPr>
          <a:xfrm>
            <a:off x="969264" y="1883664"/>
            <a:ext cx="1810512" cy="3983126"/>
          </a:xfrm>
          <a:prstGeom prst="roundRect">
            <a:avLst>
              <a:gd name="adj" fmla="val 9000"/>
            </a:avLst>
          </a:prstGeom>
        </p:spPr>
      </p:pic>
      <p:sp>
        <p:nvSpPr>
          <p:cNvPr id="14" name="ph1-notch"/>
          <p:cNvSpPr/>
          <p:nvPr/>
        </p:nvSpPr>
        <p:spPr>
          <a:xfrm>
            <a:off x="1463040" y="1847088"/>
            <a:ext cx="822960" cy="128016"/>
          </a:xfrm>
          <a:prstGeom prst="roundRect">
            <a:avLst>
              <a:gd name="adj" fmla="val 50000"/>
            </a:avLst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h2-body"/>
          <p:cNvSpPr/>
          <p:nvPr/>
        </p:nvSpPr>
        <p:spPr>
          <a:xfrm>
            <a:off x="3383280" y="1783080"/>
            <a:ext cx="2011680" cy="4184294"/>
          </a:xfrm>
          <a:prstGeom prst="roundRect">
            <a:avLst>
              <a:gd name="adj" fmla="val 14000"/>
            </a:avLst>
          </a:prstGeom>
          <a:solidFill>
            <a:srgbClr val="14161A"/>
          </a:solidFill>
          <a:ln>
            <a:noFill/>
          </a:ln>
          <a:effectLst>
            <a:outerShdw blurRad="508000" dist="1524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h2-screen" descr="mobile-shop-ja-crop.png"/>
          <p:cNvPicPr>
            <a:picLocks noChangeAspect="1"/>
          </p:cNvPicPr>
          <p:nvPr/>
        </p:nvPicPr>
        <p:blipFill>
          <a:blip r:embed="rId4"/>
          <a:srcRect t="15049" b="72385"/>
          <a:stretch>
            <a:fillRect/>
          </a:stretch>
        </p:blipFill>
        <p:spPr>
          <a:xfrm>
            <a:off x="3483864" y="1883664"/>
            <a:ext cx="1810512" cy="3983126"/>
          </a:xfrm>
          <a:prstGeom prst="roundRect">
            <a:avLst>
              <a:gd name="adj" fmla="val 9000"/>
            </a:avLst>
          </a:prstGeom>
        </p:spPr>
      </p:pic>
      <p:sp>
        <p:nvSpPr>
          <p:cNvPr id="17" name="ph2-notch"/>
          <p:cNvSpPr/>
          <p:nvPr/>
        </p:nvSpPr>
        <p:spPr>
          <a:xfrm>
            <a:off x="3977640" y="1847088"/>
            <a:ext cx="822960" cy="128016"/>
          </a:xfrm>
          <a:prstGeom prst="roundRect">
            <a:avLst>
              <a:gd name="adj" fmla="val 50000"/>
            </a:avLst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h1-cap"/>
          <p:cNvSpPr txBox="1"/>
          <p:nvPr/>
        </p:nvSpPr>
        <p:spPr>
          <a:xfrm>
            <a:off x="868680" y="6035040"/>
            <a:ext cx="2011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7076"/>
                </a:solidFill>
                <a:latin typeface="Yu Gothic UI"/>
              </a:rPr>
              <a:t>トップページ</a:t>
            </a:r>
          </a:p>
        </p:txBody>
      </p:sp>
      <p:sp>
        <p:nvSpPr>
          <p:cNvPr id="19" name="ph2-cap"/>
          <p:cNvSpPr txBox="1"/>
          <p:nvPr/>
        </p:nvSpPr>
        <p:spPr>
          <a:xfrm>
            <a:off x="3383280" y="6035040"/>
            <a:ext cx="2011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7076"/>
                </a:solidFill>
                <a:latin typeface="Yu Gothic UI"/>
              </a:rPr>
              <a:t>商品一覧・絞り込み</a:t>
            </a:r>
          </a:p>
        </p:txBody>
      </p:sp>
      <p:sp>
        <p:nvSpPr>
          <p:cNvPr id="20" name="mb0"/>
          <p:cNvSpPr/>
          <p:nvPr/>
        </p:nvSpPr>
        <p:spPr>
          <a:xfrm>
            <a:off x="6126480" y="1828800"/>
            <a:ext cx="5532120" cy="8778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b0-bg"/>
          <p:cNvSpPr/>
          <p:nvPr/>
        </p:nvSpPr>
        <p:spPr>
          <a:xfrm>
            <a:off x="6263640" y="1984248"/>
            <a:ext cx="566928" cy="566928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mb0-ic" descr="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8364" y="2108972"/>
            <a:ext cx="317480" cy="317480"/>
          </a:xfrm>
          <a:prstGeom prst="rect">
            <a:avLst/>
          </a:prstGeom>
        </p:spPr>
      </p:pic>
      <p:sp>
        <p:nvSpPr>
          <p:cNvPr id="23" name="mb0-t"/>
          <p:cNvSpPr txBox="1"/>
          <p:nvPr/>
        </p:nvSpPr>
        <p:spPr>
          <a:xfrm>
            <a:off x="6949440" y="1901952"/>
            <a:ext cx="46177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61A"/>
                </a:solidFill>
                <a:latin typeface="Yu Gothic UI"/>
              </a:rPr>
              <a:t>スマホ優先のレイアウト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親指で届く下部ナビ、1列カード、軽量ページ</a:t>
            </a:r>
          </a:p>
        </p:txBody>
      </p:sp>
      <p:sp>
        <p:nvSpPr>
          <p:cNvPr id="24" name="mb1"/>
          <p:cNvSpPr/>
          <p:nvPr/>
        </p:nvSpPr>
        <p:spPr>
          <a:xfrm>
            <a:off x="6126480" y="2852928"/>
            <a:ext cx="5532120" cy="8778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b1-bg"/>
          <p:cNvSpPr/>
          <p:nvPr/>
        </p:nvSpPr>
        <p:spPr>
          <a:xfrm>
            <a:off x="6263640" y="3008376"/>
            <a:ext cx="566928" cy="566928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mb1-ic" descr="wif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8364" y="3133100"/>
            <a:ext cx="317480" cy="317480"/>
          </a:xfrm>
          <a:prstGeom prst="rect">
            <a:avLst/>
          </a:prstGeom>
        </p:spPr>
      </p:pic>
      <p:sp>
        <p:nvSpPr>
          <p:cNvPr id="27" name="mb1-t"/>
          <p:cNvSpPr txBox="1"/>
          <p:nvPr/>
        </p:nvSpPr>
        <p:spPr>
          <a:xfrm>
            <a:off x="6949440" y="2926080"/>
            <a:ext cx="46177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61A"/>
                </a:solidFill>
                <a:latin typeface="Yu Gothic UI"/>
              </a:rPr>
              <a:t>PWA — アプリのように使える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ホーム画面に追加、オフライン画面、プッシュ通知</a:t>
            </a:r>
          </a:p>
        </p:txBody>
      </p:sp>
      <p:sp>
        <p:nvSpPr>
          <p:cNvPr id="28" name="mb2"/>
          <p:cNvSpPr/>
          <p:nvPr/>
        </p:nvSpPr>
        <p:spPr>
          <a:xfrm>
            <a:off x="6126480" y="3877056"/>
            <a:ext cx="5532120" cy="8778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mb2-bg"/>
          <p:cNvSpPr/>
          <p:nvPr/>
        </p:nvSpPr>
        <p:spPr>
          <a:xfrm>
            <a:off x="6263640" y="4032504"/>
            <a:ext cx="566928" cy="566928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mb2-ic" descr="languag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8364" y="4157228"/>
            <a:ext cx="317480" cy="317480"/>
          </a:xfrm>
          <a:prstGeom prst="rect">
            <a:avLst/>
          </a:prstGeom>
        </p:spPr>
      </p:pic>
      <p:sp>
        <p:nvSpPr>
          <p:cNvPr id="31" name="mb2-t"/>
          <p:cNvSpPr txBox="1"/>
          <p:nvPr/>
        </p:nvSpPr>
        <p:spPr>
          <a:xfrm>
            <a:off x="6949440" y="3950208"/>
            <a:ext cx="46177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61A"/>
                </a:solidFill>
                <a:latin typeface="Yu Gothic UI"/>
              </a:rPr>
              <a:t>日本語・英語・モンゴル語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ワンタップで切替、ダークモードにも対応</a:t>
            </a:r>
          </a:p>
        </p:txBody>
      </p:sp>
      <p:sp>
        <p:nvSpPr>
          <p:cNvPr id="32" name="mb3"/>
          <p:cNvSpPr/>
          <p:nvPr/>
        </p:nvSpPr>
        <p:spPr>
          <a:xfrm>
            <a:off x="6126480" y="4901184"/>
            <a:ext cx="5532120" cy="8778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b3-bg"/>
          <p:cNvSpPr/>
          <p:nvPr/>
        </p:nvSpPr>
        <p:spPr>
          <a:xfrm>
            <a:off x="6263640" y="5056632"/>
            <a:ext cx="566928" cy="566928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mb3-ic" descr="sc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8364" y="5181356"/>
            <a:ext cx="317480" cy="317480"/>
          </a:xfrm>
          <a:prstGeom prst="rect">
            <a:avLst/>
          </a:prstGeom>
        </p:spPr>
      </p:pic>
      <p:sp>
        <p:nvSpPr>
          <p:cNvPr id="35" name="mb3-t"/>
          <p:cNvSpPr txBox="1"/>
          <p:nvPr/>
        </p:nvSpPr>
        <p:spPr>
          <a:xfrm>
            <a:off x="6949440" y="4974336"/>
            <a:ext cx="46177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61A"/>
                </a:solidFill>
                <a:latin typeface="Yu Gothic UI"/>
              </a:rPr>
              <a:t>店頭と同じJANコードで検索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バーコードで商品ページを開き、そのまま共有</a:t>
            </a:r>
          </a:p>
        </p:txBody>
      </p:sp>
      <p:sp>
        <p:nvSpPr>
          <p:cNvPr id="36" name="mb-hint"/>
          <p:cNvSpPr txBox="1"/>
          <p:nvPr/>
        </p:nvSpPr>
        <p:spPr>
          <a:xfrm>
            <a:off x="6126480" y="14218920"/>
            <a:ext cx="55321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B3122B"/>
                </a:solidFill>
                <a:latin typeface="Yu Gothic UI"/>
              </a:rPr>
              <a:t>▶ スライドが進むと画面がスクロールします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手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スマホで完結する買い物体験（実際の画面）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Утсан дээрх бодит дэлгэц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05 / 16</a:t>
            </a:r>
          </a:p>
        </p:txBody>
      </p:sp>
      <p:sp>
        <p:nvSpPr>
          <p:cNvPr id="11" name="intro"/>
          <p:cNvSpPr txBox="1"/>
          <p:nvPr/>
        </p:nvSpPr>
        <p:spPr>
          <a:xfrm>
            <a:off x="777240" y="1371600"/>
            <a:ext cx="68580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076"/>
                </a:solidFill>
                <a:latin typeface="Yu Gothic UI"/>
              </a:rPr>
              <a:t>モンゴルのオンライン購入の大半はスマートフォンから。2026年9月14日、本番サイトの日本語表示をそのまま掲載。</a:t>
            </a:r>
          </a:p>
        </p:txBody>
      </p:sp>
      <p:sp>
        <p:nvSpPr>
          <p:cNvPr id="12" name="ph1-body"/>
          <p:cNvSpPr/>
          <p:nvPr/>
        </p:nvSpPr>
        <p:spPr>
          <a:xfrm>
            <a:off x="868680" y="1783080"/>
            <a:ext cx="2011680" cy="4184294"/>
          </a:xfrm>
          <a:prstGeom prst="roundRect">
            <a:avLst>
              <a:gd name="adj" fmla="val 14000"/>
            </a:avLst>
          </a:prstGeom>
          <a:solidFill>
            <a:srgbClr val="14161A"/>
          </a:solidFill>
          <a:ln>
            <a:noFill/>
          </a:ln>
          <a:effectLst>
            <a:outerShdw blurRad="508000" dist="1524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h1-screen" descr="mobile-home-ja-crop.png"/>
          <p:cNvPicPr>
            <a:picLocks noChangeAspect="1"/>
          </p:cNvPicPr>
          <p:nvPr/>
        </p:nvPicPr>
        <p:blipFill>
          <a:blip r:embed="rId3"/>
          <a:srcRect t="33218" b="55687"/>
          <a:stretch>
            <a:fillRect/>
          </a:stretch>
        </p:blipFill>
        <p:spPr>
          <a:xfrm>
            <a:off x="969264" y="1883664"/>
            <a:ext cx="1810512" cy="3983126"/>
          </a:xfrm>
          <a:prstGeom prst="roundRect">
            <a:avLst>
              <a:gd name="adj" fmla="val 9000"/>
            </a:avLst>
          </a:prstGeom>
        </p:spPr>
      </p:pic>
      <p:sp>
        <p:nvSpPr>
          <p:cNvPr id="14" name="ph1-notch"/>
          <p:cNvSpPr/>
          <p:nvPr/>
        </p:nvSpPr>
        <p:spPr>
          <a:xfrm>
            <a:off x="1463040" y="1847088"/>
            <a:ext cx="822960" cy="128016"/>
          </a:xfrm>
          <a:prstGeom prst="roundRect">
            <a:avLst>
              <a:gd name="adj" fmla="val 50000"/>
            </a:avLst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h2-body"/>
          <p:cNvSpPr/>
          <p:nvPr/>
        </p:nvSpPr>
        <p:spPr>
          <a:xfrm>
            <a:off x="3383280" y="1783080"/>
            <a:ext cx="2011680" cy="4184294"/>
          </a:xfrm>
          <a:prstGeom prst="roundRect">
            <a:avLst>
              <a:gd name="adj" fmla="val 14000"/>
            </a:avLst>
          </a:prstGeom>
          <a:solidFill>
            <a:srgbClr val="14161A"/>
          </a:solidFill>
          <a:ln>
            <a:noFill/>
          </a:ln>
          <a:effectLst>
            <a:outerShdw blurRad="508000" dist="1524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h2-screen" descr="mobile-shop-ja-crop.png"/>
          <p:cNvPicPr>
            <a:picLocks noChangeAspect="1"/>
          </p:cNvPicPr>
          <p:nvPr/>
        </p:nvPicPr>
        <p:blipFill>
          <a:blip r:embed="rId4"/>
          <a:srcRect t="31603" b="55831"/>
          <a:stretch>
            <a:fillRect/>
          </a:stretch>
        </p:blipFill>
        <p:spPr>
          <a:xfrm>
            <a:off x="3483864" y="1883664"/>
            <a:ext cx="1810512" cy="3983126"/>
          </a:xfrm>
          <a:prstGeom prst="roundRect">
            <a:avLst>
              <a:gd name="adj" fmla="val 9000"/>
            </a:avLst>
          </a:prstGeom>
        </p:spPr>
      </p:pic>
      <p:sp>
        <p:nvSpPr>
          <p:cNvPr id="17" name="ph2-notch"/>
          <p:cNvSpPr/>
          <p:nvPr/>
        </p:nvSpPr>
        <p:spPr>
          <a:xfrm>
            <a:off x="3977640" y="1847088"/>
            <a:ext cx="822960" cy="128016"/>
          </a:xfrm>
          <a:prstGeom prst="roundRect">
            <a:avLst>
              <a:gd name="adj" fmla="val 50000"/>
            </a:avLst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h1-cap"/>
          <p:cNvSpPr txBox="1"/>
          <p:nvPr/>
        </p:nvSpPr>
        <p:spPr>
          <a:xfrm>
            <a:off x="868680" y="6035040"/>
            <a:ext cx="2011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7076"/>
                </a:solidFill>
                <a:latin typeface="Yu Gothic UI"/>
              </a:rPr>
              <a:t>トップページ</a:t>
            </a:r>
          </a:p>
        </p:txBody>
      </p:sp>
      <p:sp>
        <p:nvSpPr>
          <p:cNvPr id="19" name="ph2-cap"/>
          <p:cNvSpPr txBox="1"/>
          <p:nvPr/>
        </p:nvSpPr>
        <p:spPr>
          <a:xfrm>
            <a:off x="3383280" y="6035040"/>
            <a:ext cx="2011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7076"/>
                </a:solidFill>
                <a:latin typeface="Yu Gothic UI"/>
              </a:rPr>
              <a:t>商品一覧・絞り込み</a:t>
            </a:r>
          </a:p>
        </p:txBody>
      </p:sp>
      <p:sp>
        <p:nvSpPr>
          <p:cNvPr id="20" name="mb0"/>
          <p:cNvSpPr/>
          <p:nvPr/>
        </p:nvSpPr>
        <p:spPr>
          <a:xfrm>
            <a:off x="6126480" y="1828800"/>
            <a:ext cx="5532120" cy="8778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b0-bg"/>
          <p:cNvSpPr/>
          <p:nvPr/>
        </p:nvSpPr>
        <p:spPr>
          <a:xfrm>
            <a:off x="6263640" y="1984248"/>
            <a:ext cx="566928" cy="566928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mb0-ic" descr="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8364" y="2108972"/>
            <a:ext cx="317480" cy="317480"/>
          </a:xfrm>
          <a:prstGeom prst="rect">
            <a:avLst/>
          </a:prstGeom>
        </p:spPr>
      </p:pic>
      <p:sp>
        <p:nvSpPr>
          <p:cNvPr id="23" name="mb0-t"/>
          <p:cNvSpPr txBox="1"/>
          <p:nvPr/>
        </p:nvSpPr>
        <p:spPr>
          <a:xfrm>
            <a:off x="6949440" y="1901952"/>
            <a:ext cx="46177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61A"/>
                </a:solidFill>
                <a:latin typeface="Yu Gothic UI"/>
              </a:rPr>
              <a:t>スマホ優先のレイアウト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親指で届く下部ナビ、1列カード、軽量ページ</a:t>
            </a:r>
          </a:p>
        </p:txBody>
      </p:sp>
      <p:sp>
        <p:nvSpPr>
          <p:cNvPr id="24" name="mb1"/>
          <p:cNvSpPr/>
          <p:nvPr/>
        </p:nvSpPr>
        <p:spPr>
          <a:xfrm>
            <a:off x="6126480" y="2852928"/>
            <a:ext cx="5532120" cy="8778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b1-bg"/>
          <p:cNvSpPr/>
          <p:nvPr/>
        </p:nvSpPr>
        <p:spPr>
          <a:xfrm>
            <a:off x="6263640" y="3008376"/>
            <a:ext cx="566928" cy="566928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mb1-ic" descr="wif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8364" y="3133100"/>
            <a:ext cx="317480" cy="317480"/>
          </a:xfrm>
          <a:prstGeom prst="rect">
            <a:avLst/>
          </a:prstGeom>
        </p:spPr>
      </p:pic>
      <p:sp>
        <p:nvSpPr>
          <p:cNvPr id="27" name="mb1-t"/>
          <p:cNvSpPr txBox="1"/>
          <p:nvPr/>
        </p:nvSpPr>
        <p:spPr>
          <a:xfrm>
            <a:off x="6949440" y="2926080"/>
            <a:ext cx="46177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61A"/>
                </a:solidFill>
                <a:latin typeface="Yu Gothic UI"/>
              </a:rPr>
              <a:t>PWA — アプリのように使える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ホーム画面に追加、オフライン画面、プッシュ通知</a:t>
            </a:r>
          </a:p>
        </p:txBody>
      </p:sp>
      <p:sp>
        <p:nvSpPr>
          <p:cNvPr id="28" name="mb2"/>
          <p:cNvSpPr/>
          <p:nvPr/>
        </p:nvSpPr>
        <p:spPr>
          <a:xfrm>
            <a:off x="6126480" y="3877056"/>
            <a:ext cx="5532120" cy="8778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mb2-bg"/>
          <p:cNvSpPr/>
          <p:nvPr/>
        </p:nvSpPr>
        <p:spPr>
          <a:xfrm>
            <a:off x="6263640" y="4032504"/>
            <a:ext cx="566928" cy="566928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mb2-ic" descr="languag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8364" y="4157228"/>
            <a:ext cx="317480" cy="317480"/>
          </a:xfrm>
          <a:prstGeom prst="rect">
            <a:avLst/>
          </a:prstGeom>
        </p:spPr>
      </p:pic>
      <p:sp>
        <p:nvSpPr>
          <p:cNvPr id="31" name="mb2-t"/>
          <p:cNvSpPr txBox="1"/>
          <p:nvPr/>
        </p:nvSpPr>
        <p:spPr>
          <a:xfrm>
            <a:off x="6949440" y="3950208"/>
            <a:ext cx="46177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61A"/>
                </a:solidFill>
                <a:latin typeface="Yu Gothic UI"/>
              </a:rPr>
              <a:t>日本語・英語・モンゴル語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ワンタップで切替、ダークモードにも対応</a:t>
            </a:r>
          </a:p>
        </p:txBody>
      </p:sp>
      <p:sp>
        <p:nvSpPr>
          <p:cNvPr id="32" name="mb3"/>
          <p:cNvSpPr/>
          <p:nvPr/>
        </p:nvSpPr>
        <p:spPr>
          <a:xfrm>
            <a:off x="6126480" y="4901184"/>
            <a:ext cx="5532120" cy="8778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b3-bg"/>
          <p:cNvSpPr/>
          <p:nvPr/>
        </p:nvSpPr>
        <p:spPr>
          <a:xfrm>
            <a:off x="6263640" y="5056632"/>
            <a:ext cx="566928" cy="566928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mb3-ic" descr="sc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8364" y="5181356"/>
            <a:ext cx="317480" cy="317480"/>
          </a:xfrm>
          <a:prstGeom prst="rect">
            <a:avLst/>
          </a:prstGeom>
        </p:spPr>
      </p:pic>
      <p:sp>
        <p:nvSpPr>
          <p:cNvPr id="35" name="mb3-t"/>
          <p:cNvSpPr txBox="1"/>
          <p:nvPr/>
        </p:nvSpPr>
        <p:spPr>
          <a:xfrm>
            <a:off x="6949440" y="4974336"/>
            <a:ext cx="46177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61A"/>
                </a:solidFill>
                <a:latin typeface="Yu Gothic UI"/>
              </a:rPr>
              <a:t>店頭と同じJANコードで検索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バーコードで商品ページを開き、そのまま共有</a:t>
            </a:r>
          </a:p>
        </p:txBody>
      </p:sp>
      <p:sp>
        <p:nvSpPr>
          <p:cNvPr id="36" name="mb-hint"/>
          <p:cNvSpPr txBox="1"/>
          <p:nvPr/>
        </p:nvSpPr>
        <p:spPr>
          <a:xfrm>
            <a:off x="6126480" y="5989320"/>
            <a:ext cx="55321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B3122B"/>
                </a:solidFill>
                <a:latin typeface="Yu Gothic UI"/>
              </a:rPr>
              <a:t>▶ スライドが進むと画面がスクロールします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手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スマホで完結する買い物体験（実際の画面）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Утсан дээрх бодит дэлгэц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05 / 16</a:t>
            </a:r>
          </a:p>
        </p:txBody>
      </p:sp>
      <p:sp>
        <p:nvSpPr>
          <p:cNvPr id="11" name="intro"/>
          <p:cNvSpPr txBox="1"/>
          <p:nvPr/>
        </p:nvSpPr>
        <p:spPr>
          <a:xfrm>
            <a:off x="777240" y="1371600"/>
            <a:ext cx="68580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076"/>
                </a:solidFill>
                <a:latin typeface="Yu Gothic UI"/>
              </a:rPr>
              <a:t>モンゴルのオンライン購入の大半はスマートフォンから。2026年9月14日、本番サイトの日本語表示をそのまま掲載。</a:t>
            </a:r>
          </a:p>
        </p:txBody>
      </p:sp>
      <p:sp>
        <p:nvSpPr>
          <p:cNvPr id="12" name="ph1-body"/>
          <p:cNvSpPr/>
          <p:nvPr/>
        </p:nvSpPr>
        <p:spPr>
          <a:xfrm>
            <a:off x="868680" y="1783080"/>
            <a:ext cx="2011680" cy="4184294"/>
          </a:xfrm>
          <a:prstGeom prst="roundRect">
            <a:avLst>
              <a:gd name="adj" fmla="val 14000"/>
            </a:avLst>
          </a:prstGeom>
          <a:solidFill>
            <a:srgbClr val="14161A"/>
          </a:solidFill>
          <a:ln>
            <a:noFill/>
          </a:ln>
          <a:effectLst>
            <a:outerShdw blurRad="508000" dist="1524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h1-screen" descr="mobile-home-ja-crop.png"/>
          <p:cNvPicPr>
            <a:picLocks noChangeAspect="1"/>
          </p:cNvPicPr>
          <p:nvPr/>
        </p:nvPicPr>
        <p:blipFill>
          <a:blip r:embed="rId3"/>
          <a:srcRect t="49163" b="39742"/>
          <a:stretch>
            <a:fillRect/>
          </a:stretch>
        </p:blipFill>
        <p:spPr>
          <a:xfrm>
            <a:off x="969264" y="1883664"/>
            <a:ext cx="1810512" cy="3983126"/>
          </a:xfrm>
          <a:prstGeom prst="roundRect">
            <a:avLst>
              <a:gd name="adj" fmla="val 9000"/>
            </a:avLst>
          </a:prstGeom>
        </p:spPr>
      </p:pic>
      <p:sp>
        <p:nvSpPr>
          <p:cNvPr id="14" name="ph1-notch"/>
          <p:cNvSpPr/>
          <p:nvPr/>
        </p:nvSpPr>
        <p:spPr>
          <a:xfrm>
            <a:off x="1463040" y="1847088"/>
            <a:ext cx="822960" cy="128016"/>
          </a:xfrm>
          <a:prstGeom prst="roundRect">
            <a:avLst>
              <a:gd name="adj" fmla="val 50000"/>
            </a:avLst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h2-body"/>
          <p:cNvSpPr/>
          <p:nvPr/>
        </p:nvSpPr>
        <p:spPr>
          <a:xfrm>
            <a:off x="3383280" y="1783080"/>
            <a:ext cx="2011680" cy="4184294"/>
          </a:xfrm>
          <a:prstGeom prst="roundRect">
            <a:avLst>
              <a:gd name="adj" fmla="val 14000"/>
            </a:avLst>
          </a:prstGeom>
          <a:solidFill>
            <a:srgbClr val="14161A"/>
          </a:solidFill>
          <a:ln>
            <a:noFill/>
          </a:ln>
          <a:effectLst>
            <a:outerShdw blurRad="508000" dist="1524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h2-screen" descr="mobile-shop-ja-crop.png"/>
          <p:cNvPicPr>
            <a:picLocks noChangeAspect="1"/>
          </p:cNvPicPr>
          <p:nvPr/>
        </p:nvPicPr>
        <p:blipFill>
          <a:blip r:embed="rId4"/>
          <a:srcRect t="49661" b="37773"/>
          <a:stretch>
            <a:fillRect/>
          </a:stretch>
        </p:blipFill>
        <p:spPr>
          <a:xfrm>
            <a:off x="3483864" y="1883664"/>
            <a:ext cx="1810512" cy="3983126"/>
          </a:xfrm>
          <a:prstGeom prst="roundRect">
            <a:avLst>
              <a:gd name="adj" fmla="val 9000"/>
            </a:avLst>
          </a:prstGeom>
        </p:spPr>
      </p:pic>
      <p:sp>
        <p:nvSpPr>
          <p:cNvPr id="17" name="ph2-notch"/>
          <p:cNvSpPr/>
          <p:nvPr/>
        </p:nvSpPr>
        <p:spPr>
          <a:xfrm>
            <a:off x="3977640" y="1847088"/>
            <a:ext cx="822960" cy="128016"/>
          </a:xfrm>
          <a:prstGeom prst="roundRect">
            <a:avLst>
              <a:gd name="adj" fmla="val 50000"/>
            </a:avLst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h1-cap"/>
          <p:cNvSpPr txBox="1"/>
          <p:nvPr/>
        </p:nvSpPr>
        <p:spPr>
          <a:xfrm>
            <a:off x="868680" y="6035040"/>
            <a:ext cx="2011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7076"/>
                </a:solidFill>
                <a:latin typeface="Yu Gothic UI"/>
              </a:rPr>
              <a:t>トップページ</a:t>
            </a:r>
          </a:p>
        </p:txBody>
      </p:sp>
      <p:sp>
        <p:nvSpPr>
          <p:cNvPr id="19" name="ph2-cap"/>
          <p:cNvSpPr txBox="1"/>
          <p:nvPr/>
        </p:nvSpPr>
        <p:spPr>
          <a:xfrm>
            <a:off x="3383280" y="6035040"/>
            <a:ext cx="2011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7076"/>
                </a:solidFill>
                <a:latin typeface="Yu Gothic UI"/>
              </a:rPr>
              <a:t>商品一覧・絞り込み</a:t>
            </a:r>
          </a:p>
        </p:txBody>
      </p:sp>
      <p:sp>
        <p:nvSpPr>
          <p:cNvPr id="20" name="mb0"/>
          <p:cNvSpPr/>
          <p:nvPr/>
        </p:nvSpPr>
        <p:spPr>
          <a:xfrm>
            <a:off x="6126480" y="1828800"/>
            <a:ext cx="5532120" cy="8778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b0-bg"/>
          <p:cNvSpPr/>
          <p:nvPr/>
        </p:nvSpPr>
        <p:spPr>
          <a:xfrm>
            <a:off x="6263640" y="1984248"/>
            <a:ext cx="566928" cy="566928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mb0-ic" descr="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8364" y="2108972"/>
            <a:ext cx="317480" cy="317480"/>
          </a:xfrm>
          <a:prstGeom prst="rect">
            <a:avLst/>
          </a:prstGeom>
        </p:spPr>
      </p:pic>
      <p:sp>
        <p:nvSpPr>
          <p:cNvPr id="23" name="mb0-t"/>
          <p:cNvSpPr txBox="1"/>
          <p:nvPr/>
        </p:nvSpPr>
        <p:spPr>
          <a:xfrm>
            <a:off x="6949440" y="1901952"/>
            <a:ext cx="46177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61A"/>
                </a:solidFill>
                <a:latin typeface="Yu Gothic UI"/>
              </a:rPr>
              <a:t>スマホ優先のレイアウト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親指で届く下部ナビ、1列カード、軽量ページ</a:t>
            </a:r>
          </a:p>
        </p:txBody>
      </p:sp>
      <p:sp>
        <p:nvSpPr>
          <p:cNvPr id="24" name="mb1"/>
          <p:cNvSpPr/>
          <p:nvPr/>
        </p:nvSpPr>
        <p:spPr>
          <a:xfrm>
            <a:off x="6126480" y="2852928"/>
            <a:ext cx="5532120" cy="8778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b1-bg"/>
          <p:cNvSpPr/>
          <p:nvPr/>
        </p:nvSpPr>
        <p:spPr>
          <a:xfrm>
            <a:off x="6263640" y="3008376"/>
            <a:ext cx="566928" cy="566928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mb1-ic" descr="wif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8364" y="3133100"/>
            <a:ext cx="317480" cy="317480"/>
          </a:xfrm>
          <a:prstGeom prst="rect">
            <a:avLst/>
          </a:prstGeom>
        </p:spPr>
      </p:pic>
      <p:sp>
        <p:nvSpPr>
          <p:cNvPr id="27" name="mb1-t"/>
          <p:cNvSpPr txBox="1"/>
          <p:nvPr/>
        </p:nvSpPr>
        <p:spPr>
          <a:xfrm>
            <a:off x="6949440" y="2926080"/>
            <a:ext cx="46177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61A"/>
                </a:solidFill>
                <a:latin typeface="Yu Gothic UI"/>
              </a:rPr>
              <a:t>PWA — アプリのように使える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ホーム画面に追加、オフライン画面、プッシュ通知</a:t>
            </a:r>
          </a:p>
        </p:txBody>
      </p:sp>
      <p:sp>
        <p:nvSpPr>
          <p:cNvPr id="28" name="mb2"/>
          <p:cNvSpPr/>
          <p:nvPr/>
        </p:nvSpPr>
        <p:spPr>
          <a:xfrm>
            <a:off x="6126480" y="3877056"/>
            <a:ext cx="5532120" cy="8778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mb2-bg"/>
          <p:cNvSpPr/>
          <p:nvPr/>
        </p:nvSpPr>
        <p:spPr>
          <a:xfrm>
            <a:off x="6263640" y="4032504"/>
            <a:ext cx="566928" cy="566928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mb2-ic" descr="languag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8364" y="4157228"/>
            <a:ext cx="317480" cy="317480"/>
          </a:xfrm>
          <a:prstGeom prst="rect">
            <a:avLst/>
          </a:prstGeom>
        </p:spPr>
      </p:pic>
      <p:sp>
        <p:nvSpPr>
          <p:cNvPr id="31" name="mb2-t"/>
          <p:cNvSpPr txBox="1"/>
          <p:nvPr/>
        </p:nvSpPr>
        <p:spPr>
          <a:xfrm>
            <a:off x="6949440" y="3950208"/>
            <a:ext cx="46177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61A"/>
                </a:solidFill>
                <a:latin typeface="Yu Gothic UI"/>
              </a:rPr>
              <a:t>日本語・英語・モンゴル語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ワンタップで切替、ダークモードにも対応</a:t>
            </a:r>
          </a:p>
        </p:txBody>
      </p:sp>
      <p:sp>
        <p:nvSpPr>
          <p:cNvPr id="32" name="mb3"/>
          <p:cNvSpPr/>
          <p:nvPr/>
        </p:nvSpPr>
        <p:spPr>
          <a:xfrm>
            <a:off x="6126480" y="4901184"/>
            <a:ext cx="5532120" cy="8778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b3-bg"/>
          <p:cNvSpPr/>
          <p:nvPr/>
        </p:nvSpPr>
        <p:spPr>
          <a:xfrm>
            <a:off x="6263640" y="5056632"/>
            <a:ext cx="566928" cy="566928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mb3-ic" descr="sc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8364" y="5181356"/>
            <a:ext cx="317480" cy="317480"/>
          </a:xfrm>
          <a:prstGeom prst="rect">
            <a:avLst/>
          </a:prstGeom>
        </p:spPr>
      </p:pic>
      <p:sp>
        <p:nvSpPr>
          <p:cNvPr id="35" name="mb3-t"/>
          <p:cNvSpPr txBox="1"/>
          <p:nvPr/>
        </p:nvSpPr>
        <p:spPr>
          <a:xfrm>
            <a:off x="6949440" y="4974336"/>
            <a:ext cx="46177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61A"/>
                </a:solidFill>
                <a:latin typeface="Yu Gothic UI"/>
              </a:rPr>
              <a:t>店頭と同じJANコードで検索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バーコードで商品ページを開き、そのまま共有</a:t>
            </a:r>
          </a:p>
        </p:txBody>
      </p:sp>
      <p:sp>
        <p:nvSpPr>
          <p:cNvPr id="36" name="mb-hint"/>
          <p:cNvSpPr txBox="1"/>
          <p:nvPr/>
        </p:nvSpPr>
        <p:spPr>
          <a:xfrm>
            <a:off x="6126480" y="5989320"/>
            <a:ext cx="55321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B3122B"/>
                </a:solidFill>
                <a:latin typeface="Yu Gothic UI"/>
              </a:rPr>
              <a:t>▶ スライドが進むと画面がスクロールします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比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現行サイト（Zochil）と新サイトの比較 — 画面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Одоогийн (Zochil) ба шинэ сайтын харьцуулалт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06 / 16</a:t>
            </a:r>
          </a:p>
        </p:txBody>
      </p:sp>
      <p:sp>
        <p:nvSpPr>
          <p:cNvPr id="11" name="intro"/>
          <p:cNvSpPr txBox="1"/>
          <p:nvPr/>
        </p:nvSpPr>
        <p:spPr>
          <a:xfrm>
            <a:off x="777240" y="137160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076"/>
                </a:solidFill>
                <a:latin typeface="Yu Gothic UI"/>
              </a:rPr>
              <a:t>現在の asayake.mn はモンゴルのSaaS「Zochil」のテンプレート。新サイトは自社設計・自社保有。2026年9月14日、両サイトの実際の画面。</a:t>
            </a:r>
          </a:p>
        </p:txBody>
      </p:sp>
      <p:sp>
        <p:nvSpPr>
          <p:cNvPr id="12" name="zo-lab"/>
          <p:cNvSpPr txBox="1"/>
          <p:nvPr/>
        </p:nvSpPr>
        <p:spPr>
          <a:xfrm>
            <a:off x="548640" y="10012680"/>
            <a:ext cx="5257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161A"/>
                </a:solidFill>
                <a:latin typeface="Yu Gothic UI"/>
              </a:rPr>
              <a:t>現行: asayake.mn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Zochil テンプレート（月額 220,000₮ Proプラン）</a:t>
            </a:r>
          </a:p>
        </p:txBody>
      </p:sp>
      <p:sp>
        <p:nvSpPr>
          <p:cNvPr id="13" name="zo-frame"/>
          <p:cNvSpPr/>
          <p:nvPr/>
        </p:nvSpPr>
        <p:spPr>
          <a:xfrm>
            <a:off x="548640" y="10469880"/>
            <a:ext cx="5257800" cy="3259836"/>
          </a:xfrm>
          <a:prstGeom prst="roundRect">
            <a:avLst>
              <a:gd name="adj" fmla="val 3000"/>
            </a:avLst>
          </a:prstGeom>
          <a:solidFill>
            <a:srgbClr val="2A2E35"/>
          </a:solidFill>
          <a:ln>
            <a:noFill/>
          </a:ln>
          <a:effectLst>
            <a:outerShdw blurRad="508000" dist="1778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zo-img" descr="zochil-front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0616184"/>
            <a:ext cx="4965192" cy="2967228"/>
          </a:xfrm>
          <a:prstGeom prst="rect">
            <a:avLst/>
          </a:prstGeom>
        </p:spPr>
      </p:pic>
      <p:sp>
        <p:nvSpPr>
          <p:cNvPr id="15" name="zo-base"/>
          <p:cNvSpPr/>
          <p:nvPr/>
        </p:nvSpPr>
        <p:spPr>
          <a:xfrm>
            <a:off x="228600" y="13729716"/>
            <a:ext cx="5897880" cy="14630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u-lab"/>
          <p:cNvSpPr txBox="1"/>
          <p:nvPr/>
        </p:nvSpPr>
        <p:spPr>
          <a:xfrm>
            <a:off x="6400800" y="10012680"/>
            <a:ext cx="5257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3122B"/>
                </a:solidFill>
                <a:latin typeface="Yu Gothic UI"/>
              </a:rPr>
              <a:t>新: sugi.karkaron.com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自社開発・自社所有</a:t>
            </a:r>
          </a:p>
        </p:txBody>
      </p:sp>
      <p:sp>
        <p:nvSpPr>
          <p:cNvPr id="17" name="su-frame"/>
          <p:cNvSpPr/>
          <p:nvPr/>
        </p:nvSpPr>
        <p:spPr>
          <a:xfrm>
            <a:off x="6400800" y="10469880"/>
            <a:ext cx="5257800" cy="3259836"/>
          </a:xfrm>
          <a:prstGeom prst="roundRect">
            <a:avLst>
              <a:gd name="adj" fmla="val 3000"/>
            </a:avLst>
          </a:prstGeom>
          <a:solidFill>
            <a:srgbClr val="2A2E35"/>
          </a:solidFill>
          <a:ln>
            <a:noFill/>
          </a:ln>
          <a:effectLst>
            <a:outerShdw blurRad="508000" dist="1778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u-img" descr="slide-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10616184"/>
            <a:ext cx="4965192" cy="2967228"/>
          </a:xfrm>
          <a:prstGeom prst="rect">
            <a:avLst/>
          </a:prstGeom>
        </p:spPr>
      </p:pic>
      <p:sp>
        <p:nvSpPr>
          <p:cNvPr id="19" name="su-base"/>
          <p:cNvSpPr/>
          <p:nvPr/>
        </p:nvSpPr>
        <p:spPr>
          <a:xfrm>
            <a:off x="6080760" y="13729716"/>
            <a:ext cx="5897880" cy="14630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ip00"/>
          <p:cNvSpPr/>
          <p:nvPr/>
        </p:nvSpPr>
        <p:spPr>
          <a:xfrm>
            <a:off x="548640" y="13898880"/>
            <a:ext cx="2560320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ip00-t"/>
          <p:cNvSpPr txBox="1"/>
          <p:nvPr/>
        </p:nvSpPr>
        <p:spPr>
          <a:xfrm>
            <a:off x="548640" y="13880592"/>
            <a:ext cx="25603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7076"/>
                </a:solidFill>
                <a:latin typeface="Yu Gothic UI"/>
              </a:rPr>
              <a:t>— 1言語＋Google機械翻訳</a:t>
            </a:r>
          </a:p>
        </p:txBody>
      </p:sp>
      <p:sp>
        <p:nvSpPr>
          <p:cNvPr id="22" name="chip01"/>
          <p:cNvSpPr/>
          <p:nvPr/>
        </p:nvSpPr>
        <p:spPr>
          <a:xfrm>
            <a:off x="3200400" y="13898880"/>
            <a:ext cx="2560320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ip01-t"/>
          <p:cNvSpPr txBox="1"/>
          <p:nvPr/>
        </p:nvSpPr>
        <p:spPr>
          <a:xfrm>
            <a:off x="3200400" y="13880592"/>
            <a:ext cx="25603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7076"/>
                </a:solidFill>
                <a:latin typeface="Yu Gothic UI"/>
              </a:rPr>
              <a:t>— テンプレート共通デザイン</a:t>
            </a:r>
          </a:p>
        </p:txBody>
      </p:sp>
      <p:sp>
        <p:nvSpPr>
          <p:cNvPr id="24" name="chip02"/>
          <p:cNvSpPr/>
          <p:nvPr/>
        </p:nvSpPr>
        <p:spPr>
          <a:xfrm>
            <a:off x="548640" y="14228064"/>
            <a:ext cx="2560320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ip02-t"/>
          <p:cNvSpPr txBox="1"/>
          <p:nvPr/>
        </p:nvSpPr>
        <p:spPr>
          <a:xfrm>
            <a:off x="548640" y="14209776"/>
            <a:ext cx="25603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7076"/>
                </a:solidFill>
                <a:latin typeface="Yu Gothic UI"/>
              </a:rPr>
              <a:t>— 商品 270点</a:t>
            </a:r>
          </a:p>
        </p:txBody>
      </p:sp>
      <p:sp>
        <p:nvSpPr>
          <p:cNvPr id="26" name="chip03"/>
          <p:cNvSpPr/>
          <p:nvPr/>
        </p:nvSpPr>
        <p:spPr>
          <a:xfrm>
            <a:off x="3200400" y="14228064"/>
            <a:ext cx="2560320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ip03-t"/>
          <p:cNvSpPr txBox="1"/>
          <p:nvPr/>
        </p:nvSpPr>
        <p:spPr>
          <a:xfrm>
            <a:off x="3200400" y="14209776"/>
            <a:ext cx="25603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7076"/>
                </a:solidFill>
                <a:latin typeface="Yu Gothic UI"/>
              </a:rPr>
              <a:t>— フッターに他社ロゴ</a:t>
            </a:r>
          </a:p>
        </p:txBody>
      </p:sp>
      <p:sp>
        <p:nvSpPr>
          <p:cNvPr id="28" name="chip10"/>
          <p:cNvSpPr/>
          <p:nvPr/>
        </p:nvSpPr>
        <p:spPr>
          <a:xfrm>
            <a:off x="6400800" y="13898880"/>
            <a:ext cx="2560320" cy="283464"/>
          </a:xfrm>
          <a:prstGeom prst="roundRect">
            <a:avLst>
              <a:gd name="adj" fmla="val 50000"/>
            </a:avLst>
          </a:prstGeom>
          <a:solidFill>
            <a:srgbClr val="FDF1EE"/>
          </a:solidFill>
          <a:ln w="9525">
            <a:solidFill>
              <a:srgbClr val="F2C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ip10-t"/>
          <p:cNvSpPr txBox="1"/>
          <p:nvPr/>
        </p:nvSpPr>
        <p:spPr>
          <a:xfrm>
            <a:off x="6400800" y="13880592"/>
            <a:ext cx="25603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B3122B"/>
                </a:solidFill>
                <a:latin typeface="Yu Gothic UI"/>
              </a:rPr>
              <a:t>✓ 日・英・蒙 3言語（自前翻訳）</a:t>
            </a:r>
          </a:p>
        </p:txBody>
      </p:sp>
      <p:sp>
        <p:nvSpPr>
          <p:cNvPr id="30" name="chip11"/>
          <p:cNvSpPr/>
          <p:nvPr/>
        </p:nvSpPr>
        <p:spPr>
          <a:xfrm>
            <a:off x="9052560" y="13898880"/>
            <a:ext cx="2560320" cy="283464"/>
          </a:xfrm>
          <a:prstGeom prst="roundRect">
            <a:avLst>
              <a:gd name="adj" fmla="val 50000"/>
            </a:avLst>
          </a:prstGeom>
          <a:solidFill>
            <a:srgbClr val="FDF1EE"/>
          </a:solidFill>
          <a:ln w="9525">
            <a:solidFill>
              <a:srgbClr val="F2C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ip11-t"/>
          <p:cNvSpPr txBox="1"/>
          <p:nvPr/>
        </p:nvSpPr>
        <p:spPr>
          <a:xfrm>
            <a:off x="9052560" y="13880592"/>
            <a:ext cx="25603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B3122B"/>
                </a:solidFill>
                <a:latin typeface="Yu Gothic UI"/>
              </a:rPr>
              <a:t>✓ ブランド独自のデザイン</a:t>
            </a:r>
          </a:p>
        </p:txBody>
      </p:sp>
      <p:sp>
        <p:nvSpPr>
          <p:cNvPr id="32" name="chip12"/>
          <p:cNvSpPr/>
          <p:nvPr/>
        </p:nvSpPr>
        <p:spPr>
          <a:xfrm>
            <a:off x="6400800" y="14228064"/>
            <a:ext cx="2560320" cy="283464"/>
          </a:xfrm>
          <a:prstGeom prst="roundRect">
            <a:avLst>
              <a:gd name="adj" fmla="val 50000"/>
            </a:avLst>
          </a:prstGeom>
          <a:solidFill>
            <a:srgbClr val="FDF1EE"/>
          </a:solidFill>
          <a:ln w="9525">
            <a:solidFill>
              <a:srgbClr val="F2C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ip12-t"/>
          <p:cNvSpPr txBox="1"/>
          <p:nvPr/>
        </p:nvSpPr>
        <p:spPr>
          <a:xfrm>
            <a:off x="6400800" y="14209776"/>
            <a:ext cx="25603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B3122B"/>
                </a:solidFill>
                <a:latin typeface="Yu Gothic UI"/>
              </a:rPr>
              <a:t>✓ 商品 980点</a:t>
            </a:r>
          </a:p>
        </p:txBody>
      </p:sp>
      <p:sp>
        <p:nvSpPr>
          <p:cNvPr id="34" name="chip13"/>
          <p:cNvSpPr/>
          <p:nvPr/>
        </p:nvSpPr>
        <p:spPr>
          <a:xfrm>
            <a:off x="9052560" y="14228064"/>
            <a:ext cx="2560320" cy="283464"/>
          </a:xfrm>
          <a:prstGeom prst="roundRect">
            <a:avLst>
              <a:gd name="adj" fmla="val 50000"/>
            </a:avLst>
          </a:prstGeom>
          <a:solidFill>
            <a:srgbClr val="FDF1EE"/>
          </a:solidFill>
          <a:ln w="9525">
            <a:solidFill>
              <a:srgbClr val="F2C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ip13-t"/>
          <p:cNvSpPr txBox="1"/>
          <p:nvPr/>
        </p:nvSpPr>
        <p:spPr>
          <a:xfrm>
            <a:off x="9052560" y="14209776"/>
            <a:ext cx="25603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B3122B"/>
                </a:solidFill>
                <a:latin typeface="Yu Gothic UI"/>
              </a:rPr>
              <a:t>✓ PWA・ダークモード・レビュー・Q&amp;A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比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現行サイト（Zochil）と新サイトの比較 — 画面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Одоогийн (Zochil) ба шинэ сайтын харьцуулалт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06 / 16</a:t>
            </a:r>
          </a:p>
        </p:txBody>
      </p:sp>
      <p:sp>
        <p:nvSpPr>
          <p:cNvPr id="11" name="intro"/>
          <p:cNvSpPr txBox="1"/>
          <p:nvPr/>
        </p:nvSpPr>
        <p:spPr>
          <a:xfrm>
            <a:off x="777240" y="137160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076"/>
                </a:solidFill>
                <a:latin typeface="Yu Gothic UI"/>
              </a:rPr>
              <a:t>現在の asayake.mn はモンゴルのSaaS「Zochil」のテンプレート。新サイトは自社設計・自社保有。2026年9月14日、両サイトの実際の画面。</a:t>
            </a:r>
          </a:p>
        </p:txBody>
      </p:sp>
      <p:sp>
        <p:nvSpPr>
          <p:cNvPr id="12" name="zo-lab"/>
          <p:cNvSpPr txBox="1"/>
          <p:nvPr/>
        </p:nvSpPr>
        <p:spPr>
          <a:xfrm>
            <a:off x="548640" y="1783080"/>
            <a:ext cx="5257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161A"/>
                </a:solidFill>
                <a:latin typeface="Yu Gothic UI"/>
              </a:rPr>
              <a:t>現行: asayake.mn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Zochil テンプレート（月額 220,000₮ Proプラン）</a:t>
            </a:r>
          </a:p>
        </p:txBody>
      </p:sp>
      <p:sp>
        <p:nvSpPr>
          <p:cNvPr id="13" name="zo-frame"/>
          <p:cNvSpPr/>
          <p:nvPr/>
        </p:nvSpPr>
        <p:spPr>
          <a:xfrm>
            <a:off x="548640" y="2240280"/>
            <a:ext cx="5257800" cy="3259836"/>
          </a:xfrm>
          <a:prstGeom prst="roundRect">
            <a:avLst>
              <a:gd name="adj" fmla="val 3000"/>
            </a:avLst>
          </a:prstGeom>
          <a:solidFill>
            <a:srgbClr val="2A2E35"/>
          </a:solidFill>
          <a:ln>
            <a:noFill/>
          </a:ln>
          <a:effectLst>
            <a:outerShdw blurRad="508000" dist="1778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zo-img" descr="zochil-front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386584"/>
            <a:ext cx="4965192" cy="2967228"/>
          </a:xfrm>
          <a:prstGeom prst="rect">
            <a:avLst/>
          </a:prstGeom>
        </p:spPr>
      </p:pic>
      <p:sp>
        <p:nvSpPr>
          <p:cNvPr id="15" name="zo-base"/>
          <p:cNvSpPr/>
          <p:nvPr/>
        </p:nvSpPr>
        <p:spPr>
          <a:xfrm>
            <a:off x="228600" y="5500116"/>
            <a:ext cx="5897880" cy="14630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u-lab"/>
          <p:cNvSpPr txBox="1"/>
          <p:nvPr/>
        </p:nvSpPr>
        <p:spPr>
          <a:xfrm>
            <a:off x="6400800" y="1783080"/>
            <a:ext cx="5257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3122B"/>
                </a:solidFill>
                <a:latin typeface="Yu Gothic UI"/>
              </a:rPr>
              <a:t>新: sugi.karkaron.com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自社開発・自社所有</a:t>
            </a:r>
          </a:p>
        </p:txBody>
      </p:sp>
      <p:sp>
        <p:nvSpPr>
          <p:cNvPr id="17" name="su-frame"/>
          <p:cNvSpPr/>
          <p:nvPr/>
        </p:nvSpPr>
        <p:spPr>
          <a:xfrm>
            <a:off x="6400800" y="2240280"/>
            <a:ext cx="5257800" cy="3259836"/>
          </a:xfrm>
          <a:prstGeom prst="roundRect">
            <a:avLst>
              <a:gd name="adj" fmla="val 3000"/>
            </a:avLst>
          </a:prstGeom>
          <a:solidFill>
            <a:srgbClr val="2A2E35"/>
          </a:solidFill>
          <a:ln>
            <a:noFill/>
          </a:ln>
          <a:effectLst>
            <a:outerShdw blurRad="508000" dist="1778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u-img" descr="slide-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2386584"/>
            <a:ext cx="4965192" cy="2967228"/>
          </a:xfrm>
          <a:prstGeom prst="rect">
            <a:avLst/>
          </a:prstGeom>
        </p:spPr>
      </p:pic>
      <p:sp>
        <p:nvSpPr>
          <p:cNvPr id="19" name="su-base"/>
          <p:cNvSpPr/>
          <p:nvPr/>
        </p:nvSpPr>
        <p:spPr>
          <a:xfrm>
            <a:off x="6080760" y="5500116"/>
            <a:ext cx="5897880" cy="14630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ip00"/>
          <p:cNvSpPr/>
          <p:nvPr/>
        </p:nvSpPr>
        <p:spPr>
          <a:xfrm>
            <a:off x="548640" y="13898880"/>
            <a:ext cx="2560320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ip00-t"/>
          <p:cNvSpPr txBox="1"/>
          <p:nvPr/>
        </p:nvSpPr>
        <p:spPr>
          <a:xfrm>
            <a:off x="548640" y="13880592"/>
            <a:ext cx="25603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7076"/>
                </a:solidFill>
                <a:latin typeface="Yu Gothic UI"/>
              </a:rPr>
              <a:t>— 1言語＋Google機械翻訳</a:t>
            </a:r>
          </a:p>
        </p:txBody>
      </p:sp>
      <p:sp>
        <p:nvSpPr>
          <p:cNvPr id="22" name="chip01"/>
          <p:cNvSpPr/>
          <p:nvPr/>
        </p:nvSpPr>
        <p:spPr>
          <a:xfrm>
            <a:off x="3200400" y="13898880"/>
            <a:ext cx="2560320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ip01-t"/>
          <p:cNvSpPr txBox="1"/>
          <p:nvPr/>
        </p:nvSpPr>
        <p:spPr>
          <a:xfrm>
            <a:off x="3200400" y="13880592"/>
            <a:ext cx="25603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7076"/>
                </a:solidFill>
                <a:latin typeface="Yu Gothic UI"/>
              </a:rPr>
              <a:t>— テンプレート共通デザイン</a:t>
            </a:r>
          </a:p>
        </p:txBody>
      </p:sp>
      <p:sp>
        <p:nvSpPr>
          <p:cNvPr id="24" name="chip02"/>
          <p:cNvSpPr/>
          <p:nvPr/>
        </p:nvSpPr>
        <p:spPr>
          <a:xfrm>
            <a:off x="548640" y="14228064"/>
            <a:ext cx="2560320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ip02-t"/>
          <p:cNvSpPr txBox="1"/>
          <p:nvPr/>
        </p:nvSpPr>
        <p:spPr>
          <a:xfrm>
            <a:off x="548640" y="14209776"/>
            <a:ext cx="25603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7076"/>
                </a:solidFill>
                <a:latin typeface="Yu Gothic UI"/>
              </a:rPr>
              <a:t>— 商品 270点</a:t>
            </a:r>
          </a:p>
        </p:txBody>
      </p:sp>
      <p:sp>
        <p:nvSpPr>
          <p:cNvPr id="26" name="chip03"/>
          <p:cNvSpPr/>
          <p:nvPr/>
        </p:nvSpPr>
        <p:spPr>
          <a:xfrm>
            <a:off x="3200400" y="14228064"/>
            <a:ext cx="2560320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ip03-t"/>
          <p:cNvSpPr txBox="1"/>
          <p:nvPr/>
        </p:nvSpPr>
        <p:spPr>
          <a:xfrm>
            <a:off x="3200400" y="14209776"/>
            <a:ext cx="25603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7076"/>
                </a:solidFill>
                <a:latin typeface="Yu Gothic UI"/>
              </a:rPr>
              <a:t>— フッターに他社ロゴ</a:t>
            </a:r>
          </a:p>
        </p:txBody>
      </p:sp>
      <p:sp>
        <p:nvSpPr>
          <p:cNvPr id="28" name="chip10"/>
          <p:cNvSpPr/>
          <p:nvPr/>
        </p:nvSpPr>
        <p:spPr>
          <a:xfrm>
            <a:off x="6400800" y="13898880"/>
            <a:ext cx="2560320" cy="283464"/>
          </a:xfrm>
          <a:prstGeom prst="roundRect">
            <a:avLst>
              <a:gd name="adj" fmla="val 50000"/>
            </a:avLst>
          </a:prstGeom>
          <a:solidFill>
            <a:srgbClr val="FDF1EE"/>
          </a:solidFill>
          <a:ln w="9525">
            <a:solidFill>
              <a:srgbClr val="F2C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ip10-t"/>
          <p:cNvSpPr txBox="1"/>
          <p:nvPr/>
        </p:nvSpPr>
        <p:spPr>
          <a:xfrm>
            <a:off x="6400800" y="13880592"/>
            <a:ext cx="25603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B3122B"/>
                </a:solidFill>
                <a:latin typeface="Yu Gothic UI"/>
              </a:rPr>
              <a:t>✓ 日・英・蒙 3言語（自前翻訳）</a:t>
            </a:r>
          </a:p>
        </p:txBody>
      </p:sp>
      <p:sp>
        <p:nvSpPr>
          <p:cNvPr id="30" name="chip11"/>
          <p:cNvSpPr/>
          <p:nvPr/>
        </p:nvSpPr>
        <p:spPr>
          <a:xfrm>
            <a:off x="9052560" y="13898880"/>
            <a:ext cx="2560320" cy="283464"/>
          </a:xfrm>
          <a:prstGeom prst="roundRect">
            <a:avLst>
              <a:gd name="adj" fmla="val 50000"/>
            </a:avLst>
          </a:prstGeom>
          <a:solidFill>
            <a:srgbClr val="FDF1EE"/>
          </a:solidFill>
          <a:ln w="9525">
            <a:solidFill>
              <a:srgbClr val="F2C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ip11-t"/>
          <p:cNvSpPr txBox="1"/>
          <p:nvPr/>
        </p:nvSpPr>
        <p:spPr>
          <a:xfrm>
            <a:off x="9052560" y="13880592"/>
            <a:ext cx="25603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B3122B"/>
                </a:solidFill>
                <a:latin typeface="Yu Gothic UI"/>
              </a:rPr>
              <a:t>✓ ブランド独自のデザイン</a:t>
            </a:r>
          </a:p>
        </p:txBody>
      </p:sp>
      <p:sp>
        <p:nvSpPr>
          <p:cNvPr id="32" name="chip12"/>
          <p:cNvSpPr/>
          <p:nvPr/>
        </p:nvSpPr>
        <p:spPr>
          <a:xfrm>
            <a:off x="6400800" y="14228064"/>
            <a:ext cx="2560320" cy="283464"/>
          </a:xfrm>
          <a:prstGeom prst="roundRect">
            <a:avLst>
              <a:gd name="adj" fmla="val 50000"/>
            </a:avLst>
          </a:prstGeom>
          <a:solidFill>
            <a:srgbClr val="FDF1EE"/>
          </a:solidFill>
          <a:ln w="9525">
            <a:solidFill>
              <a:srgbClr val="F2C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ip12-t"/>
          <p:cNvSpPr txBox="1"/>
          <p:nvPr/>
        </p:nvSpPr>
        <p:spPr>
          <a:xfrm>
            <a:off x="6400800" y="14209776"/>
            <a:ext cx="25603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B3122B"/>
                </a:solidFill>
                <a:latin typeface="Yu Gothic UI"/>
              </a:rPr>
              <a:t>✓ 商品 980点</a:t>
            </a:r>
          </a:p>
        </p:txBody>
      </p:sp>
      <p:sp>
        <p:nvSpPr>
          <p:cNvPr id="34" name="chip13"/>
          <p:cNvSpPr/>
          <p:nvPr/>
        </p:nvSpPr>
        <p:spPr>
          <a:xfrm>
            <a:off x="9052560" y="14228064"/>
            <a:ext cx="2560320" cy="283464"/>
          </a:xfrm>
          <a:prstGeom prst="roundRect">
            <a:avLst>
              <a:gd name="adj" fmla="val 50000"/>
            </a:avLst>
          </a:prstGeom>
          <a:solidFill>
            <a:srgbClr val="FDF1EE"/>
          </a:solidFill>
          <a:ln w="9525">
            <a:solidFill>
              <a:srgbClr val="F2C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ip13-t"/>
          <p:cNvSpPr txBox="1"/>
          <p:nvPr/>
        </p:nvSpPr>
        <p:spPr>
          <a:xfrm>
            <a:off x="9052560" y="14209776"/>
            <a:ext cx="25603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B3122B"/>
                </a:solidFill>
                <a:latin typeface="Yu Gothic UI"/>
              </a:rPr>
              <a:t>✓ PWA・ダークモード・レビュー・Q&amp;A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比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現行サイト（Zochil）と新サイトの比較 — 画面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Одоогийн (Zochil) ба шинэ сайтын харьцуулалт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06 / 16</a:t>
            </a:r>
          </a:p>
        </p:txBody>
      </p:sp>
      <p:sp>
        <p:nvSpPr>
          <p:cNvPr id="11" name="intro"/>
          <p:cNvSpPr txBox="1"/>
          <p:nvPr/>
        </p:nvSpPr>
        <p:spPr>
          <a:xfrm>
            <a:off x="777240" y="137160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076"/>
                </a:solidFill>
                <a:latin typeface="Yu Gothic UI"/>
              </a:rPr>
              <a:t>現在の asayake.mn はモンゴルのSaaS「Zochil」のテンプレート。新サイトは自社設計・自社保有。2026年9月14日、両サイトの実際の画面。</a:t>
            </a:r>
          </a:p>
        </p:txBody>
      </p:sp>
      <p:sp>
        <p:nvSpPr>
          <p:cNvPr id="12" name="zo-lab"/>
          <p:cNvSpPr txBox="1"/>
          <p:nvPr/>
        </p:nvSpPr>
        <p:spPr>
          <a:xfrm>
            <a:off x="548640" y="1783080"/>
            <a:ext cx="5257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161A"/>
                </a:solidFill>
                <a:latin typeface="Yu Gothic UI"/>
              </a:rPr>
              <a:t>現行: asayake.mn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Zochil テンプレート（月額 220,000₮ Proプラン）</a:t>
            </a:r>
          </a:p>
        </p:txBody>
      </p:sp>
      <p:sp>
        <p:nvSpPr>
          <p:cNvPr id="13" name="zo-frame"/>
          <p:cNvSpPr/>
          <p:nvPr/>
        </p:nvSpPr>
        <p:spPr>
          <a:xfrm>
            <a:off x="548640" y="2240280"/>
            <a:ext cx="5257800" cy="3259836"/>
          </a:xfrm>
          <a:prstGeom prst="roundRect">
            <a:avLst>
              <a:gd name="adj" fmla="val 3000"/>
            </a:avLst>
          </a:prstGeom>
          <a:solidFill>
            <a:srgbClr val="2A2E35"/>
          </a:solidFill>
          <a:ln>
            <a:noFill/>
          </a:ln>
          <a:effectLst>
            <a:outerShdw blurRad="508000" dist="1778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zo-img" descr="zochil-front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386584"/>
            <a:ext cx="4965192" cy="2967228"/>
          </a:xfrm>
          <a:prstGeom prst="rect">
            <a:avLst/>
          </a:prstGeom>
        </p:spPr>
      </p:pic>
      <p:sp>
        <p:nvSpPr>
          <p:cNvPr id="15" name="zo-base"/>
          <p:cNvSpPr/>
          <p:nvPr/>
        </p:nvSpPr>
        <p:spPr>
          <a:xfrm>
            <a:off x="228600" y="5500116"/>
            <a:ext cx="5897880" cy="14630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u-lab"/>
          <p:cNvSpPr txBox="1"/>
          <p:nvPr/>
        </p:nvSpPr>
        <p:spPr>
          <a:xfrm>
            <a:off x="6400800" y="1783080"/>
            <a:ext cx="5257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3122B"/>
                </a:solidFill>
                <a:latin typeface="Yu Gothic UI"/>
              </a:rPr>
              <a:t>新: sugi.karkaron.com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自社開発・自社所有</a:t>
            </a:r>
          </a:p>
        </p:txBody>
      </p:sp>
      <p:sp>
        <p:nvSpPr>
          <p:cNvPr id="17" name="su-frame"/>
          <p:cNvSpPr/>
          <p:nvPr/>
        </p:nvSpPr>
        <p:spPr>
          <a:xfrm>
            <a:off x="6400800" y="2240280"/>
            <a:ext cx="5257800" cy="3259836"/>
          </a:xfrm>
          <a:prstGeom prst="roundRect">
            <a:avLst>
              <a:gd name="adj" fmla="val 3000"/>
            </a:avLst>
          </a:prstGeom>
          <a:solidFill>
            <a:srgbClr val="2A2E35"/>
          </a:solidFill>
          <a:ln>
            <a:noFill/>
          </a:ln>
          <a:effectLst>
            <a:outerShdw blurRad="508000" dist="1778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u-img" descr="slide-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2386584"/>
            <a:ext cx="4965192" cy="2967228"/>
          </a:xfrm>
          <a:prstGeom prst="rect">
            <a:avLst/>
          </a:prstGeom>
        </p:spPr>
      </p:pic>
      <p:sp>
        <p:nvSpPr>
          <p:cNvPr id="19" name="su-base"/>
          <p:cNvSpPr/>
          <p:nvPr/>
        </p:nvSpPr>
        <p:spPr>
          <a:xfrm>
            <a:off x="6080760" y="5500116"/>
            <a:ext cx="5897880" cy="14630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ip00"/>
          <p:cNvSpPr/>
          <p:nvPr/>
        </p:nvSpPr>
        <p:spPr>
          <a:xfrm>
            <a:off x="548640" y="5669280"/>
            <a:ext cx="2560320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ip00-t"/>
          <p:cNvSpPr txBox="1"/>
          <p:nvPr/>
        </p:nvSpPr>
        <p:spPr>
          <a:xfrm>
            <a:off x="548640" y="5650992"/>
            <a:ext cx="25603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7076"/>
                </a:solidFill>
                <a:latin typeface="Yu Gothic UI"/>
              </a:rPr>
              <a:t>— 1言語＋Google機械翻訳</a:t>
            </a:r>
          </a:p>
        </p:txBody>
      </p:sp>
      <p:sp>
        <p:nvSpPr>
          <p:cNvPr id="22" name="chip01"/>
          <p:cNvSpPr/>
          <p:nvPr/>
        </p:nvSpPr>
        <p:spPr>
          <a:xfrm>
            <a:off x="3200400" y="5669280"/>
            <a:ext cx="2560320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ip01-t"/>
          <p:cNvSpPr txBox="1"/>
          <p:nvPr/>
        </p:nvSpPr>
        <p:spPr>
          <a:xfrm>
            <a:off x="3200400" y="5650992"/>
            <a:ext cx="25603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7076"/>
                </a:solidFill>
                <a:latin typeface="Yu Gothic UI"/>
              </a:rPr>
              <a:t>— テンプレート共通デザイン</a:t>
            </a:r>
          </a:p>
        </p:txBody>
      </p:sp>
      <p:sp>
        <p:nvSpPr>
          <p:cNvPr id="24" name="chip02"/>
          <p:cNvSpPr/>
          <p:nvPr/>
        </p:nvSpPr>
        <p:spPr>
          <a:xfrm>
            <a:off x="548640" y="5998464"/>
            <a:ext cx="2560320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ip02-t"/>
          <p:cNvSpPr txBox="1"/>
          <p:nvPr/>
        </p:nvSpPr>
        <p:spPr>
          <a:xfrm>
            <a:off x="548640" y="5980176"/>
            <a:ext cx="25603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7076"/>
                </a:solidFill>
                <a:latin typeface="Yu Gothic UI"/>
              </a:rPr>
              <a:t>— 商品 270点</a:t>
            </a:r>
          </a:p>
        </p:txBody>
      </p:sp>
      <p:sp>
        <p:nvSpPr>
          <p:cNvPr id="26" name="chip03"/>
          <p:cNvSpPr/>
          <p:nvPr/>
        </p:nvSpPr>
        <p:spPr>
          <a:xfrm>
            <a:off x="3200400" y="5998464"/>
            <a:ext cx="2560320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ip03-t"/>
          <p:cNvSpPr txBox="1"/>
          <p:nvPr/>
        </p:nvSpPr>
        <p:spPr>
          <a:xfrm>
            <a:off x="3200400" y="5980176"/>
            <a:ext cx="25603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7076"/>
                </a:solidFill>
                <a:latin typeface="Yu Gothic UI"/>
              </a:rPr>
              <a:t>— フッターに他社ロゴ</a:t>
            </a:r>
          </a:p>
        </p:txBody>
      </p:sp>
      <p:sp>
        <p:nvSpPr>
          <p:cNvPr id="28" name="chip10"/>
          <p:cNvSpPr/>
          <p:nvPr/>
        </p:nvSpPr>
        <p:spPr>
          <a:xfrm>
            <a:off x="6400800" y="5669280"/>
            <a:ext cx="2560320" cy="283464"/>
          </a:xfrm>
          <a:prstGeom prst="roundRect">
            <a:avLst>
              <a:gd name="adj" fmla="val 50000"/>
            </a:avLst>
          </a:prstGeom>
          <a:solidFill>
            <a:srgbClr val="FDF1EE"/>
          </a:solidFill>
          <a:ln w="9525">
            <a:solidFill>
              <a:srgbClr val="F2C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ip10-t"/>
          <p:cNvSpPr txBox="1"/>
          <p:nvPr/>
        </p:nvSpPr>
        <p:spPr>
          <a:xfrm>
            <a:off x="6400800" y="5650992"/>
            <a:ext cx="25603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B3122B"/>
                </a:solidFill>
                <a:latin typeface="Yu Gothic UI"/>
              </a:rPr>
              <a:t>✓ 日・英・蒙 3言語（自前翻訳）</a:t>
            </a:r>
          </a:p>
        </p:txBody>
      </p:sp>
      <p:sp>
        <p:nvSpPr>
          <p:cNvPr id="30" name="chip11"/>
          <p:cNvSpPr/>
          <p:nvPr/>
        </p:nvSpPr>
        <p:spPr>
          <a:xfrm>
            <a:off x="9052560" y="5669280"/>
            <a:ext cx="2560320" cy="283464"/>
          </a:xfrm>
          <a:prstGeom prst="roundRect">
            <a:avLst>
              <a:gd name="adj" fmla="val 50000"/>
            </a:avLst>
          </a:prstGeom>
          <a:solidFill>
            <a:srgbClr val="FDF1EE"/>
          </a:solidFill>
          <a:ln w="9525">
            <a:solidFill>
              <a:srgbClr val="F2C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ip11-t"/>
          <p:cNvSpPr txBox="1"/>
          <p:nvPr/>
        </p:nvSpPr>
        <p:spPr>
          <a:xfrm>
            <a:off x="9052560" y="5650992"/>
            <a:ext cx="25603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B3122B"/>
                </a:solidFill>
                <a:latin typeface="Yu Gothic UI"/>
              </a:rPr>
              <a:t>✓ ブランド独自のデザイン</a:t>
            </a:r>
          </a:p>
        </p:txBody>
      </p:sp>
      <p:sp>
        <p:nvSpPr>
          <p:cNvPr id="32" name="chip12"/>
          <p:cNvSpPr/>
          <p:nvPr/>
        </p:nvSpPr>
        <p:spPr>
          <a:xfrm>
            <a:off x="6400800" y="5998464"/>
            <a:ext cx="2560320" cy="283464"/>
          </a:xfrm>
          <a:prstGeom prst="roundRect">
            <a:avLst>
              <a:gd name="adj" fmla="val 50000"/>
            </a:avLst>
          </a:prstGeom>
          <a:solidFill>
            <a:srgbClr val="FDF1EE"/>
          </a:solidFill>
          <a:ln w="9525">
            <a:solidFill>
              <a:srgbClr val="F2C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ip12-t"/>
          <p:cNvSpPr txBox="1"/>
          <p:nvPr/>
        </p:nvSpPr>
        <p:spPr>
          <a:xfrm>
            <a:off x="6400800" y="5980176"/>
            <a:ext cx="25603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B3122B"/>
                </a:solidFill>
                <a:latin typeface="Yu Gothic UI"/>
              </a:rPr>
              <a:t>✓ 商品 980点</a:t>
            </a:r>
          </a:p>
        </p:txBody>
      </p:sp>
      <p:sp>
        <p:nvSpPr>
          <p:cNvPr id="34" name="chip13"/>
          <p:cNvSpPr/>
          <p:nvPr/>
        </p:nvSpPr>
        <p:spPr>
          <a:xfrm>
            <a:off x="9052560" y="5998464"/>
            <a:ext cx="2560320" cy="283464"/>
          </a:xfrm>
          <a:prstGeom prst="roundRect">
            <a:avLst>
              <a:gd name="adj" fmla="val 50000"/>
            </a:avLst>
          </a:prstGeom>
          <a:solidFill>
            <a:srgbClr val="FDF1EE"/>
          </a:solidFill>
          <a:ln w="9525">
            <a:solidFill>
              <a:srgbClr val="F2C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ip13-t"/>
          <p:cNvSpPr txBox="1"/>
          <p:nvPr/>
        </p:nvSpPr>
        <p:spPr>
          <a:xfrm>
            <a:off x="9052560" y="5980176"/>
            <a:ext cx="25603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B3122B"/>
                </a:solidFill>
                <a:latin typeface="Yu Gothic UI"/>
              </a:rPr>
              <a:t>✓ PWA・ダークモード・レビュー・Q&amp;A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較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機能比較 — 正直に、項目ごとに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Функцийн харьцуулалт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07 / 16</a:t>
            </a:r>
          </a:p>
        </p:txBody>
      </p:sp>
      <p:sp>
        <p:nvSpPr>
          <p:cNvPr id="11" name="mx-hdr"/>
          <p:cNvSpPr/>
          <p:nvPr/>
        </p:nvSpPr>
        <p:spPr>
          <a:xfrm>
            <a:off x="548640" y="1783080"/>
            <a:ext cx="10698480" cy="384048"/>
          </a:xfrm>
          <a:prstGeom prst="roundRect">
            <a:avLst>
              <a:gd name="adj" fmla="val 15000"/>
            </a:avLst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x-h0"/>
          <p:cNvSpPr txBox="1"/>
          <p:nvPr/>
        </p:nvSpPr>
        <p:spPr>
          <a:xfrm>
            <a:off x="731520" y="1783080"/>
            <a:ext cx="48463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 UI"/>
              </a:rPr>
              <a:t>項目</a:t>
            </a:r>
          </a:p>
        </p:txBody>
      </p:sp>
      <p:sp>
        <p:nvSpPr>
          <p:cNvPr id="13" name="mx-h1"/>
          <p:cNvSpPr txBox="1"/>
          <p:nvPr/>
        </p:nvSpPr>
        <p:spPr>
          <a:xfrm>
            <a:off x="5394960" y="1783080"/>
            <a:ext cx="29260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 UI"/>
              </a:rPr>
              <a:t>現行 asayake.mn（Zochil）</a:t>
            </a:r>
          </a:p>
        </p:txBody>
      </p:sp>
      <p:sp>
        <p:nvSpPr>
          <p:cNvPr id="14" name="mx-h2"/>
          <p:cNvSpPr txBox="1"/>
          <p:nvPr/>
        </p:nvSpPr>
        <p:spPr>
          <a:xfrm>
            <a:off x="8321040" y="1783080"/>
            <a:ext cx="29260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8A82A"/>
                </a:solidFill>
                <a:latin typeface="Yu Gothic UI"/>
              </a:rPr>
              <a:t>新 sugi.karkaron.com（自社開発）</a:t>
            </a:r>
          </a:p>
        </p:txBody>
      </p:sp>
      <p:sp>
        <p:nvSpPr>
          <p:cNvPr id="15" name="mx-row0"/>
          <p:cNvSpPr/>
          <p:nvPr/>
        </p:nvSpPr>
        <p:spPr>
          <a:xfrm>
            <a:off x="548640" y="2240280"/>
            <a:ext cx="106984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x-l0"/>
          <p:cNvSpPr txBox="1"/>
          <p:nvPr/>
        </p:nvSpPr>
        <p:spPr>
          <a:xfrm>
            <a:off x="731520" y="224028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掲載商品数（2026/9/14）</a:t>
            </a:r>
          </a:p>
        </p:txBody>
      </p:sp>
      <p:sp>
        <p:nvSpPr>
          <p:cNvPr id="17" name="mx-a0"/>
          <p:cNvSpPr txBox="1"/>
          <p:nvPr/>
        </p:nvSpPr>
        <p:spPr>
          <a:xfrm>
            <a:off x="5394960" y="2240280"/>
            <a:ext cx="29260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270点</a:t>
            </a:r>
          </a:p>
        </p:txBody>
      </p:sp>
      <p:sp>
        <p:nvSpPr>
          <p:cNvPr id="18" name="mx-b0"/>
          <p:cNvSpPr txBox="1"/>
          <p:nvPr/>
        </p:nvSpPr>
        <p:spPr>
          <a:xfrm>
            <a:off x="8321040" y="2240280"/>
            <a:ext cx="29260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B3122B"/>
                </a:solidFill>
                <a:latin typeface="Yu Gothic UI"/>
              </a:rPr>
              <a:t>980点</a:t>
            </a:r>
          </a:p>
        </p:txBody>
      </p:sp>
      <p:sp>
        <p:nvSpPr>
          <p:cNvPr id="19" name="mx-l1"/>
          <p:cNvSpPr txBox="1"/>
          <p:nvPr/>
        </p:nvSpPr>
        <p:spPr>
          <a:xfrm>
            <a:off x="731520" y="251460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月額費用</a:t>
            </a:r>
          </a:p>
        </p:txBody>
      </p:sp>
      <p:sp>
        <p:nvSpPr>
          <p:cNvPr id="20" name="mx-a1"/>
          <p:cNvSpPr txBox="1"/>
          <p:nvPr/>
        </p:nvSpPr>
        <p:spPr>
          <a:xfrm>
            <a:off x="5394960" y="2514600"/>
            <a:ext cx="29260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220,000₮／月（Pro）</a:t>
            </a:r>
          </a:p>
        </p:txBody>
      </p:sp>
      <p:sp>
        <p:nvSpPr>
          <p:cNvPr id="21" name="mx-b1"/>
          <p:cNvSpPr txBox="1"/>
          <p:nvPr/>
        </p:nvSpPr>
        <p:spPr>
          <a:xfrm>
            <a:off x="8321040" y="2514600"/>
            <a:ext cx="29260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B3122B"/>
                </a:solidFill>
                <a:latin typeface="Yu Gothic UI"/>
              </a:rPr>
              <a:t>0₮（クラウド実費のみ）</a:t>
            </a:r>
          </a:p>
        </p:txBody>
      </p:sp>
      <p:sp>
        <p:nvSpPr>
          <p:cNvPr id="22" name="mx-row2"/>
          <p:cNvSpPr/>
          <p:nvPr/>
        </p:nvSpPr>
        <p:spPr>
          <a:xfrm>
            <a:off x="548640" y="2788920"/>
            <a:ext cx="106984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x-l2"/>
          <p:cNvSpPr txBox="1"/>
          <p:nvPr/>
        </p:nvSpPr>
        <p:spPr>
          <a:xfrm>
            <a:off x="731520" y="278892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ソースコードの所有・自由な機能追加</a:t>
            </a:r>
          </a:p>
        </p:txBody>
      </p:sp>
      <p:sp>
        <p:nvSpPr>
          <p:cNvPr id="24" name="mx-ka2"/>
          <p:cNvSpPr/>
          <p:nvPr/>
        </p:nvSpPr>
        <p:spPr>
          <a:xfrm>
            <a:off x="6720840" y="2807208"/>
            <a:ext cx="274320" cy="274320"/>
          </a:xfrm>
          <a:prstGeom prst="ellipse">
            <a:avLst/>
          </a:prstGeom>
          <a:solidFill>
            <a:srgbClr val="C4C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x-ka2-t"/>
          <p:cNvSpPr txBox="1"/>
          <p:nvPr/>
        </p:nvSpPr>
        <p:spPr>
          <a:xfrm>
            <a:off x="6675120" y="277977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—</a:t>
            </a:r>
          </a:p>
        </p:txBody>
      </p:sp>
      <p:sp>
        <p:nvSpPr>
          <p:cNvPr id="26" name="mx-kb2"/>
          <p:cNvSpPr/>
          <p:nvPr/>
        </p:nvSpPr>
        <p:spPr>
          <a:xfrm>
            <a:off x="9646920" y="2807208"/>
            <a:ext cx="274320" cy="2743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x-kb2-t"/>
          <p:cNvSpPr txBox="1"/>
          <p:nvPr/>
        </p:nvSpPr>
        <p:spPr>
          <a:xfrm>
            <a:off x="9601200" y="277977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8" name="mx-l3"/>
          <p:cNvSpPr txBox="1"/>
          <p:nvPr/>
        </p:nvSpPr>
        <p:spPr>
          <a:xfrm>
            <a:off x="731520" y="306324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顧客・注文データの保管場所</a:t>
            </a:r>
          </a:p>
        </p:txBody>
      </p:sp>
      <p:sp>
        <p:nvSpPr>
          <p:cNvPr id="29" name="mx-a3"/>
          <p:cNvSpPr txBox="1"/>
          <p:nvPr/>
        </p:nvSpPr>
        <p:spPr>
          <a:xfrm>
            <a:off x="5394960" y="3063240"/>
            <a:ext cx="29260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ベンダー側サーバー</a:t>
            </a:r>
          </a:p>
        </p:txBody>
      </p:sp>
      <p:sp>
        <p:nvSpPr>
          <p:cNvPr id="30" name="mx-b3"/>
          <p:cNvSpPr txBox="1"/>
          <p:nvPr/>
        </p:nvSpPr>
        <p:spPr>
          <a:xfrm>
            <a:off x="8321040" y="3063240"/>
            <a:ext cx="29260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B3122B"/>
                </a:solidFill>
                <a:latin typeface="Yu Gothic UI"/>
              </a:rPr>
              <a:t>自社DB（東京・暗号化バックアップ）</a:t>
            </a:r>
          </a:p>
        </p:txBody>
      </p:sp>
      <p:sp>
        <p:nvSpPr>
          <p:cNvPr id="31" name="mx-row4"/>
          <p:cNvSpPr/>
          <p:nvPr/>
        </p:nvSpPr>
        <p:spPr>
          <a:xfrm>
            <a:off x="548640" y="3337560"/>
            <a:ext cx="106984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x-l4"/>
          <p:cNvSpPr txBox="1"/>
          <p:nvPr/>
        </p:nvSpPr>
        <p:spPr>
          <a:xfrm>
            <a:off x="731520" y="333756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多言語（日本語・英語・モンゴル語）</a:t>
            </a:r>
          </a:p>
        </p:txBody>
      </p:sp>
      <p:sp>
        <p:nvSpPr>
          <p:cNvPr id="33" name="mx-ka4"/>
          <p:cNvSpPr/>
          <p:nvPr/>
        </p:nvSpPr>
        <p:spPr>
          <a:xfrm>
            <a:off x="6720840" y="3355848"/>
            <a:ext cx="274320" cy="2743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x-ka4-t"/>
          <p:cNvSpPr txBox="1"/>
          <p:nvPr/>
        </p:nvSpPr>
        <p:spPr>
          <a:xfrm>
            <a:off x="6675120" y="332841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△</a:t>
            </a:r>
          </a:p>
        </p:txBody>
      </p:sp>
      <p:sp>
        <p:nvSpPr>
          <p:cNvPr id="35" name="mx-kb4"/>
          <p:cNvSpPr/>
          <p:nvPr/>
        </p:nvSpPr>
        <p:spPr>
          <a:xfrm>
            <a:off x="9646920" y="3355848"/>
            <a:ext cx="274320" cy="2743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x-kb4-t"/>
          <p:cNvSpPr txBox="1"/>
          <p:nvPr/>
        </p:nvSpPr>
        <p:spPr>
          <a:xfrm>
            <a:off x="9601200" y="332841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7" name="mx-l5"/>
          <p:cNvSpPr txBox="1"/>
          <p:nvPr/>
        </p:nvSpPr>
        <p:spPr>
          <a:xfrm>
            <a:off x="731520" y="361188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JANコード検索・構造化データ（SEO）</a:t>
            </a:r>
          </a:p>
        </p:txBody>
      </p:sp>
      <p:sp>
        <p:nvSpPr>
          <p:cNvPr id="38" name="mx-ka5"/>
          <p:cNvSpPr/>
          <p:nvPr/>
        </p:nvSpPr>
        <p:spPr>
          <a:xfrm>
            <a:off x="6720840" y="3630168"/>
            <a:ext cx="274320" cy="274320"/>
          </a:xfrm>
          <a:prstGeom prst="ellipse">
            <a:avLst/>
          </a:prstGeom>
          <a:solidFill>
            <a:srgbClr val="C4C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mx-ka5-t"/>
          <p:cNvSpPr txBox="1"/>
          <p:nvPr/>
        </p:nvSpPr>
        <p:spPr>
          <a:xfrm>
            <a:off x="6675120" y="360273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—</a:t>
            </a:r>
          </a:p>
        </p:txBody>
      </p:sp>
      <p:sp>
        <p:nvSpPr>
          <p:cNvPr id="40" name="mx-kb5"/>
          <p:cNvSpPr/>
          <p:nvPr/>
        </p:nvSpPr>
        <p:spPr>
          <a:xfrm>
            <a:off x="9646920" y="3630168"/>
            <a:ext cx="274320" cy="2743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mx-kb5-t"/>
          <p:cNvSpPr txBox="1"/>
          <p:nvPr/>
        </p:nvSpPr>
        <p:spPr>
          <a:xfrm>
            <a:off x="9601200" y="360273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2" name="mx-row6"/>
          <p:cNvSpPr/>
          <p:nvPr/>
        </p:nvSpPr>
        <p:spPr>
          <a:xfrm>
            <a:off x="548640" y="3886200"/>
            <a:ext cx="106984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mx-l6"/>
          <p:cNvSpPr txBox="1"/>
          <p:nvPr/>
        </p:nvSpPr>
        <p:spPr>
          <a:xfrm>
            <a:off x="731520" y="388620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内容量・成分・原産国を項目として管理</a:t>
            </a:r>
          </a:p>
        </p:txBody>
      </p:sp>
      <p:sp>
        <p:nvSpPr>
          <p:cNvPr id="44" name="mx-ka6"/>
          <p:cNvSpPr/>
          <p:nvPr/>
        </p:nvSpPr>
        <p:spPr>
          <a:xfrm>
            <a:off x="6720840" y="3904488"/>
            <a:ext cx="274320" cy="2743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mx-ka6-t"/>
          <p:cNvSpPr txBox="1"/>
          <p:nvPr/>
        </p:nvSpPr>
        <p:spPr>
          <a:xfrm>
            <a:off x="6675120" y="387705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△</a:t>
            </a:r>
          </a:p>
        </p:txBody>
      </p:sp>
      <p:sp>
        <p:nvSpPr>
          <p:cNvPr id="46" name="mx-kb6"/>
          <p:cNvSpPr/>
          <p:nvPr/>
        </p:nvSpPr>
        <p:spPr>
          <a:xfrm>
            <a:off x="9646920" y="3904488"/>
            <a:ext cx="274320" cy="2743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mx-kb6-t"/>
          <p:cNvSpPr txBox="1"/>
          <p:nvPr/>
        </p:nvSpPr>
        <p:spPr>
          <a:xfrm>
            <a:off x="9601200" y="387705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8" name="mx-l7"/>
          <p:cNvSpPr txBox="1"/>
          <p:nvPr/>
        </p:nvSpPr>
        <p:spPr>
          <a:xfrm>
            <a:off x="731520" y="1239012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レビュー返信・Q&amp;A・投稿特典</a:t>
            </a:r>
          </a:p>
        </p:txBody>
      </p:sp>
      <p:sp>
        <p:nvSpPr>
          <p:cNvPr id="49" name="mx-ka7"/>
          <p:cNvSpPr/>
          <p:nvPr/>
        </p:nvSpPr>
        <p:spPr>
          <a:xfrm>
            <a:off x="6720840" y="12408408"/>
            <a:ext cx="274320" cy="2743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mx-ka7-t"/>
          <p:cNvSpPr txBox="1"/>
          <p:nvPr/>
        </p:nvSpPr>
        <p:spPr>
          <a:xfrm>
            <a:off x="6675120" y="1238097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△</a:t>
            </a:r>
          </a:p>
        </p:txBody>
      </p:sp>
      <p:sp>
        <p:nvSpPr>
          <p:cNvPr id="51" name="mx-kb7"/>
          <p:cNvSpPr/>
          <p:nvPr/>
        </p:nvSpPr>
        <p:spPr>
          <a:xfrm>
            <a:off x="9646920" y="12408408"/>
            <a:ext cx="274320" cy="2743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mx-kb7-t"/>
          <p:cNvSpPr txBox="1"/>
          <p:nvPr/>
        </p:nvSpPr>
        <p:spPr>
          <a:xfrm>
            <a:off x="9601200" y="1238097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3" name="mx-row8"/>
          <p:cNvSpPr/>
          <p:nvPr/>
        </p:nvSpPr>
        <p:spPr>
          <a:xfrm>
            <a:off x="548640" y="12664440"/>
            <a:ext cx="106984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mx-l8"/>
          <p:cNvSpPr txBox="1"/>
          <p:nvPr/>
        </p:nvSpPr>
        <p:spPr>
          <a:xfrm>
            <a:off x="731520" y="1266444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在庫台帳・スキャナ入荷・店舗間移動・棚卸</a:t>
            </a:r>
          </a:p>
        </p:txBody>
      </p:sp>
      <p:sp>
        <p:nvSpPr>
          <p:cNvPr id="55" name="mx-ka8"/>
          <p:cNvSpPr/>
          <p:nvPr/>
        </p:nvSpPr>
        <p:spPr>
          <a:xfrm>
            <a:off x="6720840" y="12682728"/>
            <a:ext cx="274320" cy="2743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mx-ka8-t"/>
          <p:cNvSpPr txBox="1"/>
          <p:nvPr/>
        </p:nvSpPr>
        <p:spPr>
          <a:xfrm>
            <a:off x="6675120" y="1265529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△</a:t>
            </a:r>
          </a:p>
        </p:txBody>
      </p:sp>
      <p:sp>
        <p:nvSpPr>
          <p:cNvPr id="57" name="mx-kb8"/>
          <p:cNvSpPr/>
          <p:nvPr/>
        </p:nvSpPr>
        <p:spPr>
          <a:xfrm>
            <a:off x="9646920" y="12682728"/>
            <a:ext cx="274320" cy="2743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mx-kb8-t"/>
          <p:cNvSpPr txBox="1"/>
          <p:nvPr/>
        </p:nvSpPr>
        <p:spPr>
          <a:xfrm>
            <a:off x="9601200" y="1265529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9" name="mx-l9"/>
          <p:cNvSpPr txBox="1"/>
          <p:nvPr/>
        </p:nvSpPr>
        <p:spPr>
          <a:xfrm>
            <a:off x="731520" y="1293876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管理画面の顔認証・自動ロック</a:t>
            </a:r>
          </a:p>
        </p:txBody>
      </p:sp>
      <p:sp>
        <p:nvSpPr>
          <p:cNvPr id="60" name="mx-ka9"/>
          <p:cNvSpPr/>
          <p:nvPr/>
        </p:nvSpPr>
        <p:spPr>
          <a:xfrm>
            <a:off x="6720840" y="12957048"/>
            <a:ext cx="274320" cy="274320"/>
          </a:xfrm>
          <a:prstGeom prst="ellipse">
            <a:avLst/>
          </a:prstGeom>
          <a:solidFill>
            <a:srgbClr val="C4C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mx-ka9-t"/>
          <p:cNvSpPr txBox="1"/>
          <p:nvPr/>
        </p:nvSpPr>
        <p:spPr>
          <a:xfrm>
            <a:off x="6675120" y="1292961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—</a:t>
            </a:r>
          </a:p>
        </p:txBody>
      </p:sp>
      <p:sp>
        <p:nvSpPr>
          <p:cNvPr id="62" name="mx-kb9"/>
          <p:cNvSpPr/>
          <p:nvPr/>
        </p:nvSpPr>
        <p:spPr>
          <a:xfrm>
            <a:off x="9646920" y="12957048"/>
            <a:ext cx="274320" cy="2743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mx-kb9-t"/>
          <p:cNvSpPr txBox="1"/>
          <p:nvPr/>
        </p:nvSpPr>
        <p:spPr>
          <a:xfrm>
            <a:off x="9601200" y="1292961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64" name="mx-row10"/>
          <p:cNvSpPr/>
          <p:nvPr/>
        </p:nvSpPr>
        <p:spPr>
          <a:xfrm>
            <a:off x="548640" y="13213080"/>
            <a:ext cx="106984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mx-l10"/>
          <p:cNvSpPr txBox="1"/>
          <p:nvPr/>
        </p:nvSpPr>
        <p:spPr>
          <a:xfrm>
            <a:off x="731520" y="1321308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PWA・プッシュ通知・ダークモード</a:t>
            </a:r>
          </a:p>
        </p:txBody>
      </p:sp>
      <p:sp>
        <p:nvSpPr>
          <p:cNvPr id="66" name="mx-ka10"/>
          <p:cNvSpPr/>
          <p:nvPr/>
        </p:nvSpPr>
        <p:spPr>
          <a:xfrm>
            <a:off x="6720840" y="13231368"/>
            <a:ext cx="274320" cy="274320"/>
          </a:xfrm>
          <a:prstGeom prst="ellipse">
            <a:avLst/>
          </a:prstGeom>
          <a:solidFill>
            <a:srgbClr val="C4C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mx-ka10-t"/>
          <p:cNvSpPr txBox="1"/>
          <p:nvPr/>
        </p:nvSpPr>
        <p:spPr>
          <a:xfrm>
            <a:off x="6675120" y="1320393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—</a:t>
            </a:r>
          </a:p>
        </p:txBody>
      </p:sp>
      <p:sp>
        <p:nvSpPr>
          <p:cNvPr id="68" name="mx-kb10"/>
          <p:cNvSpPr/>
          <p:nvPr/>
        </p:nvSpPr>
        <p:spPr>
          <a:xfrm>
            <a:off x="9646920" y="13231368"/>
            <a:ext cx="274320" cy="2743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mx-kb10-t"/>
          <p:cNvSpPr txBox="1"/>
          <p:nvPr/>
        </p:nvSpPr>
        <p:spPr>
          <a:xfrm>
            <a:off x="9601200" y="1320393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0" name="mx-l11"/>
          <p:cNvSpPr txBox="1"/>
          <p:nvPr/>
        </p:nvSpPr>
        <p:spPr>
          <a:xfrm>
            <a:off x="731520" y="1348740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QPay 決済・配送会社との連携</a:t>
            </a:r>
          </a:p>
        </p:txBody>
      </p:sp>
      <p:sp>
        <p:nvSpPr>
          <p:cNvPr id="71" name="mx-ka11"/>
          <p:cNvSpPr/>
          <p:nvPr/>
        </p:nvSpPr>
        <p:spPr>
          <a:xfrm>
            <a:off x="6720840" y="13505688"/>
            <a:ext cx="274320" cy="2743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mx-ka11-t"/>
          <p:cNvSpPr txBox="1"/>
          <p:nvPr/>
        </p:nvSpPr>
        <p:spPr>
          <a:xfrm>
            <a:off x="6675120" y="1347825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3" name="mx-kb11"/>
          <p:cNvSpPr/>
          <p:nvPr/>
        </p:nvSpPr>
        <p:spPr>
          <a:xfrm>
            <a:off x="9646920" y="13505688"/>
            <a:ext cx="274320" cy="2743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mx-kb11-t"/>
          <p:cNvSpPr txBox="1"/>
          <p:nvPr/>
        </p:nvSpPr>
        <p:spPr>
          <a:xfrm>
            <a:off x="9601200" y="1347825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△</a:t>
            </a:r>
          </a:p>
        </p:txBody>
      </p:sp>
      <p:sp>
        <p:nvSpPr>
          <p:cNvPr id="75" name="mx-row12"/>
          <p:cNvSpPr/>
          <p:nvPr/>
        </p:nvSpPr>
        <p:spPr>
          <a:xfrm>
            <a:off x="548640" y="13761720"/>
            <a:ext cx="106984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mx-l12"/>
          <p:cNvSpPr txBox="1"/>
          <p:nvPr/>
        </p:nvSpPr>
        <p:spPr>
          <a:xfrm>
            <a:off x="731520" y="1376172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チャットボット・一斉メッセージ</a:t>
            </a:r>
          </a:p>
        </p:txBody>
      </p:sp>
      <p:sp>
        <p:nvSpPr>
          <p:cNvPr id="77" name="mx-ka12"/>
          <p:cNvSpPr/>
          <p:nvPr/>
        </p:nvSpPr>
        <p:spPr>
          <a:xfrm>
            <a:off x="6720840" y="13780008"/>
            <a:ext cx="274320" cy="2743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mx-ka12-t"/>
          <p:cNvSpPr txBox="1"/>
          <p:nvPr/>
        </p:nvSpPr>
        <p:spPr>
          <a:xfrm>
            <a:off x="6675120" y="1375257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9" name="mx-kb12"/>
          <p:cNvSpPr/>
          <p:nvPr/>
        </p:nvSpPr>
        <p:spPr>
          <a:xfrm>
            <a:off x="9646920" y="13780008"/>
            <a:ext cx="274320" cy="2743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mx-kb12-t"/>
          <p:cNvSpPr txBox="1"/>
          <p:nvPr/>
        </p:nvSpPr>
        <p:spPr>
          <a:xfrm>
            <a:off x="9601200" y="1375257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△</a:t>
            </a:r>
          </a:p>
        </p:txBody>
      </p:sp>
      <p:sp>
        <p:nvSpPr>
          <p:cNvPr id="81" name="mx-l13"/>
          <p:cNvSpPr txBox="1"/>
          <p:nvPr/>
        </p:nvSpPr>
        <p:spPr>
          <a:xfrm>
            <a:off x="731520" y="1403604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自動テスト・専用ステージング環境</a:t>
            </a:r>
          </a:p>
        </p:txBody>
      </p:sp>
      <p:sp>
        <p:nvSpPr>
          <p:cNvPr id="82" name="mx-ka13"/>
          <p:cNvSpPr/>
          <p:nvPr/>
        </p:nvSpPr>
        <p:spPr>
          <a:xfrm>
            <a:off x="6720840" y="14054328"/>
            <a:ext cx="274320" cy="274320"/>
          </a:xfrm>
          <a:prstGeom prst="ellipse">
            <a:avLst/>
          </a:prstGeom>
          <a:solidFill>
            <a:srgbClr val="C4C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mx-ka13-t"/>
          <p:cNvSpPr txBox="1"/>
          <p:nvPr/>
        </p:nvSpPr>
        <p:spPr>
          <a:xfrm>
            <a:off x="6675120" y="1402689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—</a:t>
            </a:r>
          </a:p>
        </p:txBody>
      </p:sp>
      <p:sp>
        <p:nvSpPr>
          <p:cNvPr id="84" name="mx-kb13"/>
          <p:cNvSpPr/>
          <p:nvPr/>
        </p:nvSpPr>
        <p:spPr>
          <a:xfrm>
            <a:off x="9646920" y="14054328"/>
            <a:ext cx="274320" cy="2743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mx-kb13-t"/>
          <p:cNvSpPr txBox="1"/>
          <p:nvPr/>
        </p:nvSpPr>
        <p:spPr>
          <a:xfrm>
            <a:off x="9601200" y="1402689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6" name="mx-note"/>
          <p:cNvSpPr txBox="1"/>
          <p:nvPr/>
        </p:nvSpPr>
        <p:spPr>
          <a:xfrm>
            <a:off x="548640" y="6108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B7076"/>
                </a:solidFill>
                <a:latin typeface="Yu Gothic UI"/>
              </a:rPr>
              <a:t>✓ あり　△ 一部／準備済み　— なし。Zochil の内容は 2026年9月14日に管理画面と公開サイトで確認。QPay・配送の本番接続は新サイトのロードマップ（2026 Q4）。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較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機能比較 — 正直に、項目ごとに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Функцийн харьцуулалт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07 / 16</a:t>
            </a:r>
          </a:p>
        </p:txBody>
      </p:sp>
      <p:sp>
        <p:nvSpPr>
          <p:cNvPr id="11" name="mx-hdr"/>
          <p:cNvSpPr/>
          <p:nvPr/>
        </p:nvSpPr>
        <p:spPr>
          <a:xfrm>
            <a:off x="548640" y="1783080"/>
            <a:ext cx="10698480" cy="384048"/>
          </a:xfrm>
          <a:prstGeom prst="roundRect">
            <a:avLst>
              <a:gd name="adj" fmla="val 15000"/>
            </a:avLst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x-h0"/>
          <p:cNvSpPr txBox="1"/>
          <p:nvPr/>
        </p:nvSpPr>
        <p:spPr>
          <a:xfrm>
            <a:off x="731520" y="1783080"/>
            <a:ext cx="48463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 UI"/>
              </a:rPr>
              <a:t>項目</a:t>
            </a:r>
          </a:p>
        </p:txBody>
      </p:sp>
      <p:sp>
        <p:nvSpPr>
          <p:cNvPr id="13" name="mx-h1"/>
          <p:cNvSpPr txBox="1"/>
          <p:nvPr/>
        </p:nvSpPr>
        <p:spPr>
          <a:xfrm>
            <a:off x="5394960" y="1783080"/>
            <a:ext cx="29260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 UI"/>
              </a:rPr>
              <a:t>現行 asayake.mn（Zochil）</a:t>
            </a:r>
          </a:p>
        </p:txBody>
      </p:sp>
      <p:sp>
        <p:nvSpPr>
          <p:cNvPr id="14" name="mx-h2"/>
          <p:cNvSpPr txBox="1"/>
          <p:nvPr/>
        </p:nvSpPr>
        <p:spPr>
          <a:xfrm>
            <a:off x="8321040" y="1783080"/>
            <a:ext cx="29260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8A82A"/>
                </a:solidFill>
                <a:latin typeface="Yu Gothic UI"/>
              </a:rPr>
              <a:t>新 sugi.karkaron.com（自社開発）</a:t>
            </a:r>
          </a:p>
        </p:txBody>
      </p:sp>
      <p:sp>
        <p:nvSpPr>
          <p:cNvPr id="15" name="mx-row0"/>
          <p:cNvSpPr/>
          <p:nvPr/>
        </p:nvSpPr>
        <p:spPr>
          <a:xfrm>
            <a:off x="548640" y="2240280"/>
            <a:ext cx="106984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x-l0"/>
          <p:cNvSpPr txBox="1"/>
          <p:nvPr/>
        </p:nvSpPr>
        <p:spPr>
          <a:xfrm>
            <a:off x="731520" y="224028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掲載商品数（2026/9/14）</a:t>
            </a:r>
          </a:p>
        </p:txBody>
      </p:sp>
      <p:sp>
        <p:nvSpPr>
          <p:cNvPr id="17" name="mx-a0"/>
          <p:cNvSpPr txBox="1"/>
          <p:nvPr/>
        </p:nvSpPr>
        <p:spPr>
          <a:xfrm>
            <a:off x="5394960" y="2240280"/>
            <a:ext cx="29260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270点</a:t>
            </a:r>
          </a:p>
        </p:txBody>
      </p:sp>
      <p:sp>
        <p:nvSpPr>
          <p:cNvPr id="18" name="mx-b0"/>
          <p:cNvSpPr txBox="1"/>
          <p:nvPr/>
        </p:nvSpPr>
        <p:spPr>
          <a:xfrm>
            <a:off x="8321040" y="2240280"/>
            <a:ext cx="29260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B3122B"/>
                </a:solidFill>
                <a:latin typeface="Yu Gothic UI"/>
              </a:rPr>
              <a:t>980点</a:t>
            </a:r>
          </a:p>
        </p:txBody>
      </p:sp>
      <p:sp>
        <p:nvSpPr>
          <p:cNvPr id="19" name="mx-l1"/>
          <p:cNvSpPr txBox="1"/>
          <p:nvPr/>
        </p:nvSpPr>
        <p:spPr>
          <a:xfrm>
            <a:off x="731520" y="251460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月額費用</a:t>
            </a:r>
          </a:p>
        </p:txBody>
      </p:sp>
      <p:sp>
        <p:nvSpPr>
          <p:cNvPr id="20" name="mx-a1"/>
          <p:cNvSpPr txBox="1"/>
          <p:nvPr/>
        </p:nvSpPr>
        <p:spPr>
          <a:xfrm>
            <a:off x="5394960" y="2514600"/>
            <a:ext cx="29260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220,000₮／月（Pro）</a:t>
            </a:r>
          </a:p>
        </p:txBody>
      </p:sp>
      <p:sp>
        <p:nvSpPr>
          <p:cNvPr id="21" name="mx-b1"/>
          <p:cNvSpPr txBox="1"/>
          <p:nvPr/>
        </p:nvSpPr>
        <p:spPr>
          <a:xfrm>
            <a:off x="8321040" y="2514600"/>
            <a:ext cx="29260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B3122B"/>
                </a:solidFill>
                <a:latin typeface="Yu Gothic UI"/>
              </a:rPr>
              <a:t>0₮（クラウド実費のみ）</a:t>
            </a:r>
          </a:p>
        </p:txBody>
      </p:sp>
      <p:sp>
        <p:nvSpPr>
          <p:cNvPr id="22" name="mx-row2"/>
          <p:cNvSpPr/>
          <p:nvPr/>
        </p:nvSpPr>
        <p:spPr>
          <a:xfrm>
            <a:off x="548640" y="2788920"/>
            <a:ext cx="106984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x-l2"/>
          <p:cNvSpPr txBox="1"/>
          <p:nvPr/>
        </p:nvSpPr>
        <p:spPr>
          <a:xfrm>
            <a:off x="731520" y="278892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ソースコードの所有・自由な機能追加</a:t>
            </a:r>
          </a:p>
        </p:txBody>
      </p:sp>
      <p:sp>
        <p:nvSpPr>
          <p:cNvPr id="24" name="mx-ka2"/>
          <p:cNvSpPr/>
          <p:nvPr/>
        </p:nvSpPr>
        <p:spPr>
          <a:xfrm>
            <a:off x="6720840" y="2807208"/>
            <a:ext cx="274320" cy="274320"/>
          </a:xfrm>
          <a:prstGeom prst="ellipse">
            <a:avLst/>
          </a:prstGeom>
          <a:solidFill>
            <a:srgbClr val="C4C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x-ka2-t"/>
          <p:cNvSpPr txBox="1"/>
          <p:nvPr/>
        </p:nvSpPr>
        <p:spPr>
          <a:xfrm>
            <a:off x="6675120" y="277977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—</a:t>
            </a:r>
          </a:p>
        </p:txBody>
      </p:sp>
      <p:sp>
        <p:nvSpPr>
          <p:cNvPr id="26" name="mx-kb2"/>
          <p:cNvSpPr/>
          <p:nvPr/>
        </p:nvSpPr>
        <p:spPr>
          <a:xfrm>
            <a:off x="9646920" y="2807208"/>
            <a:ext cx="274320" cy="2743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x-kb2-t"/>
          <p:cNvSpPr txBox="1"/>
          <p:nvPr/>
        </p:nvSpPr>
        <p:spPr>
          <a:xfrm>
            <a:off x="9601200" y="277977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8" name="mx-l3"/>
          <p:cNvSpPr txBox="1"/>
          <p:nvPr/>
        </p:nvSpPr>
        <p:spPr>
          <a:xfrm>
            <a:off x="731520" y="306324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顧客・注文データの保管場所</a:t>
            </a:r>
          </a:p>
        </p:txBody>
      </p:sp>
      <p:sp>
        <p:nvSpPr>
          <p:cNvPr id="29" name="mx-a3"/>
          <p:cNvSpPr txBox="1"/>
          <p:nvPr/>
        </p:nvSpPr>
        <p:spPr>
          <a:xfrm>
            <a:off x="5394960" y="3063240"/>
            <a:ext cx="29260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ベンダー側サーバー</a:t>
            </a:r>
          </a:p>
        </p:txBody>
      </p:sp>
      <p:sp>
        <p:nvSpPr>
          <p:cNvPr id="30" name="mx-b3"/>
          <p:cNvSpPr txBox="1"/>
          <p:nvPr/>
        </p:nvSpPr>
        <p:spPr>
          <a:xfrm>
            <a:off x="8321040" y="3063240"/>
            <a:ext cx="29260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B3122B"/>
                </a:solidFill>
                <a:latin typeface="Yu Gothic UI"/>
              </a:rPr>
              <a:t>自社DB（東京・暗号化バックアップ）</a:t>
            </a:r>
          </a:p>
        </p:txBody>
      </p:sp>
      <p:sp>
        <p:nvSpPr>
          <p:cNvPr id="31" name="mx-row4"/>
          <p:cNvSpPr/>
          <p:nvPr/>
        </p:nvSpPr>
        <p:spPr>
          <a:xfrm>
            <a:off x="548640" y="3337560"/>
            <a:ext cx="106984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x-l4"/>
          <p:cNvSpPr txBox="1"/>
          <p:nvPr/>
        </p:nvSpPr>
        <p:spPr>
          <a:xfrm>
            <a:off x="731520" y="333756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多言語（日本語・英語・モンゴル語）</a:t>
            </a:r>
          </a:p>
        </p:txBody>
      </p:sp>
      <p:sp>
        <p:nvSpPr>
          <p:cNvPr id="33" name="mx-ka4"/>
          <p:cNvSpPr/>
          <p:nvPr/>
        </p:nvSpPr>
        <p:spPr>
          <a:xfrm>
            <a:off x="6720840" y="3355848"/>
            <a:ext cx="274320" cy="2743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x-ka4-t"/>
          <p:cNvSpPr txBox="1"/>
          <p:nvPr/>
        </p:nvSpPr>
        <p:spPr>
          <a:xfrm>
            <a:off x="6675120" y="332841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△</a:t>
            </a:r>
          </a:p>
        </p:txBody>
      </p:sp>
      <p:sp>
        <p:nvSpPr>
          <p:cNvPr id="35" name="mx-kb4"/>
          <p:cNvSpPr/>
          <p:nvPr/>
        </p:nvSpPr>
        <p:spPr>
          <a:xfrm>
            <a:off x="9646920" y="3355848"/>
            <a:ext cx="274320" cy="2743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x-kb4-t"/>
          <p:cNvSpPr txBox="1"/>
          <p:nvPr/>
        </p:nvSpPr>
        <p:spPr>
          <a:xfrm>
            <a:off x="9601200" y="332841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7" name="mx-l5"/>
          <p:cNvSpPr txBox="1"/>
          <p:nvPr/>
        </p:nvSpPr>
        <p:spPr>
          <a:xfrm>
            <a:off x="731520" y="361188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JANコード検索・構造化データ（SEO）</a:t>
            </a:r>
          </a:p>
        </p:txBody>
      </p:sp>
      <p:sp>
        <p:nvSpPr>
          <p:cNvPr id="38" name="mx-ka5"/>
          <p:cNvSpPr/>
          <p:nvPr/>
        </p:nvSpPr>
        <p:spPr>
          <a:xfrm>
            <a:off x="6720840" y="3630168"/>
            <a:ext cx="274320" cy="274320"/>
          </a:xfrm>
          <a:prstGeom prst="ellipse">
            <a:avLst/>
          </a:prstGeom>
          <a:solidFill>
            <a:srgbClr val="C4C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mx-ka5-t"/>
          <p:cNvSpPr txBox="1"/>
          <p:nvPr/>
        </p:nvSpPr>
        <p:spPr>
          <a:xfrm>
            <a:off x="6675120" y="360273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—</a:t>
            </a:r>
          </a:p>
        </p:txBody>
      </p:sp>
      <p:sp>
        <p:nvSpPr>
          <p:cNvPr id="40" name="mx-kb5"/>
          <p:cNvSpPr/>
          <p:nvPr/>
        </p:nvSpPr>
        <p:spPr>
          <a:xfrm>
            <a:off x="9646920" y="3630168"/>
            <a:ext cx="274320" cy="2743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mx-kb5-t"/>
          <p:cNvSpPr txBox="1"/>
          <p:nvPr/>
        </p:nvSpPr>
        <p:spPr>
          <a:xfrm>
            <a:off x="9601200" y="360273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2" name="mx-row6"/>
          <p:cNvSpPr/>
          <p:nvPr/>
        </p:nvSpPr>
        <p:spPr>
          <a:xfrm>
            <a:off x="548640" y="3886200"/>
            <a:ext cx="106984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mx-l6"/>
          <p:cNvSpPr txBox="1"/>
          <p:nvPr/>
        </p:nvSpPr>
        <p:spPr>
          <a:xfrm>
            <a:off x="731520" y="388620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内容量・成分・原産国を項目として管理</a:t>
            </a:r>
          </a:p>
        </p:txBody>
      </p:sp>
      <p:sp>
        <p:nvSpPr>
          <p:cNvPr id="44" name="mx-ka6"/>
          <p:cNvSpPr/>
          <p:nvPr/>
        </p:nvSpPr>
        <p:spPr>
          <a:xfrm>
            <a:off x="6720840" y="3904488"/>
            <a:ext cx="274320" cy="2743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mx-ka6-t"/>
          <p:cNvSpPr txBox="1"/>
          <p:nvPr/>
        </p:nvSpPr>
        <p:spPr>
          <a:xfrm>
            <a:off x="6675120" y="387705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△</a:t>
            </a:r>
          </a:p>
        </p:txBody>
      </p:sp>
      <p:sp>
        <p:nvSpPr>
          <p:cNvPr id="46" name="mx-kb6"/>
          <p:cNvSpPr/>
          <p:nvPr/>
        </p:nvSpPr>
        <p:spPr>
          <a:xfrm>
            <a:off x="9646920" y="3904488"/>
            <a:ext cx="274320" cy="2743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mx-kb6-t"/>
          <p:cNvSpPr txBox="1"/>
          <p:nvPr/>
        </p:nvSpPr>
        <p:spPr>
          <a:xfrm>
            <a:off x="9601200" y="387705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8" name="mx-l7"/>
          <p:cNvSpPr txBox="1"/>
          <p:nvPr/>
        </p:nvSpPr>
        <p:spPr>
          <a:xfrm>
            <a:off x="731520" y="416052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レビュー返信・Q&amp;A・投稿特典</a:t>
            </a:r>
          </a:p>
        </p:txBody>
      </p:sp>
      <p:sp>
        <p:nvSpPr>
          <p:cNvPr id="49" name="mx-ka7"/>
          <p:cNvSpPr/>
          <p:nvPr/>
        </p:nvSpPr>
        <p:spPr>
          <a:xfrm>
            <a:off x="6720840" y="4178808"/>
            <a:ext cx="274320" cy="2743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mx-ka7-t"/>
          <p:cNvSpPr txBox="1"/>
          <p:nvPr/>
        </p:nvSpPr>
        <p:spPr>
          <a:xfrm>
            <a:off x="6675120" y="415137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△</a:t>
            </a:r>
          </a:p>
        </p:txBody>
      </p:sp>
      <p:sp>
        <p:nvSpPr>
          <p:cNvPr id="51" name="mx-kb7"/>
          <p:cNvSpPr/>
          <p:nvPr/>
        </p:nvSpPr>
        <p:spPr>
          <a:xfrm>
            <a:off x="9646920" y="4178808"/>
            <a:ext cx="274320" cy="2743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mx-kb7-t"/>
          <p:cNvSpPr txBox="1"/>
          <p:nvPr/>
        </p:nvSpPr>
        <p:spPr>
          <a:xfrm>
            <a:off x="9601200" y="415137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3" name="mx-row8"/>
          <p:cNvSpPr/>
          <p:nvPr/>
        </p:nvSpPr>
        <p:spPr>
          <a:xfrm>
            <a:off x="548640" y="4434840"/>
            <a:ext cx="106984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mx-l8"/>
          <p:cNvSpPr txBox="1"/>
          <p:nvPr/>
        </p:nvSpPr>
        <p:spPr>
          <a:xfrm>
            <a:off x="731520" y="443484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在庫台帳・スキャナ入荷・店舗間移動・棚卸</a:t>
            </a:r>
          </a:p>
        </p:txBody>
      </p:sp>
      <p:sp>
        <p:nvSpPr>
          <p:cNvPr id="55" name="mx-ka8"/>
          <p:cNvSpPr/>
          <p:nvPr/>
        </p:nvSpPr>
        <p:spPr>
          <a:xfrm>
            <a:off x="6720840" y="4453128"/>
            <a:ext cx="274320" cy="2743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mx-ka8-t"/>
          <p:cNvSpPr txBox="1"/>
          <p:nvPr/>
        </p:nvSpPr>
        <p:spPr>
          <a:xfrm>
            <a:off x="6675120" y="442569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△</a:t>
            </a:r>
          </a:p>
        </p:txBody>
      </p:sp>
      <p:sp>
        <p:nvSpPr>
          <p:cNvPr id="57" name="mx-kb8"/>
          <p:cNvSpPr/>
          <p:nvPr/>
        </p:nvSpPr>
        <p:spPr>
          <a:xfrm>
            <a:off x="9646920" y="4453128"/>
            <a:ext cx="274320" cy="2743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mx-kb8-t"/>
          <p:cNvSpPr txBox="1"/>
          <p:nvPr/>
        </p:nvSpPr>
        <p:spPr>
          <a:xfrm>
            <a:off x="9601200" y="442569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9" name="mx-l9"/>
          <p:cNvSpPr txBox="1"/>
          <p:nvPr/>
        </p:nvSpPr>
        <p:spPr>
          <a:xfrm>
            <a:off x="731520" y="470916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管理画面の顔認証・自動ロック</a:t>
            </a:r>
          </a:p>
        </p:txBody>
      </p:sp>
      <p:sp>
        <p:nvSpPr>
          <p:cNvPr id="60" name="mx-ka9"/>
          <p:cNvSpPr/>
          <p:nvPr/>
        </p:nvSpPr>
        <p:spPr>
          <a:xfrm>
            <a:off x="6720840" y="4727448"/>
            <a:ext cx="274320" cy="274320"/>
          </a:xfrm>
          <a:prstGeom prst="ellipse">
            <a:avLst/>
          </a:prstGeom>
          <a:solidFill>
            <a:srgbClr val="C4C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mx-ka9-t"/>
          <p:cNvSpPr txBox="1"/>
          <p:nvPr/>
        </p:nvSpPr>
        <p:spPr>
          <a:xfrm>
            <a:off x="6675120" y="470001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—</a:t>
            </a:r>
          </a:p>
        </p:txBody>
      </p:sp>
      <p:sp>
        <p:nvSpPr>
          <p:cNvPr id="62" name="mx-kb9"/>
          <p:cNvSpPr/>
          <p:nvPr/>
        </p:nvSpPr>
        <p:spPr>
          <a:xfrm>
            <a:off x="9646920" y="4727448"/>
            <a:ext cx="274320" cy="2743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mx-kb9-t"/>
          <p:cNvSpPr txBox="1"/>
          <p:nvPr/>
        </p:nvSpPr>
        <p:spPr>
          <a:xfrm>
            <a:off x="9601200" y="470001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64" name="mx-row10"/>
          <p:cNvSpPr/>
          <p:nvPr/>
        </p:nvSpPr>
        <p:spPr>
          <a:xfrm>
            <a:off x="548640" y="4983480"/>
            <a:ext cx="106984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mx-l10"/>
          <p:cNvSpPr txBox="1"/>
          <p:nvPr/>
        </p:nvSpPr>
        <p:spPr>
          <a:xfrm>
            <a:off x="731520" y="498348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PWA・プッシュ通知・ダークモード</a:t>
            </a:r>
          </a:p>
        </p:txBody>
      </p:sp>
      <p:sp>
        <p:nvSpPr>
          <p:cNvPr id="66" name="mx-ka10"/>
          <p:cNvSpPr/>
          <p:nvPr/>
        </p:nvSpPr>
        <p:spPr>
          <a:xfrm>
            <a:off x="6720840" y="5001768"/>
            <a:ext cx="274320" cy="274320"/>
          </a:xfrm>
          <a:prstGeom prst="ellipse">
            <a:avLst/>
          </a:prstGeom>
          <a:solidFill>
            <a:srgbClr val="C4C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mx-ka10-t"/>
          <p:cNvSpPr txBox="1"/>
          <p:nvPr/>
        </p:nvSpPr>
        <p:spPr>
          <a:xfrm>
            <a:off x="6675120" y="497433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—</a:t>
            </a:r>
          </a:p>
        </p:txBody>
      </p:sp>
      <p:sp>
        <p:nvSpPr>
          <p:cNvPr id="68" name="mx-kb10"/>
          <p:cNvSpPr/>
          <p:nvPr/>
        </p:nvSpPr>
        <p:spPr>
          <a:xfrm>
            <a:off x="9646920" y="5001768"/>
            <a:ext cx="274320" cy="2743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mx-kb10-t"/>
          <p:cNvSpPr txBox="1"/>
          <p:nvPr/>
        </p:nvSpPr>
        <p:spPr>
          <a:xfrm>
            <a:off x="9601200" y="497433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0" name="mx-l11"/>
          <p:cNvSpPr txBox="1"/>
          <p:nvPr/>
        </p:nvSpPr>
        <p:spPr>
          <a:xfrm>
            <a:off x="731520" y="525780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QPay 決済・配送会社との連携</a:t>
            </a:r>
          </a:p>
        </p:txBody>
      </p:sp>
      <p:sp>
        <p:nvSpPr>
          <p:cNvPr id="71" name="mx-ka11"/>
          <p:cNvSpPr/>
          <p:nvPr/>
        </p:nvSpPr>
        <p:spPr>
          <a:xfrm>
            <a:off x="6720840" y="5276088"/>
            <a:ext cx="274320" cy="2743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mx-ka11-t"/>
          <p:cNvSpPr txBox="1"/>
          <p:nvPr/>
        </p:nvSpPr>
        <p:spPr>
          <a:xfrm>
            <a:off x="6675120" y="524865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3" name="mx-kb11"/>
          <p:cNvSpPr/>
          <p:nvPr/>
        </p:nvSpPr>
        <p:spPr>
          <a:xfrm>
            <a:off x="9646920" y="5276088"/>
            <a:ext cx="274320" cy="2743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mx-kb11-t"/>
          <p:cNvSpPr txBox="1"/>
          <p:nvPr/>
        </p:nvSpPr>
        <p:spPr>
          <a:xfrm>
            <a:off x="9601200" y="524865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△</a:t>
            </a:r>
          </a:p>
        </p:txBody>
      </p:sp>
      <p:sp>
        <p:nvSpPr>
          <p:cNvPr id="75" name="mx-row12"/>
          <p:cNvSpPr/>
          <p:nvPr/>
        </p:nvSpPr>
        <p:spPr>
          <a:xfrm>
            <a:off x="548640" y="5532120"/>
            <a:ext cx="106984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mx-l12"/>
          <p:cNvSpPr txBox="1"/>
          <p:nvPr/>
        </p:nvSpPr>
        <p:spPr>
          <a:xfrm>
            <a:off x="731520" y="553212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チャットボット・一斉メッセージ</a:t>
            </a:r>
          </a:p>
        </p:txBody>
      </p:sp>
      <p:sp>
        <p:nvSpPr>
          <p:cNvPr id="77" name="mx-ka12"/>
          <p:cNvSpPr/>
          <p:nvPr/>
        </p:nvSpPr>
        <p:spPr>
          <a:xfrm>
            <a:off x="6720840" y="5550408"/>
            <a:ext cx="274320" cy="2743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mx-ka12-t"/>
          <p:cNvSpPr txBox="1"/>
          <p:nvPr/>
        </p:nvSpPr>
        <p:spPr>
          <a:xfrm>
            <a:off x="6675120" y="552297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9" name="mx-kb12"/>
          <p:cNvSpPr/>
          <p:nvPr/>
        </p:nvSpPr>
        <p:spPr>
          <a:xfrm>
            <a:off x="9646920" y="5550408"/>
            <a:ext cx="274320" cy="2743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mx-kb12-t"/>
          <p:cNvSpPr txBox="1"/>
          <p:nvPr/>
        </p:nvSpPr>
        <p:spPr>
          <a:xfrm>
            <a:off x="9601200" y="552297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△</a:t>
            </a:r>
          </a:p>
        </p:txBody>
      </p:sp>
      <p:sp>
        <p:nvSpPr>
          <p:cNvPr id="81" name="mx-l13"/>
          <p:cNvSpPr txBox="1"/>
          <p:nvPr/>
        </p:nvSpPr>
        <p:spPr>
          <a:xfrm>
            <a:off x="731520" y="5806440"/>
            <a:ext cx="4846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4161A"/>
                </a:solidFill>
                <a:latin typeface="Yu Gothic UI"/>
              </a:rPr>
              <a:t>自動テスト・専用ステージング環境</a:t>
            </a:r>
          </a:p>
        </p:txBody>
      </p:sp>
      <p:sp>
        <p:nvSpPr>
          <p:cNvPr id="82" name="mx-ka13"/>
          <p:cNvSpPr/>
          <p:nvPr/>
        </p:nvSpPr>
        <p:spPr>
          <a:xfrm>
            <a:off x="6720840" y="5824728"/>
            <a:ext cx="274320" cy="274320"/>
          </a:xfrm>
          <a:prstGeom prst="ellipse">
            <a:avLst/>
          </a:prstGeom>
          <a:solidFill>
            <a:srgbClr val="C4C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mx-ka13-t"/>
          <p:cNvSpPr txBox="1"/>
          <p:nvPr/>
        </p:nvSpPr>
        <p:spPr>
          <a:xfrm>
            <a:off x="6675120" y="579729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—</a:t>
            </a:r>
          </a:p>
        </p:txBody>
      </p:sp>
      <p:sp>
        <p:nvSpPr>
          <p:cNvPr id="84" name="mx-kb13"/>
          <p:cNvSpPr/>
          <p:nvPr/>
        </p:nvSpPr>
        <p:spPr>
          <a:xfrm>
            <a:off x="9646920" y="5824728"/>
            <a:ext cx="274320" cy="2743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mx-kb13-t"/>
          <p:cNvSpPr txBox="1"/>
          <p:nvPr/>
        </p:nvSpPr>
        <p:spPr>
          <a:xfrm>
            <a:off x="9601200" y="5797296"/>
            <a:ext cx="3657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6" name="mx-note"/>
          <p:cNvSpPr txBox="1"/>
          <p:nvPr/>
        </p:nvSpPr>
        <p:spPr>
          <a:xfrm>
            <a:off x="548640" y="6108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B7076"/>
                </a:solidFill>
                <a:latin typeface="Yu Gothic UI"/>
              </a:rPr>
              <a:t>✓ あり　△ 一部／準備済み　— なし。Zochil の内容は 2026年9月14日に管理画面と公開サイトで確認。QPay・配送の本番接続は新サイトのロードマップ（2026 Q4）。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創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自社開発だからできること — 実装済みと、これから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Өөрийн код учраас боломжтой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08 / 16</a:t>
            </a:r>
          </a:p>
        </p:txBody>
      </p:sp>
      <p:sp>
        <p:nvSpPr>
          <p:cNvPr id="11" name="intro"/>
          <p:cNvSpPr txBox="1"/>
          <p:nvPr/>
        </p:nvSpPr>
        <p:spPr>
          <a:xfrm>
            <a:off x="777240" y="137160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076"/>
                </a:solidFill>
                <a:latin typeface="Yu Gothic UI"/>
              </a:rPr>
              <a:t>SaaS では「用意された機能」しか使えない。自社開発なら、事業の変化に合わせて機能を追加できる。</a:t>
            </a:r>
          </a:p>
        </p:txBody>
      </p:sp>
      <p:sp>
        <p:nvSpPr>
          <p:cNvPr id="12" name="col0-t"/>
          <p:cNvSpPr txBox="1"/>
          <p:nvPr/>
        </p:nvSpPr>
        <p:spPr>
          <a:xfrm>
            <a:off x="548640" y="10058400"/>
            <a:ext cx="5394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F6B4F"/>
                </a:solidFill>
                <a:latin typeface="Yu Gothic UI"/>
              </a:rPr>
              <a:t>すでに実装済み（Zochil にはない）</a:t>
            </a:r>
          </a:p>
        </p:txBody>
      </p:sp>
      <p:sp>
        <p:nvSpPr>
          <p:cNvPr id="13" name="col0-rule"/>
          <p:cNvSpPr/>
          <p:nvPr/>
        </p:nvSpPr>
        <p:spPr>
          <a:xfrm>
            <a:off x="548640" y="10442448"/>
            <a:ext cx="731520" cy="36576"/>
          </a:xfrm>
          <a:prstGeom prst="rect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00"/>
          <p:cNvSpPr/>
          <p:nvPr/>
        </p:nvSpPr>
        <p:spPr>
          <a:xfrm>
            <a:off x="548640" y="1060704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00-bg"/>
          <p:cNvSpPr/>
          <p:nvPr/>
        </p:nvSpPr>
        <p:spPr>
          <a:xfrm>
            <a:off x="640080" y="10698480"/>
            <a:ext cx="365760" cy="36576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c00-ic" descr="langu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" y="10778947"/>
            <a:ext cx="204826" cy="204826"/>
          </a:xfrm>
          <a:prstGeom prst="rect">
            <a:avLst/>
          </a:prstGeom>
        </p:spPr>
      </p:pic>
      <p:sp>
        <p:nvSpPr>
          <p:cNvPr id="17" name="c00-t"/>
          <p:cNvSpPr txBox="1"/>
          <p:nvPr/>
        </p:nvSpPr>
        <p:spPr>
          <a:xfrm>
            <a:off x="1115568" y="1060704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3言語の自前翻訳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機械翻訳ではなく、UI全体を日・英・蒙で</a:t>
            </a:r>
          </a:p>
        </p:txBody>
      </p:sp>
      <p:sp>
        <p:nvSpPr>
          <p:cNvPr id="18" name="c01"/>
          <p:cNvSpPr/>
          <p:nvPr/>
        </p:nvSpPr>
        <p:spPr>
          <a:xfrm>
            <a:off x="548640" y="1124712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01-bg"/>
          <p:cNvSpPr/>
          <p:nvPr/>
        </p:nvSpPr>
        <p:spPr>
          <a:xfrm>
            <a:off x="640080" y="11338560"/>
            <a:ext cx="365760" cy="36576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c01-ic" descr="sc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" y="11419027"/>
            <a:ext cx="204826" cy="204826"/>
          </a:xfrm>
          <a:prstGeom prst="rect">
            <a:avLst/>
          </a:prstGeom>
        </p:spPr>
      </p:pic>
      <p:sp>
        <p:nvSpPr>
          <p:cNvPr id="21" name="c01-t"/>
          <p:cNvSpPr txBox="1"/>
          <p:nvPr/>
        </p:nvSpPr>
        <p:spPr>
          <a:xfrm>
            <a:off x="1115568" y="1124712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バーコード基点の在庫台帳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入荷・移動・棚卸をスキャナで、変動をすべて記録</a:t>
            </a:r>
          </a:p>
        </p:txBody>
      </p:sp>
      <p:sp>
        <p:nvSpPr>
          <p:cNvPr id="22" name="c02"/>
          <p:cNvSpPr/>
          <p:nvPr/>
        </p:nvSpPr>
        <p:spPr>
          <a:xfrm>
            <a:off x="548640" y="1188720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02-bg"/>
          <p:cNvSpPr/>
          <p:nvPr/>
        </p:nvSpPr>
        <p:spPr>
          <a:xfrm>
            <a:off x="640080" y="11978640"/>
            <a:ext cx="365760" cy="36576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c02-ic" descr="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" y="12059107"/>
            <a:ext cx="204826" cy="204826"/>
          </a:xfrm>
          <a:prstGeom prst="rect">
            <a:avLst/>
          </a:prstGeom>
        </p:spPr>
      </p:pic>
      <p:sp>
        <p:nvSpPr>
          <p:cNvPr id="25" name="c02-t"/>
          <p:cNvSpPr txBox="1"/>
          <p:nvPr/>
        </p:nvSpPr>
        <p:spPr>
          <a:xfrm>
            <a:off x="1115568" y="1188720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写真上の成分・内容量・原産国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項目として管理、写真の上にカード表示</a:t>
            </a:r>
          </a:p>
        </p:txBody>
      </p:sp>
      <p:sp>
        <p:nvSpPr>
          <p:cNvPr id="26" name="c03"/>
          <p:cNvSpPr/>
          <p:nvPr/>
        </p:nvSpPr>
        <p:spPr>
          <a:xfrm>
            <a:off x="548640" y="1252728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03-bg"/>
          <p:cNvSpPr/>
          <p:nvPr/>
        </p:nvSpPr>
        <p:spPr>
          <a:xfrm>
            <a:off x="640080" y="12618720"/>
            <a:ext cx="365760" cy="36576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c03-ic" descr="k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547" y="12699187"/>
            <a:ext cx="204826" cy="204826"/>
          </a:xfrm>
          <a:prstGeom prst="rect">
            <a:avLst/>
          </a:prstGeom>
        </p:spPr>
      </p:pic>
      <p:sp>
        <p:nvSpPr>
          <p:cNvPr id="29" name="c03-t"/>
          <p:cNvSpPr txBox="1"/>
          <p:nvPr/>
        </p:nvSpPr>
        <p:spPr>
          <a:xfrm>
            <a:off x="1115568" y="1252728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顔認証つき管理画面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OTP＋顔認証、25分で自動ロック</a:t>
            </a:r>
          </a:p>
        </p:txBody>
      </p:sp>
      <p:sp>
        <p:nvSpPr>
          <p:cNvPr id="30" name="c04"/>
          <p:cNvSpPr/>
          <p:nvPr/>
        </p:nvSpPr>
        <p:spPr>
          <a:xfrm>
            <a:off x="548640" y="1316736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04-bg"/>
          <p:cNvSpPr/>
          <p:nvPr/>
        </p:nvSpPr>
        <p:spPr>
          <a:xfrm>
            <a:off x="640080" y="13258800"/>
            <a:ext cx="365760" cy="36576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c04-ic" descr="gif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547" y="13339267"/>
            <a:ext cx="204826" cy="204826"/>
          </a:xfrm>
          <a:prstGeom prst="rect">
            <a:avLst/>
          </a:prstGeom>
        </p:spPr>
      </p:pic>
      <p:sp>
        <p:nvSpPr>
          <p:cNvPr id="33" name="c04-t"/>
          <p:cNvSpPr txBox="1"/>
          <p:nvPr/>
        </p:nvSpPr>
        <p:spPr>
          <a:xfrm>
            <a:off x="1115568" y="1316736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ギフトカードの即時発行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決済完了で自動発行、残高は会員に紐づく</a:t>
            </a:r>
          </a:p>
        </p:txBody>
      </p:sp>
      <p:sp>
        <p:nvSpPr>
          <p:cNvPr id="34" name="c05"/>
          <p:cNvSpPr/>
          <p:nvPr/>
        </p:nvSpPr>
        <p:spPr>
          <a:xfrm>
            <a:off x="548640" y="1380744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05-bg"/>
          <p:cNvSpPr/>
          <p:nvPr/>
        </p:nvSpPr>
        <p:spPr>
          <a:xfrm>
            <a:off x="640080" y="13898880"/>
            <a:ext cx="365760" cy="36576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c05-ic" descr="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547" y="13979347"/>
            <a:ext cx="204826" cy="204826"/>
          </a:xfrm>
          <a:prstGeom prst="rect">
            <a:avLst/>
          </a:prstGeom>
        </p:spPr>
      </p:pic>
      <p:sp>
        <p:nvSpPr>
          <p:cNvPr id="37" name="c05-t"/>
          <p:cNvSpPr txBox="1"/>
          <p:nvPr/>
        </p:nvSpPr>
        <p:spPr>
          <a:xfrm>
            <a:off x="1115568" y="1380744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転換率・CAC・返品率の分析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自社データで自由に集計・エクスポート</a:t>
            </a:r>
          </a:p>
        </p:txBody>
      </p:sp>
      <p:sp>
        <p:nvSpPr>
          <p:cNvPr id="38" name="col1-t"/>
          <p:cNvSpPr txBox="1"/>
          <p:nvPr/>
        </p:nvSpPr>
        <p:spPr>
          <a:xfrm>
            <a:off x="6263640" y="10058400"/>
            <a:ext cx="5394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3122B"/>
                </a:solidFill>
                <a:latin typeface="Yu Gothic UI"/>
              </a:rPr>
              <a:t>これから追加できる（自社開発だから可能）</a:t>
            </a:r>
          </a:p>
        </p:txBody>
      </p:sp>
      <p:sp>
        <p:nvSpPr>
          <p:cNvPr id="39" name="col1-rule"/>
          <p:cNvSpPr/>
          <p:nvPr/>
        </p:nvSpPr>
        <p:spPr>
          <a:xfrm>
            <a:off x="6263640" y="10442448"/>
            <a:ext cx="731520" cy="36576"/>
          </a:xfrm>
          <a:prstGeom prst="rect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10"/>
          <p:cNvSpPr/>
          <p:nvPr/>
        </p:nvSpPr>
        <p:spPr>
          <a:xfrm>
            <a:off x="6263640" y="1060704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10-bg"/>
          <p:cNvSpPr/>
          <p:nvPr/>
        </p:nvSpPr>
        <p:spPr>
          <a:xfrm>
            <a:off x="6355080" y="10698480"/>
            <a:ext cx="365760" cy="36576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c10-ic" descr="serv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5547" y="10778947"/>
            <a:ext cx="204826" cy="204826"/>
          </a:xfrm>
          <a:prstGeom prst="rect">
            <a:avLst/>
          </a:prstGeom>
        </p:spPr>
      </p:pic>
      <p:sp>
        <p:nvSpPr>
          <p:cNvPr id="43" name="c10-t"/>
          <p:cNvSpPr txBox="1"/>
          <p:nvPr/>
        </p:nvSpPr>
        <p:spPr>
          <a:xfrm>
            <a:off x="6830568" y="1060704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日本本社の商品マスターとAPI連携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成分・内容量・使用期限を自動同期</a:t>
            </a:r>
          </a:p>
        </p:txBody>
      </p:sp>
      <p:sp>
        <p:nvSpPr>
          <p:cNvPr id="44" name="c11"/>
          <p:cNvSpPr/>
          <p:nvPr/>
        </p:nvSpPr>
        <p:spPr>
          <a:xfrm>
            <a:off x="6263640" y="1124712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11-bg"/>
          <p:cNvSpPr/>
          <p:nvPr/>
        </p:nvSpPr>
        <p:spPr>
          <a:xfrm>
            <a:off x="6355080" y="11338560"/>
            <a:ext cx="365760" cy="36576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c11-ic" descr="car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5547" y="11419027"/>
            <a:ext cx="204826" cy="204826"/>
          </a:xfrm>
          <a:prstGeom prst="rect">
            <a:avLst/>
          </a:prstGeom>
        </p:spPr>
      </p:pic>
      <p:sp>
        <p:nvSpPr>
          <p:cNvPr id="47" name="c11-t"/>
          <p:cNvSpPr txBox="1"/>
          <p:nvPr/>
        </p:nvSpPr>
        <p:spPr>
          <a:xfrm>
            <a:off x="6830568" y="1124712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eBarimt 電子領収書の自動発行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POS連携（Smart Logic）経由で発行</a:t>
            </a:r>
          </a:p>
        </p:txBody>
      </p:sp>
      <p:sp>
        <p:nvSpPr>
          <p:cNvPr id="48" name="c12"/>
          <p:cNvSpPr/>
          <p:nvPr/>
        </p:nvSpPr>
        <p:spPr>
          <a:xfrm>
            <a:off x="6263640" y="1188720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12-bg"/>
          <p:cNvSpPr/>
          <p:nvPr/>
        </p:nvSpPr>
        <p:spPr>
          <a:xfrm>
            <a:off x="6355080" y="11978640"/>
            <a:ext cx="365760" cy="36576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c12-ic" descr="bel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5547" y="12059107"/>
            <a:ext cx="204826" cy="204826"/>
          </a:xfrm>
          <a:prstGeom prst="rect">
            <a:avLst/>
          </a:prstGeom>
        </p:spPr>
      </p:pic>
      <p:sp>
        <p:nvSpPr>
          <p:cNvPr id="51" name="c12-t"/>
          <p:cNvSpPr txBox="1"/>
          <p:nvPr/>
        </p:nvSpPr>
        <p:spPr>
          <a:xfrm>
            <a:off x="6830568" y="1188720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定期購入（サブスク）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消耗品を毎月自動で再注文</a:t>
            </a:r>
          </a:p>
        </p:txBody>
      </p:sp>
      <p:sp>
        <p:nvSpPr>
          <p:cNvPr id="52" name="c13"/>
          <p:cNvSpPr/>
          <p:nvPr/>
        </p:nvSpPr>
        <p:spPr>
          <a:xfrm>
            <a:off x="6263640" y="1252728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13-bg"/>
          <p:cNvSpPr/>
          <p:nvPr/>
        </p:nvSpPr>
        <p:spPr>
          <a:xfrm>
            <a:off x="6355080" y="12618720"/>
            <a:ext cx="365760" cy="36576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c13-ic" descr="spark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5547" y="12699187"/>
            <a:ext cx="204826" cy="204826"/>
          </a:xfrm>
          <a:prstGeom prst="rect">
            <a:avLst/>
          </a:prstGeom>
        </p:spPr>
      </p:pic>
      <p:sp>
        <p:nvSpPr>
          <p:cNvPr id="55" name="c13-t"/>
          <p:cNvSpPr txBox="1"/>
          <p:nvPr/>
        </p:nvSpPr>
        <p:spPr>
          <a:xfrm>
            <a:off x="6830568" y="1252728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肌質診断 → 提案の高度化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購買履歴と診断データで個別提案</a:t>
            </a:r>
          </a:p>
        </p:txBody>
      </p:sp>
      <p:sp>
        <p:nvSpPr>
          <p:cNvPr id="56" name="c14"/>
          <p:cNvSpPr/>
          <p:nvPr/>
        </p:nvSpPr>
        <p:spPr>
          <a:xfrm>
            <a:off x="6263640" y="1316736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14-bg"/>
          <p:cNvSpPr/>
          <p:nvPr/>
        </p:nvSpPr>
        <p:spPr>
          <a:xfrm>
            <a:off x="6355080" y="13258800"/>
            <a:ext cx="365760" cy="36576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c14-ic" descr="tru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5547" y="13339267"/>
            <a:ext cx="204826" cy="204826"/>
          </a:xfrm>
          <a:prstGeom prst="rect">
            <a:avLst/>
          </a:prstGeom>
        </p:spPr>
      </p:pic>
      <p:sp>
        <p:nvSpPr>
          <p:cNvPr id="59" name="c14-t"/>
          <p:cNvSpPr txBox="1"/>
          <p:nvPr/>
        </p:nvSpPr>
        <p:spPr>
          <a:xfrm>
            <a:off x="6830568" y="1316736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配送パートナーAPI・当日配送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TuDelivery 等と直接連携</a:t>
            </a:r>
          </a:p>
        </p:txBody>
      </p:sp>
      <p:sp>
        <p:nvSpPr>
          <p:cNvPr id="60" name="c15"/>
          <p:cNvSpPr/>
          <p:nvPr/>
        </p:nvSpPr>
        <p:spPr>
          <a:xfrm>
            <a:off x="6263640" y="1380744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15-bg"/>
          <p:cNvSpPr/>
          <p:nvPr/>
        </p:nvSpPr>
        <p:spPr>
          <a:xfrm>
            <a:off x="6355080" y="13898880"/>
            <a:ext cx="365760" cy="36576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c15-ic" descr="handshak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5547" y="13979347"/>
            <a:ext cx="204826" cy="204826"/>
          </a:xfrm>
          <a:prstGeom prst="rect">
            <a:avLst/>
          </a:prstGeom>
        </p:spPr>
      </p:pic>
      <p:sp>
        <p:nvSpPr>
          <p:cNvPr id="63" name="c15-t"/>
          <p:cNvSpPr txBox="1"/>
          <p:nvPr/>
        </p:nvSpPr>
        <p:spPr>
          <a:xfrm>
            <a:off x="6830568" y="1380744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卸売（B2B）ポータル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地方の小売店向け発注画面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創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自社開発だからできること — 実装済みと、これから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Өөрийн код учраас боломжтой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08 / 16</a:t>
            </a:r>
          </a:p>
        </p:txBody>
      </p:sp>
      <p:sp>
        <p:nvSpPr>
          <p:cNvPr id="11" name="intro"/>
          <p:cNvSpPr txBox="1"/>
          <p:nvPr/>
        </p:nvSpPr>
        <p:spPr>
          <a:xfrm>
            <a:off x="777240" y="137160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076"/>
                </a:solidFill>
                <a:latin typeface="Yu Gothic UI"/>
              </a:rPr>
              <a:t>SaaS では「用意された機能」しか使えない。自社開発なら、事業の変化に合わせて機能を追加できる。</a:t>
            </a:r>
          </a:p>
        </p:txBody>
      </p:sp>
      <p:sp>
        <p:nvSpPr>
          <p:cNvPr id="12" name="col0-t"/>
          <p:cNvSpPr txBox="1"/>
          <p:nvPr/>
        </p:nvSpPr>
        <p:spPr>
          <a:xfrm>
            <a:off x="548640" y="1828800"/>
            <a:ext cx="5394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F6B4F"/>
                </a:solidFill>
                <a:latin typeface="Yu Gothic UI"/>
              </a:rPr>
              <a:t>すでに実装済み（Zochil にはない）</a:t>
            </a:r>
          </a:p>
        </p:txBody>
      </p:sp>
      <p:sp>
        <p:nvSpPr>
          <p:cNvPr id="13" name="col0-rule"/>
          <p:cNvSpPr/>
          <p:nvPr/>
        </p:nvSpPr>
        <p:spPr>
          <a:xfrm>
            <a:off x="548640" y="2212848"/>
            <a:ext cx="731520" cy="36576"/>
          </a:xfrm>
          <a:prstGeom prst="rect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00"/>
          <p:cNvSpPr/>
          <p:nvPr/>
        </p:nvSpPr>
        <p:spPr>
          <a:xfrm>
            <a:off x="548640" y="237744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00-bg"/>
          <p:cNvSpPr/>
          <p:nvPr/>
        </p:nvSpPr>
        <p:spPr>
          <a:xfrm>
            <a:off x="640080" y="2468880"/>
            <a:ext cx="365760" cy="36576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c00-ic" descr="langu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" y="2549347"/>
            <a:ext cx="204826" cy="204826"/>
          </a:xfrm>
          <a:prstGeom prst="rect">
            <a:avLst/>
          </a:prstGeom>
        </p:spPr>
      </p:pic>
      <p:sp>
        <p:nvSpPr>
          <p:cNvPr id="17" name="c00-t"/>
          <p:cNvSpPr txBox="1"/>
          <p:nvPr/>
        </p:nvSpPr>
        <p:spPr>
          <a:xfrm>
            <a:off x="1115568" y="237744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3言語の自前翻訳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機械翻訳ではなく、UI全体を日・英・蒙で</a:t>
            </a:r>
          </a:p>
        </p:txBody>
      </p:sp>
      <p:sp>
        <p:nvSpPr>
          <p:cNvPr id="18" name="c01"/>
          <p:cNvSpPr/>
          <p:nvPr/>
        </p:nvSpPr>
        <p:spPr>
          <a:xfrm>
            <a:off x="548640" y="301752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01-bg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c01-ic" descr="sc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" y="3189427"/>
            <a:ext cx="204826" cy="204826"/>
          </a:xfrm>
          <a:prstGeom prst="rect">
            <a:avLst/>
          </a:prstGeom>
        </p:spPr>
      </p:pic>
      <p:sp>
        <p:nvSpPr>
          <p:cNvPr id="21" name="c01-t"/>
          <p:cNvSpPr txBox="1"/>
          <p:nvPr/>
        </p:nvSpPr>
        <p:spPr>
          <a:xfrm>
            <a:off x="1115568" y="301752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バーコード基点の在庫台帳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入荷・移動・棚卸をスキャナで、変動をすべて記録</a:t>
            </a:r>
          </a:p>
        </p:txBody>
      </p:sp>
      <p:sp>
        <p:nvSpPr>
          <p:cNvPr id="22" name="c02"/>
          <p:cNvSpPr/>
          <p:nvPr/>
        </p:nvSpPr>
        <p:spPr>
          <a:xfrm>
            <a:off x="548640" y="365760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02-bg"/>
          <p:cNvSpPr/>
          <p:nvPr/>
        </p:nvSpPr>
        <p:spPr>
          <a:xfrm>
            <a:off x="640080" y="3749040"/>
            <a:ext cx="365760" cy="36576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c02-ic" descr="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" y="3829507"/>
            <a:ext cx="204826" cy="204826"/>
          </a:xfrm>
          <a:prstGeom prst="rect">
            <a:avLst/>
          </a:prstGeom>
        </p:spPr>
      </p:pic>
      <p:sp>
        <p:nvSpPr>
          <p:cNvPr id="25" name="c02-t"/>
          <p:cNvSpPr txBox="1"/>
          <p:nvPr/>
        </p:nvSpPr>
        <p:spPr>
          <a:xfrm>
            <a:off x="1115568" y="365760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写真上の成分・内容量・原産国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項目として管理、写真の上にカード表示</a:t>
            </a:r>
          </a:p>
        </p:txBody>
      </p:sp>
      <p:sp>
        <p:nvSpPr>
          <p:cNvPr id="26" name="c03"/>
          <p:cNvSpPr/>
          <p:nvPr/>
        </p:nvSpPr>
        <p:spPr>
          <a:xfrm>
            <a:off x="548640" y="429768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03-bg"/>
          <p:cNvSpPr/>
          <p:nvPr/>
        </p:nvSpPr>
        <p:spPr>
          <a:xfrm>
            <a:off x="640080" y="4389120"/>
            <a:ext cx="365760" cy="36576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c03-ic" descr="k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547" y="4469587"/>
            <a:ext cx="204826" cy="204826"/>
          </a:xfrm>
          <a:prstGeom prst="rect">
            <a:avLst/>
          </a:prstGeom>
        </p:spPr>
      </p:pic>
      <p:sp>
        <p:nvSpPr>
          <p:cNvPr id="29" name="c03-t"/>
          <p:cNvSpPr txBox="1"/>
          <p:nvPr/>
        </p:nvSpPr>
        <p:spPr>
          <a:xfrm>
            <a:off x="1115568" y="429768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顔認証つき管理画面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OTP＋顔認証、25分で自動ロック</a:t>
            </a:r>
          </a:p>
        </p:txBody>
      </p:sp>
      <p:sp>
        <p:nvSpPr>
          <p:cNvPr id="30" name="c04"/>
          <p:cNvSpPr/>
          <p:nvPr/>
        </p:nvSpPr>
        <p:spPr>
          <a:xfrm>
            <a:off x="548640" y="493776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04-bg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c04-ic" descr="gif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547" y="5109667"/>
            <a:ext cx="204826" cy="204826"/>
          </a:xfrm>
          <a:prstGeom prst="rect">
            <a:avLst/>
          </a:prstGeom>
        </p:spPr>
      </p:pic>
      <p:sp>
        <p:nvSpPr>
          <p:cNvPr id="33" name="c04-t"/>
          <p:cNvSpPr txBox="1"/>
          <p:nvPr/>
        </p:nvSpPr>
        <p:spPr>
          <a:xfrm>
            <a:off x="1115568" y="493776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ギフトカードの即時発行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決済完了で自動発行、残高は会員に紐づく</a:t>
            </a:r>
          </a:p>
        </p:txBody>
      </p:sp>
      <p:sp>
        <p:nvSpPr>
          <p:cNvPr id="34" name="c05"/>
          <p:cNvSpPr/>
          <p:nvPr/>
        </p:nvSpPr>
        <p:spPr>
          <a:xfrm>
            <a:off x="548640" y="557784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05-bg"/>
          <p:cNvSpPr/>
          <p:nvPr/>
        </p:nvSpPr>
        <p:spPr>
          <a:xfrm>
            <a:off x="640080" y="5669280"/>
            <a:ext cx="365760" cy="36576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c05-ic" descr="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547" y="5749747"/>
            <a:ext cx="204826" cy="204826"/>
          </a:xfrm>
          <a:prstGeom prst="rect">
            <a:avLst/>
          </a:prstGeom>
        </p:spPr>
      </p:pic>
      <p:sp>
        <p:nvSpPr>
          <p:cNvPr id="37" name="c05-t"/>
          <p:cNvSpPr txBox="1"/>
          <p:nvPr/>
        </p:nvSpPr>
        <p:spPr>
          <a:xfrm>
            <a:off x="1115568" y="557784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転換率・CAC・返品率の分析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自社データで自由に集計・エクスポート</a:t>
            </a:r>
          </a:p>
        </p:txBody>
      </p:sp>
      <p:sp>
        <p:nvSpPr>
          <p:cNvPr id="38" name="col1-t"/>
          <p:cNvSpPr txBox="1"/>
          <p:nvPr/>
        </p:nvSpPr>
        <p:spPr>
          <a:xfrm>
            <a:off x="6263640" y="10058400"/>
            <a:ext cx="5394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3122B"/>
                </a:solidFill>
                <a:latin typeface="Yu Gothic UI"/>
              </a:rPr>
              <a:t>これから追加できる（自社開発だから可能）</a:t>
            </a:r>
          </a:p>
        </p:txBody>
      </p:sp>
      <p:sp>
        <p:nvSpPr>
          <p:cNvPr id="39" name="col1-rule"/>
          <p:cNvSpPr/>
          <p:nvPr/>
        </p:nvSpPr>
        <p:spPr>
          <a:xfrm>
            <a:off x="6263640" y="10442448"/>
            <a:ext cx="731520" cy="36576"/>
          </a:xfrm>
          <a:prstGeom prst="rect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10"/>
          <p:cNvSpPr/>
          <p:nvPr/>
        </p:nvSpPr>
        <p:spPr>
          <a:xfrm>
            <a:off x="6263640" y="1060704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10-bg"/>
          <p:cNvSpPr/>
          <p:nvPr/>
        </p:nvSpPr>
        <p:spPr>
          <a:xfrm>
            <a:off x="6355080" y="10698480"/>
            <a:ext cx="365760" cy="36576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c10-ic" descr="serv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5547" y="10778947"/>
            <a:ext cx="204826" cy="204826"/>
          </a:xfrm>
          <a:prstGeom prst="rect">
            <a:avLst/>
          </a:prstGeom>
        </p:spPr>
      </p:pic>
      <p:sp>
        <p:nvSpPr>
          <p:cNvPr id="43" name="c10-t"/>
          <p:cNvSpPr txBox="1"/>
          <p:nvPr/>
        </p:nvSpPr>
        <p:spPr>
          <a:xfrm>
            <a:off x="6830568" y="1060704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日本本社の商品マスターとAPI連携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成分・内容量・使用期限を自動同期</a:t>
            </a:r>
          </a:p>
        </p:txBody>
      </p:sp>
      <p:sp>
        <p:nvSpPr>
          <p:cNvPr id="44" name="c11"/>
          <p:cNvSpPr/>
          <p:nvPr/>
        </p:nvSpPr>
        <p:spPr>
          <a:xfrm>
            <a:off x="6263640" y="1124712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11-bg"/>
          <p:cNvSpPr/>
          <p:nvPr/>
        </p:nvSpPr>
        <p:spPr>
          <a:xfrm>
            <a:off x="6355080" y="11338560"/>
            <a:ext cx="365760" cy="36576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c11-ic" descr="car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5547" y="11419027"/>
            <a:ext cx="204826" cy="204826"/>
          </a:xfrm>
          <a:prstGeom prst="rect">
            <a:avLst/>
          </a:prstGeom>
        </p:spPr>
      </p:pic>
      <p:sp>
        <p:nvSpPr>
          <p:cNvPr id="47" name="c11-t"/>
          <p:cNvSpPr txBox="1"/>
          <p:nvPr/>
        </p:nvSpPr>
        <p:spPr>
          <a:xfrm>
            <a:off x="6830568" y="1124712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eBarimt 電子領収書の自動発行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POS連携（Smart Logic）経由で発行</a:t>
            </a:r>
          </a:p>
        </p:txBody>
      </p:sp>
      <p:sp>
        <p:nvSpPr>
          <p:cNvPr id="48" name="c12"/>
          <p:cNvSpPr/>
          <p:nvPr/>
        </p:nvSpPr>
        <p:spPr>
          <a:xfrm>
            <a:off x="6263640" y="1188720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12-bg"/>
          <p:cNvSpPr/>
          <p:nvPr/>
        </p:nvSpPr>
        <p:spPr>
          <a:xfrm>
            <a:off x="6355080" y="11978640"/>
            <a:ext cx="365760" cy="36576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c12-ic" descr="bel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5547" y="12059107"/>
            <a:ext cx="204826" cy="204826"/>
          </a:xfrm>
          <a:prstGeom prst="rect">
            <a:avLst/>
          </a:prstGeom>
        </p:spPr>
      </p:pic>
      <p:sp>
        <p:nvSpPr>
          <p:cNvPr id="51" name="c12-t"/>
          <p:cNvSpPr txBox="1"/>
          <p:nvPr/>
        </p:nvSpPr>
        <p:spPr>
          <a:xfrm>
            <a:off x="6830568" y="1188720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定期購入（サブスク）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消耗品を毎月自動で再注文</a:t>
            </a:r>
          </a:p>
        </p:txBody>
      </p:sp>
      <p:sp>
        <p:nvSpPr>
          <p:cNvPr id="52" name="c13"/>
          <p:cNvSpPr/>
          <p:nvPr/>
        </p:nvSpPr>
        <p:spPr>
          <a:xfrm>
            <a:off x="6263640" y="1252728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13-bg"/>
          <p:cNvSpPr/>
          <p:nvPr/>
        </p:nvSpPr>
        <p:spPr>
          <a:xfrm>
            <a:off x="6355080" y="12618720"/>
            <a:ext cx="365760" cy="36576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c13-ic" descr="spark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5547" y="12699187"/>
            <a:ext cx="204826" cy="204826"/>
          </a:xfrm>
          <a:prstGeom prst="rect">
            <a:avLst/>
          </a:prstGeom>
        </p:spPr>
      </p:pic>
      <p:sp>
        <p:nvSpPr>
          <p:cNvPr id="55" name="c13-t"/>
          <p:cNvSpPr txBox="1"/>
          <p:nvPr/>
        </p:nvSpPr>
        <p:spPr>
          <a:xfrm>
            <a:off x="6830568" y="1252728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肌質診断 → 提案の高度化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購買履歴と診断データで個別提案</a:t>
            </a:r>
          </a:p>
        </p:txBody>
      </p:sp>
      <p:sp>
        <p:nvSpPr>
          <p:cNvPr id="56" name="c14"/>
          <p:cNvSpPr/>
          <p:nvPr/>
        </p:nvSpPr>
        <p:spPr>
          <a:xfrm>
            <a:off x="6263640" y="1316736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14-bg"/>
          <p:cNvSpPr/>
          <p:nvPr/>
        </p:nvSpPr>
        <p:spPr>
          <a:xfrm>
            <a:off x="6355080" y="13258800"/>
            <a:ext cx="365760" cy="36576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c14-ic" descr="tru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5547" y="13339267"/>
            <a:ext cx="204826" cy="204826"/>
          </a:xfrm>
          <a:prstGeom prst="rect">
            <a:avLst/>
          </a:prstGeom>
        </p:spPr>
      </p:pic>
      <p:sp>
        <p:nvSpPr>
          <p:cNvPr id="59" name="c14-t"/>
          <p:cNvSpPr txBox="1"/>
          <p:nvPr/>
        </p:nvSpPr>
        <p:spPr>
          <a:xfrm>
            <a:off x="6830568" y="1316736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配送パートナーAPI・当日配送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TuDelivery 等と直接連携</a:t>
            </a:r>
          </a:p>
        </p:txBody>
      </p:sp>
      <p:sp>
        <p:nvSpPr>
          <p:cNvPr id="60" name="c15"/>
          <p:cNvSpPr/>
          <p:nvPr/>
        </p:nvSpPr>
        <p:spPr>
          <a:xfrm>
            <a:off x="6263640" y="1380744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15-bg"/>
          <p:cNvSpPr/>
          <p:nvPr/>
        </p:nvSpPr>
        <p:spPr>
          <a:xfrm>
            <a:off x="6355080" y="13898880"/>
            <a:ext cx="365760" cy="36576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c15-ic" descr="handshak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5547" y="13979347"/>
            <a:ext cx="204826" cy="204826"/>
          </a:xfrm>
          <a:prstGeom prst="rect">
            <a:avLst/>
          </a:prstGeom>
        </p:spPr>
      </p:pic>
      <p:sp>
        <p:nvSpPr>
          <p:cNvPr id="63" name="c15-t"/>
          <p:cNvSpPr txBox="1"/>
          <p:nvPr/>
        </p:nvSpPr>
        <p:spPr>
          <a:xfrm>
            <a:off x="6830568" y="1380744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卸売（B2B）ポータル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地方の小売店向け発注画面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創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自社開発だからできること — 実装済みと、これから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Өөрийн код учраас боломжтой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08 / 16</a:t>
            </a:r>
          </a:p>
        </p:txBody>
      </p:sp>
      <p:sp>
        <p:nvSpPr>
          <p:cNvPr id="11" name="intro"/>
          <p:cNvSpPr txBox="1"/>
          <p:nvPr/>
        </p:nvSpPr>
        <p:spPr>
          <a:xfrm>
            <a:off x="777240" y="137160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076"/>
                </a:solidFill>
                <a:latin typeface="Yu Gothic UI"/>
              </a:rPr>
              <a:t>SaaS では「用意された機能」しか使えない。自社開発なら、事業の変化に合わせて機能を追加できる。</a:t>
            </a:r>
          </a:p>
        </p:txBody>
      </p:sp>
      <p:sp>
        <p:nvSpPr>
          <p:cNvPr id="12" name="col0-t"/>
          <p:cNvSpPr txBox="1"/>
          <p:nvPr/>
        </p:nvSpPr>
        <p:spPr>
          <a:xfrm>
            <a:off x="548640" y="1828800"/>
            <a:ext cx="5394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F6B4F"/>
                </a:solidFill>
                <a:latin typeface="Yu Gothic UI"/>
              </a:rPr>
              <a:t>すでに実装済み（Zochil にはない）</a:t>
            </a:r>
          </a:p>
        </p:txBody>
      </p:sp>
      <p:sp>
        <p:nvSpPr>
          <p:cNvPr id="13" name="col0-rule"/>
          <p:cNvSpPr/>
          <p:nvPr/>
        </p:nvSpPr>
        <p:spPr>
          <a:xfrm>
            <a:off x="548640" y="2212848"/>
            <a:ext cx="731520" cy="36576"/>
          </a:xfrm>
          <a:prstGeom prst="rect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00"/>
          <p:cNvSpPr/>
          <p:nvPr/>
        </p:nvSpPr>
        <p:spPr>
          <a:xfrm>
            <a:off x="548640" y="237744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00-bg"/>
          <p:cNvSpPr/>
          <p:nvPr/>
        </p:nvSpPr>
        <p:spPr>
          <a:xfrm>
            <a:off x="640080" y="2468880"/>
            <a:ext cx="365760" cy="36576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c00-ic" descr="langu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" y="2549347"/>
            <a:ext cx="204826" cy="204826"/>
          </a:xfrm>
          <a:prstGeom prst="rect">
            <a:avLst/>
          </a:prstGeom>
        </p:spPr>
      </p:pic>
      <p:sp>
        <p:nvSpPr>
          <p:cNvPr id="17" name="c00-t"/>
          <p:cNvSpPr txBox="1"/>
          <p:nvPr/>
        </p:nvSpPr>
        <p:spPr>
          <a:xfrm>
            <a:off x="1115568" y="237744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3言語の自前翻訳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機械翻訳ではなく、UI全体を日・英・蒙で</a:t>
            </a:r>
          </a:p>
        </p:txBody>
      </p:sp>
      <p:sp>
        <p:nvSpPr>
          <p:cNvPr id="18" name="c01"/>
          <p:cNvSpPr/>
          <p:nvPr/>
        </p:nvSpPr>
        <p:spPr>
          <a:xfrm>
            <a:off x="548640" y="301752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01-bg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c01-ic" descr="sc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" y="3189427"/>
            <a:ext cx="204826" cy="204826"/>
          </a:xfrm>
          <a:prstGeom prst="rect">
            <a:avLst/>
          </a:prstGeom>
        </p:spPr>
      </p:pic>
      <p:sp>
        <p:nvSpPr>
          <p:cNvPr id="21" name="c01-t"/>
          <p:cNvSpPr txBox="1"/>
          <p:nvPr/>
        </p:nvSpPr>
        <p:spPr>
          <a:xfrm>
            <a:off x="1115568" y="301752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バーコード基点の在庫台帳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入荷・移動・棚卸をスキャナで、変動をすべて記録</a:t>
            </a:r>
          </a:p>
        </p:txBody>
      </p:sp>
      <p:sp>
        <p:nvSpPr>
          <p:cNvPr id="22" name="c02"/>
          <p:cNvSpPr/>
          <p:nvPr/>
        </p:nvSpPr>
        <p:spPr>
          <a:xfrm>
            <a:off x="548640" y="365760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02-bg"/>
          <p:cNvSpPr/>
          <p:nvPr/>
        </p:nvSpPr>
        <p:spPr>
          <a:xfrm>
            <a:off x="640080" y="3749040"/>
            <a:ext cx="365760" cy="36576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c02-ic" descr="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" y="3829507"/>
            <a:ext cx="204826" cy="204826"/>
          </a:xfrm>
          <a:prstGeom prst="rect">
            <a:avLst/>
          </a:prstGeom>
        </p:spPr>
      </p:pic>
      <p:sp>
        <p:nvSpPr>
          <p:cNvPr id="25" name="c02-t"/>
          <p:cNvSpPr txBox="1"/>
          <p:nvPr/>
        </p:nvSpPr>
        <p:spPr>
          <a:xfrm>
            <a:off x="1115568" y="365760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写真上の成分・内容量・原産国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項目として管理、写真の上にカード表示</a:t>
            </a:r>
          </a:p>
        </p:txBody>
      </p:sp>
      <p:sp>
        <p:nvSpPr>
          <p:cNvPr id="26" name="c03"/>
          <p:cNvSpPr/>
          <p:nvPr/>
        </p:nvSpPr>
        <p:spPr>
          <a:xfrm>
            <a:off x="548640" y="429768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03-bg"/>
          <p:cNvSpPr/>
          <p:nvPr/>
        </p:nvSpPr>
        <p:spPr>
          <a:xfrm>
            <a:off x="640080" y="4389120"/>
            <a:ext cx="365760" cy="36576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c03-ic" descr="k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547" y="4469587"/>
            <a:ext cx="204826" cy="204826"/>
          </a:xfrm>
          <a:prstGeom prst="rect">
            <a:avLst/>
          </a:prstGeom>
        </p:spPr>
      </p:pic>
      <p:sp>
        <p:nvSpPr>
          <p:cNvPr id="29" name="c03-t"/>
          <p:cNvSpPr txBox="1"/>
          <p:nvPr/>
        </p:nvSpPr>
        <p:spPr>
          <a:xfrm>
            <a:off x="1115568" y="429768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顔認証つき管理画面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OTP＋顔認証、25分で自動ロック</a:t>
            </a:r>
          </a:p>
        </p:txBody>
      </p:sp>
      <p:sp>
        <p:nvSpPr>
          <p:cNvPr id="30" name="c04"/>
          <p:cNvSpPr/>
          <p:nvPr/>
        </p:nvSpPr>
        <p:spPr>
          <a:xfrm>
            <a:off x="548640" y="493776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04-bg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c04-ic" descr="gif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547" y="5109667"/>
            <a:ext cx="204826" cy="204826"/>
          </a:xfrm>
          <a:prstGeom prst="rect">
            <a:avLst/>
          </a:prstGeom>
        </p:spPr>
      </p:pic>
      <p:sp>
        <p:nvSpPr>
          <p:cNvPr id="33" name="c04-t"/>
          <p:cNvSpPr txBox="1"/>
          <p:nvPr/>
        </p:nvSpPr>
        <p:spPr>
          <a:xfrm>
            <a:off x="1115568" y="493776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ギフトカードの即時発行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決済完了で自動発行、残高は会員に紐づく</a:t>
            </a:r>
          </a:p>
        </p:txBody>
      </p:sp>
      <p:sp>
        <p:nvSpPr>
          <p:cNvPr id="34" name="c05"/>
          <p:cNvSpPr/>
          <p:nvPr/>
        </p:nvSpPr>
        <p:spPr>
          <a:xfrm>
            <a:off x="548640" y="557784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05-bg"/>
          <p:cNvSpPr/>
          <p:nvPr/>
        </p:nvSpPr>
        <p:spPr>
          <a:xfrm>
            <a:off x="640080" y="5669280"/>
            <a:ext cx="365760" cy="36576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c05-ic" descr="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547" y="5749747"/>
            <a:ext cx="204826" cy="204826"/>
          </a:xfrm>
          <a:prstGeom prst="rect">
            <a:avLst/>
          </a:prstGeom>
        </p:spPr>
      </p:pic>
      <p:sp>
        <p:nvSpPr>
          <p:cNvPr id="37" name="c05-t"/>
          <p:cNvSpPr txBox="1"/>
          <p:nvPr/>
        </p:nvSpPr>
        <p:spPr>
          <a:xfrm>
            <a:off x="1115568" y="557784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転換率・CAC・返品率の分析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自社データで自由に集計・エクスポート</a:t>
            </a:r>
          </a:p>
        </p:txBody>
      </p:sp>
      <p:sp>
        <p:nvSpPr>
          <p:cNvPr id="38" name="col1-t"/>
          <p:cNvSpPr txBox="1"/>
          <p:nvPr/>
        </p:nvSpPr>
        <p:spPr>
          <a:xfrm>
            <a:off x="6263640" y="1828800"/>
            <a:ext cx="5394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3122B"/>
                </a:solidFill>
                <a:latin typeface="Yu Gothic UI"/>
              </a:rPr>
              <a:t>これから追加できる（自社開発だから可能）</a:t>
            </a:r>
          </a:p>
        </p:txBody>
      </p:sp>
      <p:sp>
        <p:nvSpPr>
          <p:cNvPr id="39" name="col1-rule"/>
          <p:cNvSpPr/>
          <p:nvPr/>
        </p:nvSpPr>
        <p:spPr>
          <a:xfrm>
            <a:off x="6263640" y="2212848"/>
            <a:ext cx="731520" cy="36576"/>
          </a:xfrm>
          <a:prstGeom prst="rect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10"/>
          <p:cNvSpPr/>
          <p:nvPr/>
        </p:nvSpPr>
        <p:spPr>
          <a:xfrm>
            <a:off x="6263640" y="237744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10-bg"/>
          <p:cNvSpPr/>
          <p:nvPr/>
        </p:nvSpPr>
        <p:spPr>
          <a:xfrm>
            <a:off x="6355080" y="2468880"/>
            <a:ext cx="365760" cy="36576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c10-ic" descr="serv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5547" y="2549347"/>
            <a:ext cx="204826" cy="204826"/>
          </a:xfrm>
          <a:prstGeom prst="rect">
            <a:avLst/>
          </a:prstGeom>
        </p:spPr>
      </p:pic>
      <p:sp>
        <p:nvSpPr>
          <p:cNvPr id="43" name="c10-t"/>
          <p:cNvSpPr txBox="1"/>
          <p:nvPr/>
        </p:nvSpPr>
        <p:spPr>
          <a:xfrm>
            <a:off x="6830568" y="237744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日本本社の商品マスターとAPI連携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成分・内容量・使用期限を自動同期</a:t>
            </a:r>
          </a:p>
        </p:txBody>
      </p:sp>
      <p:sp>
        <p:nvSpPr>
          <p:cNvPr id="44" name="c11"/>
          <p:cNvSpPr/>
          <p:nvPr/>
        </p:nvSpPr>
        <p:spPr>
          <a:xfrm>
            <a:off x="6263640" y="301752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11-bg"/>
          <p:cNvSpPr/>
          <p:nvPr/>
        </p:nvSpPr>
        <p:spPr>
          <a:xfrm>
            <a:off x="6355080" y="3108960"/>
            <a:ext cx="365760" cy="36576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c11-ic" descr="car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5547" y="3189427"/>
            <a:ext cx="204826" cy="204826"/>
          </a:xfrm>
          <a:prstGeom prst="rect">
            <a:avLst/>
          </a:prstGeom>
        </p:spPr>
      </p:pic>
      <p:sp>
        <p:nvSpPr>
          <p:cNvPr id="47" name="c11-t"/>
          <p:cNvSpPr txBox="1"/>
          <p:nvPr/>
        </p:nvSpPr>
        <p:spPr>
          <a:xfrm>
            <a:off x="6830568" y="301752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eBarimt 電子領収書の自動発行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POS連携（Smart Logic）経由で発行</a:t>
            </a:r>
          </a:p>
        </p:txBody>
      </p:sp>
      <p:sp>
        <p:nvSpPr>
          <p:cNvPr id="48" name="c12"/>
          <p:cNvSpPr/>
          <p:nvPr/>
        </p:nvSpPr>
        <p:spPr>
          <a:xfrm>
            <a:off x="6263640" y="365760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12-bg"/>
          <p:cNvSpPr/>
          <p:nvPr/>
        </p:nvSpPr>
        <p:spPr>
          <a:xfrm>
            <a:off x="6355080" y="3749040"/>
            <a:ext cx="365760" cy="36576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c12-ic" descr="bel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5547" y="3829507"/>
            <a:ext cx="204826" cy="204826"/>
          </a:xfrm>
          <a:prstGeom prst="rect">
            <a:avLst/>
          </a:prstGeom>
        </p:spPr>
      </p:pic>
      <p:sp>
        <p:nvSpPr>
          <p:cNvPr id="51" name="c12-t"/>
          <p:cNvSpPr txBox="1"/>
          <p:nvPr/>
        </p:nvSpPr>
        <p:spPr>
          <a:xfrm>
            <a:off x="6830568" y="365760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定期購入（サブスク）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消耗品を毎月自動で再注文</a:t>
            </a:r>
          </a:p>
        </p:txBody>
      </p:sp>
      <p:sp>
        <p:nvSpPr>
          <p:cNvPr id="52" name="c13"/>
          <p:cNvSpPr/>
          <p:nvPr/>
        </p:nvSpPr>
        <p:spPr>
          <a:xfrm>
            <a:off x="6263640" y="429768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13-bg"/>
          <p:cNvSpPr/>
          <p:nvPr/>
        </p:nvSpPr>
        <p:spPr>
          <a:xfrm>
            <a:off x="6355080" y="4389120"/>
            <a:ext cx="365760" cy="36576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c13-ic" descr="spark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5547" y="4469587"/>
            <a:ext cx="204826" cy="204826"/>
          </a:xfrm>
          <a:prstGeom prst="rect">
            <a:avLst/>
          </a:prstGeom>
        </p:spPr>
      </p:pic>
      <p:sp>
        <p:nvSpPr>
          <p:cNvPr id="55" name="c13-t"/>
          <p:cNvSpPr txBox="1"/>
          <p:nvPr/>
        </p:nvSpPr>
        <p:spPr>
          <a:xfrm>
            <a:off x="6830568" y="429768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肌質診断 → 提案の高度化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購買履歴と診断データで個別提案</a:t>
            </a:r>
          </a:p>
        </p:txBody>
      </p:sp>
      <p:sp>
        <p:nvSpPr>
          <p:cNvPr id="56" name="c14"/>
          <p:cNvSpPr/>
          <p:nvPr/>
        </p:nvSpPr>
        <p:spPr>
          <a:xfrm>
            <a:off x="6263640" y="493776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14-bg"/>
          <p:cNvSpPr/>
          <p:nvPr/>
        </p:nvSpPr>
        <p:spPr>
          <a:xfrm>
            <a:off x="6355080" y="5029200"/>
            <a:ext cx="365760" cy="36576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c14-ic" descr="tru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5547" y="5109667"/>
            <a:ext cx="204826" cy="204826"/>
          </a:xfrm>
          <a:prstGeom prst="rect">
            <a:avLst/>
          </a:prstGeom>
        </p:spPr>
      </p:pic>
      <p:sp>
        <p:nvSpPr>
          <p:cNvPr id="59" name="c14-t"/>
          <p:cNvSpPr txBox="1"/>
          <p:nvPr/>
        </p:nvSpPr>
        <p:spPr>
          <a:xfrm>
            <a:off x="6830568" y="493776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配送パートナーAPI・当日配送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TuDelivery 等と直接連携</a:t>
            </a:r>
          </a:p>
        </p:txBody>
      </p:sp>
      <p:sp>
        <p:nvSpPr>
          <p:cNvPr id="60" name="c15"/>
          <p:cNvSpPr/>
          <p:nvPr/>
        </p:nvSpPr>
        <p:spPr>
          <a:xfrm>
            <a:off x="6263640" y="557784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177800" dist="38100" dir="5400000" algn="ctr" rotWithShape="0">
              <a:srgbClr val="1A14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15-bg"/>
          <p:cNvSpPr/>
          <p:nvPr/>
        </p:nvSpPr>
        <p:spPr>
          <a:xfrm>
            <a:off x="6355080" y="5669280"/>
            <a:ext cx="365760" cy="36576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c15-ic" descr="handshak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5547" y="5749747"/>
            <a:ext cx="204826" cy="204826"/>
          </a:xfrm>
          <a:prstGeom prst="rect">
            <a:avLst/>
          </a:prstGeom>
        </p:spPr>
      </p:pic>
      <p:sp>
        <p:nvSpPr>
          <p:cNvPr id="63" name="c15-t"/>
          <p:cNvSpPr txBox="1"/>
          <p:nvPr/>
        </p:nvSpPr>
        <p:spPr>
          <a:xfrm>
            <a:off x="6830568" y="557784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61A"/>
                </a:solidFill>
                <a:latin typeface="Yu Gothic UI"/>
              </a:rPr>
              <a:t>卸売（B2B）ポータル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Yu Gothic UI"/>
              </a:rPr>
              <a:t>地方の小売店向け発注画面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品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商品ページ — 信頼される情報設計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Барааны хуудас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09 / 16</a:t>
            </a:r>
          </a:p>
        </p:txBody>
      </p:sp>
      <p:sp>
        <p:nvSpPr>
          <p:cNvPr id="11" name="pdp-frame"/>
          <p:cNvSpPr/>
          <p:nvPr/>
        </p:nvSpPr>
        <p:spPr>
          <a:xfrm>
            <a:off x="548640" y="1600200"/>
            <a:ext cx="5760720" cy="3571646"/>
          </a:xfrm>
          <a:prstGeom prst="roundRect">
            <a:avLst>
              <a:gd name="adj" fmla="val 3000"/>
            </a:avLst>
          </a:prstGeom>
          <a:solidFill>
            <a:srgbClr val="2A2E35"/>
          </a:solidFill>
          <a:ln>
            <a:noFill/>
          </a:ln>
          <a:effectLst>
            <a:outerShdw blurRad="508000" dist="1778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dp-img" descr="slide-produ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746504"/>
            <a:ext cx="5468112" cy="3279038"/>
          </a:xfrm>
          <a:prstGeom prst="rect">
            <a:avLst/>
          </a:prstGeom>
        </p:spPr>
      </p:pic>
      <p:sp>
        <p:nvSpPr>
          <p:cNvPr id="13" name="pdp-base"/>
          <p:cNvSpPr/>
          <p:nvPr/>
        </p:nvSpPr>
        <p:spPr>
          <a:xfrm>
            <a:off x="228600" y="5171846"/>
            <a:ext cx="6400800" cy="14630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p0"/>
          <p:cNvSpPr/>
          <p:nvPr/>
        </p:nvSpPr>
        <p:spPr>
          <a:xfrm>
            <a:off x="6675120" y="9829800"/>
            <a:ext cx="4983480" cy="822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p0-bg"/>
          <p:cNvSpPr/>
          <p:nvPr/>
        </p:nvSpPr>
        <p:spPr>
          <a:xfrm>
            <a:off x="6812280" y="9966960"/>
            <a:ext cx="548640" cy="54864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p0-ic" descr="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980" y="10087660"/>
            <a:ext cx="307240" cy="307240"/>
          </a:xfrm>
          <a:prstGeom prst="rect">
            <a:avLst/>
          </a:prstGeom>
        </p:spPr>
      </p:pic>
      <p:sp>
        <p:nvSpPr>
          <p:cNvPr id="17" name="pp0-t"/>
          <p:cNvSpPr txBox="1"/>
          <p:nvPr/>
        </p:nvSpPr>
        <p:spPr>
          <a:xfrm>
            <a:off x="7498079" y="9875520"/>
            <a:ext cx="411480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JANコードで検索される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A2E35"/>
                </a:solidFill>
                <a:latin typeface="Yu Gothic UI"/>
              </a:rPr>
              <a:t>構造化データ・サイトマップ・バーコード先頭の説明文で Google に見つかる。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JAN кодоор Google-д олдох SEO</a:t>
            </a:r>
          </a:p>
        </p:txBody>
      </p:sp>
      <p:sp>
        <p:nvSpPr>
          <p:cNvPr id="18" name="pp1"/>
          <p:cNvSpPr/>
          <p:nvPr/>
        </p:nvSpPr>
        <p:spPr>
          <a:xfrm>
            <a:off x="6675120" y="10762488"/>
            <a:ext cx="4983480" cy="822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p1-bg"/>
          <p:cNvSpPr/>
          <p:nvPr/>
        </p:nvSpPr>
        <p:spPr>
          <a:xfrm>
            <a:off x="6812280" y="10899648"/>
            <a:ext cx="548640" cy="54864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p1-ic" descr="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2980" y="11020348"/>
            <a:ext cx="307240" cy="307240"/>
          </a:xfrm>
          <a:prstGeom prst="rect">
            <a:avLst/>
          </a:prstGeom>
        </p:spPr>
      </p:pic>
      <p:sp>
        <p:nvSpPr>
          <p:cNvPr id="21" name="pp1-t"/>
          <p:cNvSpPr txBox="1"/>
          <p:nvPr/>
        </p:nvSpPr>
        <p:spPr>
          <a:xfrm>
            <a:off x="7498079" y="10808208"/>
            <a:ext cx="411480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写真の上に内容量・成分・原産国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A2E35"/>
                </a:solidFill>
                <a:latin typeface="Yu Gothic UI"/>
              </a:rPr>
              <a:t>内容量、成分表示、原産国、使用期限を商品写真の上にカードで表示。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Хэмжээ, найрлага, гарал, хугацаа зурган дээр</a:t>
            </a:r>
          </a:p>
        </p:txBody>
      </p:sp>
      <p:sp>
        <p:nvSpPr>
          <p:cNvPr id="22" name="pp2"/>
          <p:cNvSpPr/>
          <p:nvPr/>
        </p:nvSpPr>
        <p:spPr>
          <a:xfrm>
            <a:off x="6675120" y="11695176"/>
            <a:ext cx="4983480" cy="822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p2-bg"/>
          <p:cNvSpPr/>
          <p:nvPr/>
        </p:nvSpPr>
        <p:spPr>
          <a:xfrm>
            <a:off x="6812280" y="11832336"/>
            <a:ext cx="548640" cy="54864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p2-ic" descr="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980" y="11953036"/>
            <a:ext cx="307240" cy="307240"/>
          </a:xfrm>
          <a:prstGeom prst="rect">
            <a:avLst/>
          </a:prstGeom>
        </p:spPr>
      </p:pic>
      <p:sp>
        <p:nvSpPr>
          <p:cNvPr id="25" name="pp2-t"/>
          <p:cNvSpPr txBox="1"/>
          <p:nvPr/>
        </p:nvSpPr>
        <p:spPr>
          <a:xfrm>
            <a:off x="7498079" y="11740896"/>
            <a:ext cx="411480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レビュー・Q&amp;A・共有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A2E35"/>
                </a:solidFill>
                <a:latin typeface="Yu Gothic UI"/>
              </a:rPr>
              <a:t>購入者だけがレビュー。返信・いいね・Q&amp;A、投稿特典、SNS共有。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Сэтгэгдэл, Q&amp;A, урамшуулал, хуваалцах</a:t>
            </a:r>
          </a:p>
        </p:txBody>
      </p:sp>
      <p:sp>
        <p:nvSpPr>
          <p:cNvPr id="26" name="pp3"/>
          <p:cNvSpPr/>
          <p:nvPr/>
        </p:nvSpPr>
        <p:spPr>
          <a:xfrm>
            <a:off x="6675120" y="12627864"/>
            <a:ext cx="4983480" cy="822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p3-bg"/>
          <p:cNvSpPr/>
          <p:nvPr/>
        </p:nvSpPr>
        <p:spPr>
          <a:xfrm>
            <a:off x="6812280" y="12765024"/>
            <a:ext cx="548640" cy="54864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p3-ic" descr="gif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2980" y="12885724"/>
            <a:ext cx="307240" cy="307240"/>
          </a:xfrm>
          <a:prstGeom prst="rect">
            <a:avLst/>
          </a:prstGeom>
        </p:spPr>
      </p:pic>
      <p:sp>
        <p:nvSpPr>
          <p:cNvPr id="29" name="pp3-t"/>
          <p:cNvSpPr txBox="1"/>
          <p:nvPr/>
        </p:nvSpPr>
        <p:spPr>
          <a:xfrm>
            <a:off x="7498079" y="12673584"/>
            <a:ext cx="411480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ギフトカードとバリエーション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A2E35"/>
                </a:solidFill>
                <a:latin typeface="Yu Gothic UI"/>
              </a:rPr>
              <a:t>デジタルギフトカードを即時発行。サイズ・色のバリエーション、関連商品。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Бэлгийн карт, variant, холбоотой бараа</a:t>
            </a:r>
          </a:p>
        </p:txBody>
      </p:sp>
      <p:sp>
        <p:nvSpPr>
          <p:cNvPr id="30" name="ps0-tile"/>
          <p:cNvSpPr/>
          <p:nvPr/>
        </p:nvSpPr>
        <p:spPr>
          <a:xfrm>
            <a:off x="6675120" y="136245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s0-img" descr="s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7299" y="13686739"/>
            <a:ext cx="652882" cy="652882"/>
          </a:xfrm>
          <a:prstGeom prst="rect">
            <a:avLst/>
          </a:prstGeom>
        </p:spPr>
      </p:pic>
      <p:sp>
        <p:nvSpPr>
          <p:cNvPr id="32" name="ps1-tile"/>
          <p:cNvSpPr/>
          <p:nvPr/>
        </p:nvSpPr>
        <p:spPr>
          <a:xfrm>
            <a:off x="7516368" y="136245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s1-img" descr="s1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8547" y="13686739"/>
            <a:ext cx="652882" cy="652882"/>
          </a:xfrm>
          <a:prstGeom prst="rect">
            <a:avLst/>
          </a:prstGeom>
        </p:spPr>
      </p:pic>
      <p:sp>
        <p:nvSpPr>
          <p:cNvPr id="34" name="ps2-tile"/>
          <p:cNvSpPr/>
          <p:nvPr/>
        </p:nvSpPr>
        <p:spPr>
          <a:xfrm>
            <a:off x="8357616" y="136245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s2-img" descr="s1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9795" y="13686739"/>
            <a:ext cx="652882" cy="652882"/>
          </a:xfrm>
          <a:prstGeom prst="rect">
            <a:avLst/>
          </a:prstGeom>
        </p:spPr>
      </p:pic>
      <p:sp>
        <p:nvSpPr>
          <p:cNvPr id="36" name="ps3-tile"/>
          <p:cNvSpPr/>
          <p:nvPr/>
        </p:nvSpPr>
        <p:spPr>
          <a:xfrm>
            <a:off x="9198864" y="136245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s3-img" descr="s1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61043" y="13686739"/>
            <a:ext cx="652882" cy="652882"/>
          </a:xfrm>
          <a:prstGeom prst="rect">
            <a:avLst/>
          </a:prstGeom>
        </p:spPr>
      </p:pic>
      <p:sp>
        <p:nvSpPr>
          <p:cNvPr id="38" name="ps4-tile"/>
          <p:cNvSpPr/>
          <p:nvPr/>
        </p:nvSpPr>
        <p:spPr>
          <a:xfrm>
            <a:off x="10040112" y="136245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s4-img" descr="s1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02291" y="13686739"/>
            <a:ext cx="652882" cy="652882"/>
          </a:xfrm>
          <a:prstGeom prst="rect">
            <a:avLst/>
          </a:prstGeom>
        </p:spPr>
      </p:pic>
      <p:sp>
        <p:nvSpPr>
          <p:cNvPr id="40" name="ps5-tile"/>
          <p:cNvSpPr/>
          <p:nvPr/>
        </p:nvSpPr>
        <p:spPr>
          <a:xfrm>
            <a:off x="10881360" y="136245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s5-img" descr="s1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43539" y="13686739"/>
            <a:ext cx="652882" cy="6528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品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商品ページ — 信頼される情報設計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Барааны хуудас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09 / 16</a:t>
            </a:r>
          </a:p>
        </p:txBody>
      </p:sp>
      <p:sp>
        <p:nvSpPr>
          <p:cNvPr id="11" name="pdp-frame"/>
          <p:cNvSpPr/>
          <p:nvPr/>
        </p:nvSpPr>
        <p:spPr>
          <a:xfrm>
            <a:off x="548640" y="1600200"/>
            <a:ext cx="5760720" cy="3571646"/>
          </a:xfrm>
          <a:prstGeom prst="roundRect">
            <a:avLst>
              <a:gd name="adj" fmla="val 3000"/>
            </a:avLst>
          </a:prstGeom>
          <a:solidFill>
            <a:srgbClr val="2A2E35"/>
          </a:solidFill>
          <a:ln>
            <a:noFill/>
          </a:ln>
          <a:effectLst>
            <a:outerShdw blurRad="508000" dist="1778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dp-img" descr="slide-produ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746504"/>
            <a:ext cx="5468112" cy="3279038"/>
          </a:xfrm>
          <a:prstGeom prst="rect">
            <a:avLst/>
          </a:prstGeom>
        </p:spPr>
      </p:pic>
      <p:sp>
        <p:nvSpPr>
          <p:cNvPr id="13" name="pdp-base"/>
          <p:cNvSpPr/>
          <p:nvPr/>
        </p:nvSpPr>
        <p:spPr>
          <a:xfrm>
            <a:off x="228600" y="5171846"/>
            <a:ext cx="6400800" cy="14630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p0"/>
          <p:cNvSpPr/>
          <p:nvPr/>
        </p:nvSpPr>
        <p:spPr>
          <a:xfrm>
            <a:off x="6675120" y="1600200"/>
            <a:ext cx="4983480" cy="822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p0-bg"/>
          <p:cNvSpPr/>
          <p:nvPr/>
        </p:nvSpPr>
        <p:spPr>
          <a:xfrm>
            <a:off x="6812280" y="1737360"/>
            <a:ext cx="548640" cy="54864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p0-ic" descr="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980" y="1858060"/>
            <a:ext cx="307240" cy="307240"/>
          </a:xfrm>
          <a:prstGeom prst="rect">
            <a:avLst/>
          </a:prstGeom>
        </p:spPr>
      </p:pic>
      <p:sp>
        <p:nvSpPr>
          <p:cNvPr id="17" name="pp0-t"/>
          <p:cNvSpPr txBox="1"/>
          <p:nvPr/>
        </p:nvSpPr>
        <p:spPr>
          <a:xfrm>
            <a:off x="7498079" y="1645920"/>
            <a:ext cx="411480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JANコードで検索される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A2E35"/>
                </a:solidFill>
                <a:latin typeface="Yu Gothic UI"/>
              </a:rPr>
              <a:t>構造化データ・サイトマップ・バーコード先頭の説明文で Google に見つかる。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JAN кодоор Google-д олдох SEO</a:t>
            </a:r>
          </a:p>
        </p:txBody>
      </p:sp>
      <p:sp>
        <p:nvSpPr>
          <p:cNvPr id="18" name="pp1"/>
          <p:cNvSpPr/>
          <p:nvPr/>
        </p:nvSpPr>
        <p:spPr>
          <a:xfrm>
            <a:off x="6675120" y="2532888"/>
            <a:ext cx="4983480" cy="822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p1-bg"/>
          <p:cNvSpPr/>
          <p:nvPr/>
        </p:nvSpPr>
        <p:spPr>
          <a:xfrm>
            <a:off x="6812280" y="2670048"/>
            <a:ext cx="548640" cy="54864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p1-ic" descr="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2980" y="2790748"/>
            <a:ext cx="307240" cy="307240"/>
          </a:xfrm>
          <a:prstGeom prst="rect">
            <a:avLst/>
          </a:prstGeom>
        </p:spPr>
      </p:pic>
      <p:sp>
        <p:nvSpPr>
          <p:cNvPr id="21" name="pp1-t"/>
          <p:cNvSpPr txBox="1"/>
          <p:nvPr/>
        </p:nvSpPr>
        <p:spPr>
          <a:xfrm>
            <a:off x="7498079" y="2578608"/>
            <a:ext cx="411480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写真の上に内容量・成分・原産国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A2E35"/>
                </a:solidFill>
                <a:latin typeface="Yu Gothic UI"/>
              </a:rPr>
              <a:t>内容量、成分表示、原産国、使用期限を商品写真の上にカードで表示。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Хэмжээ, найрлага, гарал, хугацаа зурган дээр</a:t>
            </a:r>
          </a:p>
        </p:txBody>
      </p:sp>
      <p:sp>
        <p:nvSpPr>
          <p:cNvPr id="22" name="pp2"/>
          <p:cNvSpPr/>
          <p:nvPr/>
        </p:nvSpPr>
        <p:spPr>
          <a:xfrm>
            <a:off x="6675120" y="3465576"/>
            <a:ext cx="4983480" cy="822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p2-bg"/>
          <p:cNvSpPr/>
          <p:nvPr/>
        </p:nvSpPr>
        <p:spPr>
          <a:xfrm>
            <a:off x="6812280" y="3602736"/>
            <a:ext cx="548640" cy="54864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p2-ic" descr="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980" y="3723436"/>
            <a:ext cx="307240" cy="307240"/>
          </a:xfrm>
          <a:prstGeom prst="rect">
            <a:avLst/>
          </a:prstGeom>
        </p:spPr>
      </p:pic>
      <p:sp>
        <p:nvSpPr>
          <p:cNvPr id="25" name="pp2-t"/>
          <p:cNvSpPr txBox="1"/>
          <p:nvPr/>
        </p:nvSpPr>
        <p:spPr>
          <a:xfrm>
            <a:off x="7498079" y="3511296"/>
            <a:ext cx="411480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レビュー・Q&amp;A・共有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A2E35"/>
                </a:solidFill>
                <a:latin typeface="Yu Gothic UI"/>
              </a:rPr>
              <a:t>購入者だけがレビュー。返信・いいね・Q&amp;A、投稿特典、SNS共有。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Сэтгэгдэл, Q&amp;A, урамшуулал, хуваалцах</a:t>
            </a:r>
          </a:p>
        </p:txBody>
      </p:sp>
      <p:sp>
        <p:nvSpPr>
          <p:cNvPr id="26" name="pp3"/>
          <p:cNvSpPr/>
          <p:nvPr/>
        </p:nvSpPr>
        <p:spPr>
          <a:xfrm>
            <a:off x="6675120" y="4398264"/>
            <a:ext cx="4983480" cy="822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p3-bg"/>
          <p:cNvSpPr/>
          <p:nvPr/>
        </p:nvSpPr>
        <p:spPr>
          <a:xfrm>
            <a:off x="6812280" y="4535424"/>
            <a:ext cx="548640" cy="54864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p3-ic" descr="gif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2980" y="4656124"/>
            <a:ext cx="307240" cy="307240"/>
          </a:xfrm>
          <a:prstGeom prst="rect">
            <a:avLst/>
          </a:prstGeom>
        </p:spPr>
      </p:pic>
      <p:sp>
        <p:nvSpPr>
          <p:cNvPr id="29" name="pp3-t"/>
          <p:cNvSpPr txBox="1"/>
          <p:nvPr/>
        </p:nvSpPr>
        <p:spPr>
          <a:xfrm>
            <a:off x="7498079" y="4443984"/>
            <a:ext cx="411480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ギフトカードとバリエーション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A2E35"/>
                </a:solidFill>
                <a:latin typeface="Yu Gothic UI"/>
              </a:rPr>
              <a:t>デジタルギフトカードを即時発行。サイズ・色のバリエーション、関連商品。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Бэлгийн карт, variant, холбоотой бараа</a:t>
            </a:r>
          </a:p>
        </p:txBody>
      </p:sp>
      <p:sp>
        <p:nvSpPr>
          <p:cNvPr id="30" name="ps0-tile"/>
          <p:cNvSpPr/>
          <p:nvPr/>
        </p:nvSpPr>
        <p:spPr>
          <a:xfrm>
            <a:off x="6675120" y="136245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s0-img" descr="s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7299" y="13686739"/>
            <a:ext cx="652882" cy="652882"/>
          </a:xfrm>
          <a:prstGeom prst="rect">
            <a:avLst/>
          </a:prstGeom>
        </p:spPr>
      </p:pic>
      <p:sp>
        <p:nvSpPr>
          <p:cNvPr id="32" name="ps1-tile"/>
          <p:cNvSpPr/>
          <p:nvPr/>
        </p:nvSpPr>
        <p:spPr>
          <a:xfrm>
            <a:off x="7516368" y="136245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s1-img" descr="s1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8547" y="13686739"/>
            <a:ext cx="652882" cy="652882"/>
          </a:xfrm>
          <a:prstGeom prst="rect">
            <a:avLst/>
          </a:prstGeom>
        </p:spPr>
      </p:pic>
      <p:sp>
        <p:nvSpPr>
          <p:cNvPr id="34" name="ps2-tile"/>
          <p:cNvSpPr/>
          <p:nvPr/>
        </p:nvSpPr>
        <p:spPr>
          <a:xfrm>
            <a:off x="8357616" y="136245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s2-img" descr="s1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9795" y="13686739"/>
            <a:ext cx="652882" cy="652882"/>
          </a:xfrm>
          <a:prstGeom prst="rect">
            <a:avLst/>
          </a:prstGeom>
        </p:spPr>
      </p:pic>
      <p:sp>
        <p:nvSpPr>
          <p:cNvPr id="36" name="ps3-tile"/>
          <p:cNvSpPr/>
          <p:nvPr/>
        </p:nvSpPr>
        <p:spPr>
          <a:xfrm>
            <a:off x="9198864" y="136245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s3-img" descr="s1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61043" y="13686739"/>
            <a:ext cx="652882" cy="652882"/>
          </a:xfrm>
          <a:prstGeom prst="rect">
            <a:avLst/>
          </a:prstGeom>
        </p:spPr>
      </p:pic>
      <p:sp>
        <p:nvSpPr>
          <p:cNvPr id="38" name="ps4-tile"/>
          <p:cNvSpPr/>
          <p:nvPr/>
        </p:nvSpPr>
        <p:spPr>
          <a:xfrm>
            <a:off x="10040112" y="136245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s4-img" descr="s1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02291" y="13686739"/>
            <a:ext cx="652882" cy="652882"/>
          </a:xfrm>
          <a:prstGeom prst="rect">
            <a:avLst/>
          </a:prstGeom>
        </p:spPr>
      </p:pic>
      <p:sp>
        <p:nvSpPr>
          <p:cNvPr id="40" name="ps5-tile"/>
          <p:cNvSpPr/>
          <p:nvPr/>
        </p:nvSpPr>
        <p:spPr>
          <a:xfrm>
            <a:off x="10881360" y="136245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s5-img" descr="s1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43539" y="13686739"/>
            <a:ext cx="652882" cy="6528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品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商品ページ — 信頼される情報設計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Барааны хуудас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09 / 16</a:t>
            </a:r>
          </a:p>
        </p:txBody>
      </p:sp>
      <p:sp>
        <p:nvSpPr>
          <p:cNvPr id="11" name="pdp-frame"/>
          <p:cNvSpPr/>
          <p:nvPr/>
        </p:nvSpPr>
        <p:spPr>
          <a:xfrm>
            <a:off x="548640" y="1600200"/>
            <a:ext cx="5760720" cy="3571646"/>
          </a:xfrm>
          <a:prstGeom prst="roundRect">
            <a:avLst>
              <a:gd name="adj" fmla="val 3000"/>
            </a:avLst>
          </a:prstGeom>
          <a:solidFill>
            <a:srgbClr val="2A2E35"/>
          </a:solidFill>
          <a:ln>
            <a:noFill/>
          </a:ln>
          <a:effectLst>
            <a:outerShdw blurRad="508000" dist="1778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dp-img" descr="slide-produ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746504"/>
            <a:ext cx="5468112" cy="3279038"/>
          </a:xfrm>
          <a:prstGeom prst="rect">
            <a:avLst/>
          </a:prstGeom>
        </p:spPr>
      </p:pic>
      <p:sp>
        <p:nvSpPr>
          <p:cNvPr id="13" name="pdp-base"/>
          <p:cNvSpPr/>
          <p:nvPr/>
        </p:nvSpPr>
        <p:spPr>
          <a:xfrm>
            <a:off x="228600" y="5171846"/>
            <a:ext cx="6400800" cy="14630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p0"/>
          <p:cNvSpPr/>
          <p:nvPr/>
        </p:nvSpPr>
        <p:spPr>
          <a:xfrm>
            <a:off x="6675120" y="1600200"/>
            <a:ext cx="4983480" cy="822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p0-bg"/>
          <p:cNvSpPr/>
          <p:nvPr/>
        </p:nvSpPr>
        <p:spPr>
          <a:xfrm>
            <a:off x="6812280" y="1737360"/>
            <a:ext cx="548640" cy="54864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p0-ic" descr="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980" y="1858060"/>
            <a:ext cx="307240" cy="307240"/>
          </a:xfrm>
          <a:prstGeom prst="rect">
            <a:avLst/>
          </a:prstGeom>
        </p:spPr>
      </p:pic>
      <p:sp>
        <p:nvSpPr>
          <p:cNvPr id="17" name="pp0-t"/>
          <p:cNvSpPr txBox="1"/>
          <p:nvPr/>
        </p:nvSpPr>
        <p:spPr>
          <a:xfrm>
            <a:off x="7498079" y="1645920"/>
            <a:ext cx="411480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JANコードで検索される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A2E35"/>
                </a:solidFill>
                <a:latin typeface="Yu Gothic UI"/>
              </a:rPr>
              <a:t>構造化データ・サイトマップ・バーコード先頭の説明文で Google に見つかる。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JAN кодоор Google-д олдох SEO</a:t>
            </a:r>
          </a:p>
        </p:txBody>
      </p:sp>
      <p:sp>
        <p:nvSpPr>
          <p:cNvPr id="18" name="pp1"/>
          <p:cNvSpPr/>
          <p:nvPr/>
        </p:nvSpPr>
        <p:spPr>
          <a:xfrm>
            <a:off x="6675120" y="2532888"/>
            <a:ext cx="4983480" cy="822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p1-bg"/>
          <p:cNvSpPr/>
          <p:nvPr/>
        </p:nvSpPr>
        <p:spPr>
          <a:xfrm>
            <a:off x="6812280" y="2670048"/>
            <a:ext cx="548640" cy="54864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p1-ic" descr="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2980" y="2790748"/>
            <a:ext cx="307240" cy="307240"/>
          </a:xfrm>
          <a:prstGeom prst="rect">
            <a:avLst/>
          </a:prstGeom>
        </p:spPr>
      </p:pic>
      <p:sp>
        <p:nvSpPr>
          <p:cNvPr id="21" name="pp1-t"/>
          <p:cNvSpPr txBox="1"/>
          <p:nvPr/>
        </p:nvSpPr>
        <p:spPr>
          <a:xfrm>
            <a:off x="7498079" y="2578608"/>
            <a:ext cx="411480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写真の上に内容量・成分・原産国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A2E35"/>
                </a:solidFill>
                <a:latin typeface="Yu Gothic UI"/>
              </a:rPr>
              <a:t>内容量、成分表示、原産国、使用期限を商品写真の上にカードで表示。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Хэмжээ, найрлага, гарал, хугацаа зурган дээр</a:t>
            </a:r>
          </a:p>
        </p:txBody>
      </p:sp>
      <p:sp>
        <p:nvSpPr>
          <p:cNvPr id="22" name="pp2"/>
          <p:cNvSpPr/>
          <p:nvPr/>
        </p:nvSpPr>
        <p:spPr>
          <a:xfrm>
            <a:off x="6675120" y="3465576"/>
            <a:ext cx="4983480" cy="822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p2-bg"/>
          <p:cNvSpPr/>
          <p:nvPr/>
        </p:nvSpPr>
        <p:spPr>
          <a:xfrm>
            <a:off x="6812280" y="3602736"/>
            <a:ext cx="548640" cy="54864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p2-ic" descr="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980" y="3723436"/>
            <a:ext cx="307240" cy="307240"/>
          </a:xfrm>
          <a:prstGeom prst="rect">
            <a:avLst/>
          </a:prstGeom>
        </p:spPr>
      </p:pic>
      <p:sp>
        <p:nvSpPr>
          <p:cNvPr id="25" name="pp2-t"/>
          <p:cNvSpPr txBox="1"/>
          <p:nvPr/>
        </p:nvSpPr>
        <p:spPr>
          <a:xfrm>
            <a:off x="7498079" y="3511296"/>
            <a:ext cx="411480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レビュー・Q&amp;A・共有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A2E35"/>
                </a:solidFill>
                <a:latin typeface="Yu Gothic UI"/>
              </a:rPr>
              <a:t>購入者だけがレビュー。返信・いいね・Q&amp;A、投稿特典、SNS共有。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Сэтгэгдэл, Q&amp;A, урамшуулал, хуваалцах</a:t>
            </a:r>
          </a:p>
        </p:txBody>
      </p:sp>
      <p:sp>
        <p:nvSpPr>
          <p:cNvPr id="26" name="pp3"/>
          <p:cNvSpPr/>
          <p:nvPr/>
        </p:nvSpPr>
        <p:spPr>
          <a:xfrm>
            <a:off x="6675120" y="4398264"/>
            <a:ext cx="4983480" cy="822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p3-bg"/>
          <p:cNvSpPr/>
          <p:nvPr/>
        </p:nvSpPr>
        <p:spPr>
          <a:xfrm>
            <a:off x="6812280" y="4535424"/>
            <a:ext cx="548640" cy="54864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p3-ic" descr="gif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2980" y="4656124"/>
            <a:ext cx="307240" cy="307240"/>
          </a:xfrm>
          <a:prstGeom prst="rect">
            <a:avLst/>
          </a:prstGeom>
        </p:spPr>
      </p:pic>
      <p:sp>
        <p:nvSpPr>
          <p:cNvPr id="29" name="pp3-t"/>
          <p:cNvSpPr txBox="1"/>
          <p:nvPr/>
        </p:nvSpPr>
        <p:spPr>
          <a:xfrm>
            <a:off x="7498079" y="4443984"/>
            <a:ext cx="411480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ギフトカードとバリエーション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A2E35"/>
                </a:solidFill>
                <a:latin typeface="Yu Gothic UI"/>
              </a:rPr>
              <a:t>デジタルギフトカードを即時発行。サイズ・色のバリエーション、関連商品。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Бэлгийн карт, variant, холбоотой бараа</a:t>
            </a:r>
          </a:p>
        </p:txBody>
      </p:sp>
      <p:sp>
        <p:nvSpPr>
          <p:cNvPr id="30" name="ps0-tile"/>
          <p:cNvSpPr/>
          <p:nvPr/>
        </p:nvSpPr>
        <p:spPr>
          <a:xfrm>
            <a:off x="6675120" y="53949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s0-img" descr="s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7299" y="5457139"/>
            <a:ext cx="652882" cy="652882"/>
          </a:xfrm>
          <a:prstGeom prst="rect">
            <a:avLst/>
          </a:prstGeom>
        </p:spPr>
      </p:pic>
      <p:sp>
        <p:nvSpPr>
          <p:cNvPr id="32" name="ps1-tile"/>
          <p:cNvSpPr/>
          <p:nvPr/>
        </p:nvSpPr>
        <p:spPr>
          <a:xfrm>
            <a:off x="7516368" y="53949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s1-img" descr="s1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8547" y="5457139"/>
            <a:ext cx="652882" cy="652882"/>
          </a:xfrm>
          <a:prstGeom prst="rect">
            <a:avLst/>
          </a:prstGeom>
        </p:spPr>
      </p:pic>
      <p:sp>
        <p:nvSpPr>
          <p:cNvPr id="34" name="ps2-tile"/>
          <p:cNvSpPr/>
          <p:nvPr/>
        </p:nvSpPr>
        <p:spPr>
          <a:xfrm>
            <a:off x="8357616" y="53949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s2-img" descr="s1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9795" y="5457139"/>
            <a:ext cx="652882" cy="652882"/>
          </a:xfrm>
          <a:prstGeom prst="rect">
            <a:avLst/>
          </a:prstGeom>
        </p:spPr>
      </p:pic>
      <p:sp>
        <p:nvSpPr>
          <p:cNvPr id="36" name="ps3-tile"/>
          <p:cNvSpPr/>
          <p:nvPr/>
        </p:nvSpPr>
        <p:spPr>
          <a:xfrm>
            <a:off x="9198864" y="53949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s3-img" descr="s1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61043" y="5457139"/>
            <a:ext cx="652882" cy="652882"/>
          </a:xfrm>
          <a:prstGeom prst="rect">
            <a:avLst/>
          </a:prstGeom>
        </p:spPr>
      </p:pic>
      <p:sp>
        <p:nvSpPr>
          <p:cNvPr id="38" name="ps4-tile"/>
          <p:cNvSpPr/>
          <p:nvPr/>
        </p:nvSpPr>
        <p:spPr>
          <a:xfrm>
            <a:off x="10040112" y="53949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s4-img" descr="s1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02291" y="5457139"/>
            <a:ext cx="652882" cy="652882"/>
          </a:xfrm>
          <a:prstGeom prst="rect">
            <a:avLst/>
          </a:prstGeom>
        </p:spPr>
      </p:pic>
      <p:sp>
        <p:nvSpPr>
          <p:cNvPr id="40" name="ps5-tile"/>
          <p:cNvSpPr/>
          <p:nvPr/>
        </p:nvSpPr>
        <p:spPr>
          <a:xfrm>
            <a:off x="10881360" y="53949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s5-img" descr="s1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43539" y="5457139"/>
            <a:ext cx="652882" cy="6528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速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購入体験 — 会員登録なしで3分で注文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Худалдан авах урсгал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10 / 16</a:t>
            </a:r>
          </a:p>
        </p:txBody>
      </p:sp>
      <p:sp>
        <p:nvSpPr>
          <p:cNvPr id="11" name="intro"/>
          <p:cNvSpPr txBox="1"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Yu Gothic UI"/>
              </a:rPr>
              <a:t>ゲスト購入。SMS確認で不正注文を防ぎ、クーポン・会員割引・ストアクレジット・ギフトカードを同じ画面で使える。</a:t>
            </a:r>
          </a:p>
        </p:txBody>
      </p:sp>
      <p:sp>
        <p:nvSpPr>
          <p:cNvPr id="12" name="line"/>
          <p:cNvSpPr/>
          <p:nvPr/>
        </p:nvSpPr>
        <p:spPr>
          <a:xfrm>
            <a:off x="1097280" y="2971800"/>
            <a:ext cx="9966960" cy="45720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ep0-ring"/>
          <p:cNvSpPr/>
          <p:nvPr/>
        </p:nvSpPr>
        <p:spPr>
          <a:xfrm>
            <a:off x="1097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ep0-bg"/>
          <p:cNvSpPr/>
          <p:nvPr/>
        </p:nvSpPr>
        <p:spPr>
          <a:xfrm>
            <a:off x="1188720" y="2404872"/>
            <a:ext cx="1188720" cy="118872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tep0-ic" descr="b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238" y="2666390"/>
            <a:ext cx="665684" cy="665684"/>
          </a:xfrm>
          <a:prstGeom prst="rect">
            <a:avLst/>
          </a:prstGeom>
        </p:spPr>
      </p:pic>
      <p:sp>
        <p:nvSpPr>
          <p:cNvPr id="16" name="step0-n"/>
          <p:cNvSpPr txBox="1"/>
          <p:nvPr/>
        </p:nvSpPr>
        <p:spPr>
          <a:xfrm>
            <a:off x="640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B3122B"/>
                </a:solidFill>
                <a:latin typeface="Segoe UI"/>
              </a:rPr>
              <a:t>STEP 1</a:t>
            </a:r>
          </a:p>
        </p:txBody>
      </p:sp>
      <p:sp>
        <p:nvSpPr>
          <p:cNvPr id="17" name="step0-t"/>
          <p:cNvSpPr txBox="1"/>
          <p:nvPr/>
        </p:nvSpPr>
        <p:spPr>
          <a:xfrm>
            <a:off x="640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商品を選ぶ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Бараа сонгох</a:t>
            </a:r>
          </a:p>
        </p:txBody>
      </p:sp>
      <p:sp>
        <p:nvSpPr>
          <p:cNvPr id="18" name="step1-ring"/>
          <p:cNvSpPr/>
          <p:nvPr/>
        </p:nvSpPr>
        <p:spPr>
          <a:xfrm>
            <a:off x="3383280" y="105430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ep1-bg"/>
          <p:cNvSpPr/>
          <p:nvPr/>
        </p:nvSpPr>
        <p:spPr>
          <a:xfrm>
            <a:off x="3474720" y="10634472"/>
            <a:ext cx="1188720" cy="11887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step1-ic" descr="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238" y="10895990"/>
            <a:ext cx="665684" cy="665684"/>
          </a:xfrm>
          <a:prstGeom prst="rect">
            <a:avLst/>
          </a:prstGeom>
        </p:spPr>
      </p:pic>
      <p:sp>
        <p:nvSpPr>
          <p:cNvPr id="21" name="step1-n"/>
          <p:cNvSpPr txBox="1"/>
          <p:nvPr/>
        </p:nvSpPr>
        <p:spPr>
          <a:xfrm>
            <a:off x="2926080" y="100401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99312"/>
                </a:solidFill>
                <a:latin typeface="Segoe UI"/>
              </a:rPr>
              <a:t>STEP 2</a:t>
            </a:r>
          </a:p>
        </p:txBody>
      </p:sp>
      <p:sp>
        <p:nvSpPr>
          <p:cNvPr id="22" name="step1-t"/>
          <p:cNvSpPr txBox="1"/>
          <p:nvPr/>
        </p:nvSpPr>
        <p:spPr>
          <a:xfrm>
            <a:off x="2926080" y="120243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電話番号をSMS確認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Утас SMS-ээр баталгаажуулах</a:t>
            </a:r>
          </a:p>
        </p:txBody>
      </p:sp>
      <p:sp>
        <p:nvSpPr>
          <p:cNvPr id="23" name="step2-ring"/>
          <p:cNvSpPr/>
          <p:nvPr/>
        </p:nvSpPr>
        <p:spPr>
          <a:xfrm>
            <a:off x="5669280" y="105430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ep2-bg"/>
          <p:cNvSpPr/>
          <p:nvPr/>
        </p:nvSpPr>
        <p:spPr>
          <a:xfrm>
            <a:off x="5760720" y="10634472"/>
            <a:ext cx="1188720" cy="118872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step2-ic" descr="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2238" y="10895990"/>
            <a:ext cx="665684" cy="665684"/>
          </a:xfrm>
          <a:prstGeom prst="rect">
            <a:avLst/>
          </a:prstGeom>
        </p:spPr>
      </p:pic>
      <p:sp>
        <p:nvSpPr>
          <p:cNvPr id="26" name="step2-n"/>
          <p:cNvSpPr txBox="1"/>
          <p:nvPr/>
        </p:nvSpPr>
        <p:spPr>
          <a:xfrm>
            <a:off x="5212080" y="100401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FB3"/>
                </a:solidFill>
                <a:latin typeface="Segoe UI"/>
              </a:rPr>
              <a:t>STEP 3</a:t>
            </a:r>
          </a:p>
        </p:txBody>
      </p:sp>
      <p:sp>
        <p:nvSpPr>
          <p:cNvPr id="27" name="step2-t"/>
          <p:cNvSpPr txBox="1"/>
          <p:nvPr/>
        </p:nvSpPr>
        <p:spPr>
          <a:xfrm>
            <a:off x="5212080" y="120243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配送か店舗受取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Хүргэлт / салбар</a:t>
            </a:r>
          </a:p>
        </p:txBody>
      </p:sp>
      <p:sp>
        <p:nvSpPr>
          <p:cNvPr id="28" name="step3-ring"/>
          <p:cNvSpPr/>
          <p:nvPr/>
        </p:nvSpPr>
        <p:spPr>
          <a:xfrm>
            <a:off x="7955280" y="105430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ep3-bg"/>
          <p:cNvSpPr/>
          <p:nvPr/>
        </p:nvSpPr>
        <p:spPr>
          <a:xfrm>
            <a:off x="8046720" y="10634472"/>
            <a:ext cx="1188720" cy="11887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step3-ic" descr="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8238" y="10895990"/>
            <a:ext cx="665684" cy="665684"/>
          </a:xfrm>
          <a:prstGeom prst="rect">
            <a:avLst/>
          </a:prstGeom>
        </p:spPr>
      </p:pic>
      <p:sp>
        <p:nvSpPr>
          <p:cNvPr id="31" name="step3-n"/>
          <p:cNvSpPr txBox="1"/>
          <p:nvPr/>
        </p:nvSpPr>
        <p:spPr>
          <a:xfrm>
            <a:off x="7498080" y="100401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B4F"/>
                </a:solidFill>
                <a:latin typeface="Segoe UI"/>
              </a:rPr>
              <a:t>STEP 4</a:t>
            </a:r>
          </a:p>
        </p:txBody>
      </p:sp>
      <p:sp>
        <p:nvSpPr>
          <p:cNvPr id="32" name="step3-t"/>
          <p:cNvSpPr txBox="1"/>
          <p:nvPr/>
        </p:nvSpPr>
        <p:spPr>
          <a:xfrm>
            <a:off x="7498080" y="120243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現金・QPay・StorePay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Бэлэн, QPay, StorePay</a:t>
            </a:r>
          </a:p>
        </p:txBody>
      </p:sp>
      <p:sp>
        <p:nvSpPr>
          <p:cNvPr id="33" name="step4-ring"/>
          <p:cNvSpPr/>
          <p:nvPr/>
        </p:nvSpPr>
        <p:spPr>
          <a:xfrm>
            <a:off x="10241280" y="105430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tep4-bg"/>
          <p:cNvSpPr/>
          <p:nvPr/>
        </p:nvSpPr>
        <p:spPr>
          <a:xfrm>
            <a:off x="10332720" y="10634472"/>
            <a:ext cx="1188720" cy="118872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step4-ic" descr="be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4238" y="10895990"/>
            <a:ext cx="665684" cy="665684"/>
          </a:xfrm>
          <a:prstGeom prst="rect">
            <a:avLst/>
          </a:prstGeom>
        </p:spPr>
      </p:pic>
      <p:sp>
        <p:nvSpPr>
          <p:cNvPr id="36" name="step4-n"/>
          <p:cNvSpPr txBox="1"/>
          <p:nvPr/>
        </p:nvSpPr>
        <p:spPr>
          <a:xfrm>
            <a:off x="9784080" y="100401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B4FC9"/>
                </a:solidFill>
                <a:latin typeface="Segoe UI"/>
              </a:rPr>
              <a:t>STEP 5</a:t>
            </a:r>
          </a:p>
        </p:txBody>
      </p:sp>
      <p:sp>
        <p:nvSpPr>
          <p:cNvPr id="37" name="step4-t"/>
          <p:cNvSpPr txBox="1"/>
          <p:nvPr/>
        </p:nvSpPr>
        <p:spPr>
          <a:xfrm>
            <a:off x="9784080" y="120243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通知・PDF領収書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Мэдэгдэл, PDF баримт</a:t>
            </a:r>
          </a:p>
        </p:txBody>
      </p:sp>
      <p:sp>
        <p:nvSpPr>
          <p:cNvPr id="38" name="fs0-tile"/>
          <p:cNvSpPr/>
          <p:nvPr/>
        </p:nvSpPr>
        <p:spPr>
          <a:xfrm>
            <a:off x="68580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fs0-img" descr="s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582" y="13392302"/>
            <a:ext cx="921716" cy="921716"/>
          </a:xfrm>
          <a:prstGeom prst="rect">
            <a:avLst/>
          </a:prstGeom>
        </p:spPr>
      </p:pic>
      <p:sp>
        <p:nvSpPr>
          <p:cNvPr id="40" name="fs1-tile"/>
          <p:cNvSpPr/>
          <p:nvPr/>
        </p:nvSpPr>
        <p:spPr>
          <a:xfrm>
            <a:off x="189280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fs1-img" descr="s1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0590" y="13392302"/>
            <a:ext cx="921716" cy="921716"/>
          </a:xfrm>
          <a:prstGeom prst="rect">
            <a:avLst/>
          </a:prstGeom>
        </p:spPr>
      </p:pic>
      <p:sp>
        <p:nvSpPr>
          <p:cNvPr id="42" name="fs2-tile"/>
          <p:cNvSpPr/>
          <p:nvPr/>
        </p:nvSpPr>
        <p:spPr>
          <a:xfrm>
            <a:off x="309981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fs2-img" descr="s1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7598" y="13392302"/>
            <a:ext cx="921716" cy="921716"/>
          </a:xfrm>
          <a:prstGeom prst="rect">
            <a:avLst/>
          </a:prstGeom>
        </p:spPr>
      </p:pic>
      <p:sp>
        <p:nvSpPr>
          <p:cNvPr id="44" name="fs3-tile"/>
          <p:cNvSpPr/>
          <p:nvPr/>
        </p:nvSpPr>
        <p:spPr>
          <a:xfrm>
            <a:off x="430682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fs3-img" descr="s0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94606" y="13392302"/>
            <a:ext cx="921716" cy="921716"/>
          </a:xfrm>
          <a:prstGeom prst="rect">
            <a:avLst/>
          </a:prstGeom>
        </p:spPr>
      </p:pic>
      <p:sp>
        <p:nvSpPr>
          <p:cNvPr id="46" name="fs4-tile"/>
          <p:cNvSpPr/>
          <p:nvPr/>
        </p:nvSpPr>
        <p:spPr>
          <a:xfrm>
            <a:off x="5513832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fs4-img" descr="s0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1614" y="13392302"/>
            <a:ext cx="921716" cy="921716"/>
          </a:xfrm>
          <a:prstGeom prst="rect">
            <a:avLst/>
          </a:prstGeom>
        </p:spPr>
      </p:pic>
      <p:sp>
        <p:nvSpPr>
          <p:cNvPr id="48" name="fs5-tile"/>
          <p:cNvSpPr/>
          <p:nvPr/>
        </p:nvSpPr>
        <p:spPr>
          <a:xfrm>
            <a:off x="672084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fs5-img" descr="s0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08622" y="13392302"/>
            <a:ext cx="921716" cy="921716"/>
          </a:xfrm>
          <a:prstGeom prst="rect">
            <a:avLst/>
          </a:prstGeom>
        </p:spPr>
      </p:pic>
      <p:sp>
        <p:nvSpPr>
          <p:cNvPr id="50" name="fs6-tile"/>
          <p:cNvSpPr/>
          <p:nvPr/>
        </p:nvSpPr>
        <p:spPr>
          <a:xfrm>
            <a:off x="792784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fs6-img" descr="s0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15630" y="13392302"/>
            <a:ext cx="921716" cy="921716"/>
          </a:xfrm>
          <a:prstGeom prst="rect">
            <a:avLst/>
          </a:prstGeom>
        </p:spPr>
      </p:pic>
      <p:sp>
        <p:nvSpPr>
          <p:cNvPr id="52" name="fs7-tile"/>
          <p:cNvSpPr/>
          <p:nvPr/>
        </p:nvSpPr>
        <p:spPr>
          <a:xfrm>
            <a:off x="913485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fs7-img" descr="s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22638" y="13392302"/>
            <a:ext cx="921716" cy="921716"/>
          </a:xfrm>
          <a:prstGeom prst="rect">
            <a:avLst/>
          </a:prstGeom>
        </p:spPr>
      </p:pic>
      <p:sp>
        <p:nvSpPr>
          <p:cNvPr id="54" name="fs8-tile"/>
          <p:cNvSpPr/>
          <p:nvPr/>
        </p:nvSpPr>
        <p:spPr>
          <a:xfrm>
            <a:off x="1034186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fs8-img" descr="s1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29646" y="13392302"/>
            <a:ext cx="921716" cy="9217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速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購入体験 — 会員登録なしで3分で注文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Худалдан авах урсгал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10 / 16</a:t>
            </a:r>
          </a:p>
        </p:txBody>
      </p:sp>
      <p:sp>
        <p:nvSpPr>
          <p:cNvPr id="11" name="intro"/>
          <p:cNvSpPr txBox="1"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Yu Gothic UI"/>
              </a:rPr>
              <a:t>ゲスト購入。SMS確認で不正注文を防ぎ、クーポン・会員割引・ストアクレジット・ギフトカードを同じ画面で使える。</a:t>
            </a:r>
          </a:p>
        </p:txBody>
      </p:sp>
      <p:sp>
        <p:nvSpPr>
          <p:cNvPr id="12" name="line"/>
          <p:cNvSpPr/>
          <p:nvPr/>
        </p:nvSpPr>
        <p:spPr>
          <a:xfrm>
            <a:off x="1097280" y="2971800"/>
            <a:ext cx="9966960" cy="45720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ep0-ring"/>
          <p:cNvSpPr/>
          <p:nvPr/>
        </p:nvSpPr>
        <p:spPr>
          <a:xfrm>
            <a:off x="1097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ep0-bg"/>
          <p:cNvSpPr/>
          <p:nvPr/>
        </p:nvSpPr>
        <p:spPr>
          <a:xfrm>
            <a:off x="1188720" y="2404872"/>
            <a:ext cx="1188720" cy="118872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tep0-ic" descr="b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238" y="2666390"/>
            <a:ext cx="665684" cy="665684"/>
          </a:xfrm>
          <a:prstGeom prst="rect">
            <a:avLst/>
          </a:prstGeom>
        </p:spPr>
      </p:pic>
      <p:sp>
        <p:nvSpPr>
          <p:cNvPr id="16" name="step0-n"/>
          <p:cNvSpPr txBox="1"/>
          <p:nvPr/>
        </p:nvSpPr>
        <p:spPr>
          <a:xfrm>
            <a:off x="640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B3122B"/>
                </a:solidFill>
                <a:latin typeface="Segoe UI"/>
              </a:rPr>
              <a:t>STEP 1</a:t>
            </a:r>
          </a:p>
        </p:txBody>
      </p:sp>
      <p:sp>
        <p:nvSpPr>
          <p:cNvPr id="17" name="step0-t"/>
          <p:cNvSpPr txBox="1"/>
          <p:nvPr/>
        </p:nvSpPr>
        <p:spPr>
          <a:xfrm>
            <a:off x="640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商品を選ぶ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Бараа сонгох</a:t>
            </a:r>
          </a:p>
        </p:txBody>
      </p:sp>
      <p:sp>
        <p:nvSpPr>
          <p:cNvPr id="18" name="step1-ring"/>
          <p:cNvSpPr/>
          <p:nvPr/>
        </p:nvSpPr>
        <p:spPr>
          <a:xfrm>
            <a:off x="3383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ep1-bg"/>
          <p:cNvSpPr/>
          <p:nvPr/>
        </p:nvSpPr>
        <p:spPr>
          <a:xfrm>
            <a:off x="3474720" y="2404872"/>
            <a:ext cx="1188720" cy="11887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step1-ic" descr="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238" y="2666390"/>
            <a:ext cx="665684" cy="665684"/>
          </a:xfrm>
          <a:prstGeom prst="rect">
            <a:avLst/>
          </a:prstGeom>
        </p:spPr>
      </p:pic>
      <p:sp>
        <p:nvSpPr>
          <p:cNvPr id="21" name="step1-n"/>
          <p:cNvSpPr txBox="1"/>
          <p:nvPr/>
        </p:nvSpPr>
        <p:spPr>
          <a:xfrm>
            <a:off x="2926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99312"/>
                </a:solidFill>
                <a:latin typeface="Segoe UI"/>
              </a:rPr>
              <a:t>STEP 2</a:t>
            </a:r>
          </a:p>
        </p:txBody>
      </p:sp>
      <p:sp>
        <p:nvSpPr>
          <p:cNvPr id="22" name="step1-t"/>
          <p:cNvSpPr txBox="1"/>
          <p:nvPr/>
        </p:nvSpPr>
        <p:spPr>
          <a:xfrm>
            <a:off x="2926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電話番号をSMS確認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Утас SMS-ээр баталгаажуулах</a:t>
            </a:r>
          </a:p>
        </p:txBody>
      </p:sp>
      <p:sp>
        <p:nvSpPr>
          <p:cNvPr id="23" name="step2-ring"/>
          <p:cNvSpPr/>
          <p:nvPr/>
        </p:nvSpPr>
        <p:spPr>
          <a:xfrm>
            <a:off x="5669280" y="105430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ep2-bg"/>
          <p:cNvSpPr/>
          <p:nvPr/>
        </p:nvSpPr>
        <p:spPr>
          <a:xfrm>
            <a:off x="5760720" y="10634472"/>
            <a:ext cx="1188720" cy="118872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step2-ic" descr="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2238" y="10895990"/>
            <a:ext cx="665684" cy="665684"/>
          </a:xfrm>
          <a:prstGeom prst="rect">
            <a:avLst/>
          </a:prstGeom>
        </p:spPr>
      </p:pic>
      <p:sp>
        <p:nvSpPr>
          <p:cNvPr id="26" name="step2-n"/>
          <p:cNvSpPr txBox="1"/>
          <p:nvPr/>
        </p:nvSpPr>
        <p:spPr>
          <a:xfrm>
            <a:off x="5212080" y="100401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FB3"/>
                </a:solidFill>
                <a:latin typeface="Segoe UI"/>
              </a:rPr>
              <a:t>STEP 3</a:t>
            </a:r>
          </a:p>
        </p:txBody>
      </p:sp>
      <p:sp>
        <p:nvSpPr>
          <p:cNvPr id="27" name="step2-t"/>
          <p:cNvSpPr txBox="1"/>
          <p:nvPr/>
        </p:nvSpPr>
        <p:spPr>
          <a:xfrm>
            <a:off x="5212080" y="120243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配送か店舗受取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Хүргэлт / салбар</a:t>
            </a:r>
          </a:p>
        </p:txBody>
      </p:sp>
      <p:sp>
        <p:nvSpPr>
          <p:cNvPr id="28" name="step3-ring"/>
          <p:cNvSpPr/>
          <p:nvPr/>
        </p:nvSpPr>
        <p:spPr>
          <a:xfrm>
            <a:off x="7955280" y="105430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ep3-bg"/>
          <p:cNvSpPr/>
          <p:nvPr/>
        </p:nvSpPr>
        <p:spPr>
          <a:xfrm>
            <a:off x="8046720" y="10634472"/>
            <a:ext cx="1188720" cy="11887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step3-ic" descr="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8238" y="10895990"/>
            <a:ext cx="665684" cy="665684"/>
          </a:xfrm>
          <a:prstGeom prst="rect">
            <a:avLst/>
          </a:prstGeom>
        </p:spPr>
      </p:pic>
      <p:sp>
        <p:nvSpPr>
          <p:cNvPr id="31" name="step3-n"/>
          <p:cNvSpPr txBox="1"/>
          <p:nvPr/>
        </p:nvSpPr>
        <p:spPr>
          <a:xfrm>
            <a:off x="7498080" y="100401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B4F"/>
                </a:solidFill>
                <a:latin typeface="Segoe UI"/>
              </a:rPr>
              <a:t>STEP 4</a:t>
            </a:r>
          </a:p>
        </p:txBody>
      </p:sp>
      <p:sp>
        <p:nvSpPr>
          <p:cNvPr id="32" name="step3-t"/>
          <p:cNvSpPr txBox="1"/>
          <p:nvPr/>
        </p:nvSpPr>
        <p:spPr>
          <a:xfrm>
            <a:off x="7498080" y="120243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現金・QPay・StorePay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Бэлэн, QPay, StorePay</a:t>
            </a:r>
          </a:p>
        </p:txBody>
      </p:sp>
      <p:sp>
        <p:nvSpPr>
          <p:cNvPr id="33" name="step4-ring"/>
          <p:cNvSpPr/>
          <p:nvPr/>
        </p:nvSpPr>
        <p:spPr>
          <a:xfrm>
            <a:off x="10241280" y="105430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tep4-bg"/>
          <p:cNvSpPr/>
          <p:nvPr/>
        </p:nvSpPr>
        <p:spPr>
          <a:xfrm>
            <a:off x="10332720" y="10634472"/>
            <a:ext cx="1188720" cy="118872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step4-ic" descr="be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4238" y="10895990"/>
            <a:ext cx="665684" cy="665684"/>
          </a:xfrm>
          <a:prstGeom prst="rect">
            <a:avLst/>
          </a:prstGeom>
        </p:spPr>
      </p:pic>
      <p:sp>
        <p:nvSpPr>
          <p:cNvPr id="36" name="step4-n"/>
          <p:cNvSpPr txBox="1"/>
          <p:nvPr/>
        </p:nvSpPr>
        <p:spPr>
          <a:xfrm>
            <a:off x="9784080" y="100401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B4FC9"/>
                </a:solidFill>
                <a:latin typeface="Segoe UI"/>
              </a:rPr>
              <a:t>STEP 5</a:t>
            </a:r>
          </a:p>
        </p:txBody>
      </p:sp>
      <p:sp>
        <p:nvSpPr>
          <p:cNvPr id="37" name="step4-t"/>
          <p:cNvSpPr txBox="1"/>
          <p:nvPr/>
        </p:nvSpPr>
        <p:spPr>
          <a:xfrm>
            <a:off x="9784080" y="120243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通知・PDF領収書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Мэдэгдэл, PDF баримт</a:t>
            </a:r>
          </a:p>
        </p:txBody>
      </p:sp>
      <p:sp>
        <p:nvSpPr>
          <p:cNvPr id="38" name="fs0-tile"/>
          <p:cNvSpPr/>
          <p:nvPr/>
        </p:nvSpPr>
        <p:spPr>
          <a:xfrm>
            <a:off x="68580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fs0-img" descr="s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582" y="13392302"/>
            <a:ext cx="921716" cy="921716"/>
          </a:xfrm>
          <a:prstGeom prst="rect">
            <a:avLst/>
          </a:prstGeom>
        </p:spPr>
      </p:pic>
      <p:sp>
        <p:nvSpPr>
          <p:cNvPr id="40" name="fs1-tile"/>
          <p:cNvSpPr/>
          <p:nvPr/>
        </p:nvSpPr>
        <p:spPr>
          <a:xfrm>
            <a:off x="189280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fs1-img" descr="s1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0590" y="13392302"/>
            <a:ext cx="921716" cy="921716"/>
          </a:xfrm>
          <a:prstGeom prst="rect">
            <a:avLst/>
          </a:prstGeom>
        </p:spPr>
      </p:pic>
      <p:sp>
        <p:nvSpPr>
          <p:cNvPr id="42" name="fs2-tile"/>
          <p:cNvSpPr/>
          <p:nvPr/>
        </p:nvSpPr>
        <p:spPr>
          <a:xfrm>
            <a:off x="309981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fs2-img" descr="s1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7598" y="13392302"/>
            <a:ext cx="921716" cy="921716"/>
          </a:xfrm>
          <a:prstGeom prst="rect">
            <a:avLst/>
          </a:prstGeom>
        </p:spPr>
      </p:pic>
      <p:sp>
        <p:nvSpPr>
          <p:cNvPr id="44" name="fs3-tile"/>
          <p:cNvSpPr/>
          <p:nvPr/>
        </p:nvSpPr>
        <p:spPr>
          <a:xfrm>
            <a:off x="430682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fs3-img" descr="s0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94606" y="13392302"/>
            <a:ext cx="921716" cy="921716"/>
          </a:xfrm>
          <a:prstGeom prst="rect">
            <a:avLst/>
          </a:prstGeom>
        </p:spPr>
      </p:pic>
      <p:sp>
        <p:nvSpPr>
          <p:cNvPr id="46" name="fs4-tile"/>
          <p:cNvSpPr/>
          <p:nvPr/>
        </p:nvSpPr>
        <p:spPr>
          <a:xfrm>
            <a:off x="5513832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fs4-img" descr="s0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1614" y="13392302"/>
            <a:ext cx="921716" cy="921716"/>
          </a:xfrm>
          <a:prstGeom prst="rect">
            <a:avLst/>
          </a:prstGeom>
        </p:spPr>
      </p:pic>
      <p:sp>
        <p:nvSpPr>
          <p:cNvPr id="48" name="fs5-tile"/>
          <p:cNvSpPr/>
          <p:nvPr/>
        </p:nvSpPr>
        <p:spPr>
          <a:xfrm>
            <a:off x="672084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fs5-img" descr="s0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08622" y="13392302"/>
            <a:ext cx="921716" cy="921716"/>
          </a:xfrm>
          <a:prstGeom prst="rect">
            <a:avLst/>
          </a:prstGeom>
        </p:spPr>
      </p:pic>
      <p:sp>
        <p:nvSpPr>
          <p:cNvPr id="50" name="fs6-tile"/>
          <p:cNvSpPr/>
          <p:nvPr/>
        </p:nvSpPr>
        <p:spPr>
          <a:xfrm>
            <a:off x="792784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fs6-img" descr="s0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15630" y="13392302"/>
            <a:ext cx="921716" cy="921716"/>
          </a:xfrm>
          <a:prstGeom prst="rect">
            <a:avLst/>
          </a:prstGeom>
        </p:spPr>
      </p:pic>
      <p:sp>
        <p:nvSpPr>
          <p:cNvPr id="52" name="fs7-tile"/>
          <p:cNvSpPr/>
          <p:nvPr/>
        </p:nvSpPr>
        <p:spPr>
          <a:xfrm>
            <a:off x="913485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fs7-img" descr="s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22638" y="13392302"/>
            <a:ext cx="921716" cy="921716"/>
          </a:xfrm>
          <a:prstGeom prst="rect">
            <a:avLst/>
          </a:prstGeom>
        </p:spPr>
      </p:pic>
      <p:sp>
        <p:nvSpPr>
          <p:cNvPr id="54" name="fs8-tile"/>
          <p:cNvSpPr/>
          <p:nvPr/>
        </p:nvSpPr>
        <p:spPr>
          <a:xfrm>
            <a:off x="1034186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fs8-img" descr="s1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29646" y="13392302"/>
            <a:ext cx="921716" cy="9217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速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購入体験 — 会員登録なしで3分で注文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Худалдан авах урсгал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10 / 16</a:t>
            </a:r>
          </a:p>
        </p:txBody>
      </p:sp>
      <p:sp>
        <p:nvSpPr>
          <p:cNvPr id="11" name="intro"/>
          <p:cNvSpPr txBox="1"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Yu Gothic UI"/>
              </a:rPr>
              <a:t>ゲスト購入。SMS確認で不正注文を防ぎ、クーポン・会員割引・ストアクレジット・ギフトカードを同じ画面で使える。</a:t>
            </a:r>
          </a:p>
        </p:txBody>
      </p:sp>
      <p:sp>
        <p:nvSpPr>
          <p:cNvPr id="12" name="line"/>
          <p:cNvSpPr/>
          <p:nvPr/>
        </p:nvSpPr>
        <p:spPr>
          <a:xfrm>
            <a:off x="1097280" y="2971800"/>
            <a:ext cx="9966960" cy="45720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ep0-ring"/>
          <p:cNvSpPr/>
          <p:nvPr/>
        </p:nvSpPr>
        <p:spPr>
          <a:xfrm>
            <a:off x="1097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ep0-bg"/>
          <p:cNvSpPr/>
          <p:nvPr/>
        </p:nvSpPr>
        <p:spPr>
          <a:xfrm>
            <a:off x="1188720" y="2404872"/>
            <a:ext cx="1188720" cy="118872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tep0-ic" descr="b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238" y="2666390"/>
            <a:ext cx="665684" cy="665684"/>
          </a:xfrm>
          <a:prstGeom prst="rect">
            <a:avLst/>
          </a:prstGeom>
        </p:spPr>
      </p:pic>
      <p:sp>
        <p:nvSpPr>
          <p:cNvPr id="16" name="step0-n"/>
          <p:cNvSpPr txBox="1"/>
          <p:nvPr/>
        </p:nvSpPr>
        <p:spPr>
          <a:xfrm>
            <a:off x="640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B3122B"/>
                </a:solidFill>
                <a:latin typeface="Segoe UI"/>
              </a:rPr>
              <a:t>STEP 1</a:t>
            </a:r>
          </a:p>
        </p:txBody>
      </p:sp>
      <p:sp>
        <p:nvSpPr>
          <p:cNvPr id="17" name="step0-t"/>
          <p:cNvSpPr txBox="1"/>
          <p:nvPr/>
        </p:nvSpPr>
        <p:spPr>
          <a:xfrm>
            <a:off x="640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商品を選ぶ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Бараа сонгох</a:t>
            </a:r>
          </a:p>
        </p:txBody>
      </p:sp>
      <p:sp>
        <p:nvSpPr>
          <p:cNvPr id="18" name="step1-ring"/>
          <p:cNvSpPr/>
          <p:nvPr/>
        </p:nvSpPr>
        <p:spPr>
          <a:xfrm>
            <a:off x="3383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ep1-bg"/>
          <p:cNvSpPr/>
          <p:nvPr/>
        </p:nvSpPr>
        <p:spPr>
          <a:xfrm>
            <a:off x="3474720" y="2404872"/>
            <a:ext cx="1188720" cy="11887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step1-ic" descr="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238" y="2666390"/>
            <a:ext cx="665684" cy="665684"/>
          </a:xfrm>
          <a:prstGeom prst="rect">
            <a:avLst/>
          </a:prstGeom>
        </p:spPr>
      </p:pic>
      <p:sp>
        <p:nvSpPr>
          <p:cNvPr id="21" name="step1-n"/>
          <p:cNvSpPr txBox="1"/>
          <p:nvPr/>
        </p:nvSpPr>
        <p:spPr>
          <a:xfrm>
            <a:off x="2926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99312"/>
                </a:solidFill>
                <a:latin typeface="Segoe UI"/>
              </a:rPr>
              <a:t>STEP 2</a:t>
            </a:r>
          </a:p>
        </p:txBody>
      </p:sp>
      <p:sp>
        <p:nvSpPr>
          <p:cNvPr id="22" name="step1-t"/>
          <p:cNvSpPr txBox="1"/>
          <p:nvPr/>
        </p:nvSpPr>
        <p:spPr>
          <a:xfrm>
            <a:off x="2926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電話番号をSMS確認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Утас SMS-ээр баталгаажуулах</a:t>
            </a:r>
          </a:p>
        </p:txBody>
      </p:sp>
      <p:sp>
        <p:nvSpPr>
          <p:cNvPr id="23" name="step2-ring"/>
          <p:cNvSpPr/>
          <p:nvPr/>
        </p:nvSpPr>
        <p:spPr>
          <a:xfrm>
            <a:off x="5669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ep2-bg"/>
          <p:cNvSpPr/>
          <p:nvPr/>
        </p:nvSpPr>
        <p:spPr>
          <a:xfrm>
            <a:off x="5760720" y="2404872"/>
            <a:ext cx="1188720" cy="118872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step2-ic" descr="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2238" y="2666390"/>
            <a:ext cx="665684" cy="665684"/>
          </a:xfrm>
          <a:prstGeom prst="rect">
            <a:avLst/>
          </a:prstGeom>
        </p:spPr>
      </p:pic>
      <p:sp>
        <p:nvSpPr>
          <p:cNvPr id="26" name="step2-n"/>
          <p:cNvSpPr txBox="1"/>
          <p:nvPr/>
        </p:nvSpPr>
        <p:spPr>
          <a:xfrm>
            <a:off x="5212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FB3"/>
                </a:solidFill>
                <a:latin typeface="Segoe UI"/>
              </a:rPr>
              <a:t>STEP 3</a:t>
            </a:r>
          </a:p>
        </p:txBody>
      </p:sp>
      <p:sp>
        <p:nvSpPr>
          <p:cNvPr id="27" name="step2-t"/>
          <p:cNvSpPr txBox="1"/>
          <p:nvPr/>
        </p:nvSpPr>
        <p:spPr>
          <a:xfrm>
            <a:off x="5212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配送か店舗受取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Хүргэлт / салбар</a:t>
            </a:r>
          </a:p>
        </p:txBody>
      </p:sp>
      <p:sp>
        <p:nvSpPr>
          <p:cNvPr id="28" name="step3-ring"/>
          <p:cNvSpPr/>
          <p:nvPr/>
        </p:nvSpPr>
        <p:spPr>
          <a:xfrm>
            <a:off x="7955280" y="105430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ep3-bg"/>
          <p:cNvSpPr/>
          <p:nvPr/>
        </p:nvSpPr>
        <p:spPr>
          <a:xfrm>
            <a:off x="8046720" y="10634472"/>
            <a:ext cx="1188720" cy="11887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step3-ic" descr="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8238" y="10895990"/>
            <a:ext cx="665684" cy="665684"/>
          </a:xfrm>
          <a:prstGeom prst="rect">
            <a:avLst/>
          </a:prstGeom>
        </p:spPr>
      </p:pic>
      <p:sp>
        <p:nvSpPr>
          <p:cNvPr id="31" name="step3-n"/>
          <p:cNvSpPr txBox="1"/>
          <p:nvPr/>
        </p:nvSpPr>
        <p:spPr>
          <a:xfrm>
            <a:off x="7498080" y="100401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B4F"/>
                </a:solidFill>
                <a:latin typeface="Segoe UI"/>
              </a:rPr>
              <a:t>STEP 4</a:t>
            </a:r>
          </a:p>
        </p:txBody>
      </p:sp>
      <p:sp>
        <p:nvSpPr>
          <p:cNvPr id="32" name="step3-t"/>
          <p:cNvSpPr txBox="1"/>
          <p:nvPr/>
        </p:nvSpPr>
        <p:spPr>
          <a:xfrm>
            <a:off x="7498080" y="120243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現金・QPay・StorePay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Бэлэн, QPay, StorePay</a:t>
            </a:r>
          </a:p>
        </p:txBody>
      </p:sp>
      <p:sp>
        <p:nvSpPr>
          <p:cNvPr id="33" name="step4-ring"/>
          <p:cNvSpPr/>
          <p:nvPr/>
        </p:nvSpPr>
        <p:spPr>
          <a:xfrm>
            <a:off x="10241280" y="105430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tep4-bg"/>
          <p:cNvSpPr/>
          <p:nvPr/>
        </p:nvSpPr>
        <p:spPr>
          <a:xfrm>
            <a:off x="10332720" y="10634472"/>
            <a:ext cx="1188720" cy="118872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step4-ic" descr="be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4238" y="10895990"/>
            <a:ext cx="665684" cy="665684"/>
          </a:xfrm>
          <a:prstGeom prst="rect">
            <a:avLst/>
          </a:prstGeom>
        </p:spPr>
      </p:pic>
      <p:sp>
        <p:nvSpPr>
          <p:cNvPr id="36" name="step4-n"/>
          <p:cNvSpPr txBox="1"/>
          <p:nvPr/>
        </p:nvSpPr>
        <p:spPr>
          <a:xfrm>
            <a:off x="9784080" y="100401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B4FC9"/>
                </a:solidFill>
                <a:latin typeface="Segoe UI"/>
              </a:rPr>
              <a:t>STEP 5</a:t>
            </a:r>
          </a:p>
        </p:txBody>
      </p:sp>
      <p:sp>
        <p:nvSpPr>
          <p:cNvPr id="37" name="step4-t"/>
          <p:cNvSpPr txBox="1"/>
          <p:nvPr/>
        </p:nvSpPr>
        <p:spPr>
          <a:xfrm>
            <a:off x="9784080" y="120243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通知・PDF領収書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Мэдэгдэл, PDF баримт</a:t>
            </a:r>
          </a:p>
        </p:txBody>
      </p:sp>
      <p:sp>
        <p:nvSpPr>
          <p:cNvPr id="38" name="fs0-tile"/>
          <p:cNvSpPr/>
          <p:nvPr/>
        </p:nvSpPr>
        <p:spPr>
          <a:xfrm>
            <a:off x="68580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fs0-img" descr="s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582" y="13392302"/>
            <a:ext cx="921716" cy="921716"/>
          </a:xfrm>
          <a:prstGeom prst="rect">
            <a:avLst/>
          </a:prstGeom>
        </p:spPr>
      </p:pic>
      <p:sp>
        <p:nvSpPr>
          <p:cNvPr id="40" name="fs1-tile"/>
          <p:cNvSpPr/>
          <p:nvPr/>
        </p:nvSpPr>
        <p:spPr>
          <a:xfrm>
            <a:off x="189280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fs1-img" descr="s1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0590" y="13392302"/>
            <a:ext cx="921716" cy="921716"/>
          </a:xfrm>
          <a:prstGeom prst="rect">
            <a:avLst/>
          </a:prstGeom>
        </p:spPr>
      </p:pic>
      <p:sp>
        <p:nvSpPr>
          <p:cNvPr id="42" name="fs2-tile"/>
          <p:cNvSpPr/>
          <p:nvPr/>
        </p:nvSpPr>
        <p:spPr>
          <a:xfrm>
            <a:off x="309981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fs2-img" descr="s1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7598" y="13392302"/>
            <a:ext cx="921716" cy="921716"/>
          </a:xfrm>
          <a:prstGeom prst="rect">
            <a:avLst/>
          </a:prstGeom>
        </p:spPr>
      </p:pic>
      <p:sp>
        <p:nvSpPr>
          <p:cNvPr id="44" name="fs3-tile"/>
          <p:cNvSpPr/>
          <p:nvPr/>
        </p:nvSpPr>
        <p:spPr>
          <a:xfrm>
            <a:off x="430682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fs3-img" descr="s0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94606" y="13392302"/>
            <a:ext cx="921716" cy="921716"/>
          </a:xfrm>
          <a:prstGeom prst="rect">
            <a:avLst/>
          </a:prstGeom>
        </p:spPr>
      </p:pic>
      <p:sp>
        <p:nvSpPr>
          <p:cNvPr id="46" name="fs4-tile"/>
          <p:cNvSpPr/>
          <p:nvPr/>
        </p:nvSpPr>
        <p:spPr>
          <a:xfrm>
            <a:off x="5513832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fs4-img" descr="s0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1614" y="13392302"/>
            <a:ext cx="921716" cy="921716"/>
          </a:xfrm>
          <a:prstGeom prst="rect">
            <a:avLst/>
          </a:prstGeom>
        </p:spPr>
      </p:pic>
      <p:sp>
        <p:nvSpPr>
          <p:cNvPr id="48" name="fs5-tile"/>
          <p:cNvSpPr/>
          <p:nvPr/>
        </p:nvSpPr>
        <p:spPr>
          <a:xfrm>
            <a:off x="672084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fs5-img" descr="s0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08622" y="13392302"/>
            <a:ext cx="921716" cy="921716"/>
          </a:xfrm>
          <a:prstGeom prst="rect">
            <a:avLst/>
          </a:prstGeom>
        </p:spPr>
      </p:pic>
      <p:sp>
        <p:nvSpPr>
          <p:cNvPr id="50" name="fs6-tile"/>
          <p:cNvSpPr/>
          <p:nvPr/>
        </p:nvSpPr>
        <p:spPr>
          <a:xfrm>
            <a:off x="792784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fs6-img" descr="s0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15630" y="13392302"/>
            <a:ext cx="921716" cy="921716"/>
          </a:xfrm>
          <a:prstGeom prst="rect">
            <a:avLst/>
          </a:prstGeom>
        </p:spPr>
      </p:pic>
      <p:sp>
        <p:nvSpPr>
          <p:cNvPr id="52" name="fs7-tile"/>
          <p:cNvSpPr/>
          <p:nvPr/>
        </p:nvSpPr>
        <p:spPr>
          <a:xfrm>
            <a:off x="913485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fs7-img" descr="s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22638" y="13392302"/>
            <a:ext cx="921716" cy="921716"/>
          </a:xfrm>
          <a:prstGeom prst="rect">
            <a:avLst/>
          </a:prstGeom>
        </p:spPr>
      </p:pic>
      <p:sp>
        <p:nvSpPr>
          <p:cNvPr id="54" name="fs8-tile"/>
          <p:cNvSpPr/>
          <p:nvPr/>
        </p:nvSpPr>
        <p:spPr>
          <a:xfrm>
            <a:off x="1034186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fs8-img" descr="s1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29646" y="13392302"/>
            <a:ext cx="921716" cy="9217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速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購入体験 — 会員登録なしで3分で注文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Худалдан авах урсгал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10 / 16</a:t>
            </a:r>
          </a:p>
        </p:txBody>
      </p:sp>
      <p:sp>
        <p:nvSpPr>
          <p:cNvPr id="11" name="intro"/>
          <p:cNvSpPr txBox="1"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Yu Gothic UI"/>
              </a:rPr>
              <a:t>ゲスト購入。SMS確認で不正注文を防ぎ、クーポン・会員割引・ストアクレジット・ギフトカードを同じ画面で使える。</a:t>
            </a:r>
          </a:p>
        </p:txBody>
      </p:sp>
      <p:sp>
        <p:nvSpPr>
          <p:cNvPr id="12" name="line"/>
          <p:cNvSpPr/>
          <p:nvPr/>
        </p:nvSpPr>
        <p:spPr>
          <a:xfrm>
            <a:off x="1097280" y="2971800"/>
            <a:ext cx="9966960" cy="45720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ep0-ring"/>
          <p:cNvSpPr/>
          <p:nvPr/>
        </p:nvSpPr>
        <p:spPr>
          <a:xfrm>
            <a:off x="1097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ep0-bg"/>
          <p:cNvSpPr/>
          <p:nvPr/>
        </p:nvSpPr>
        <p:spPr>
          <a:xfrm>
            <a:off x="1188720" y="2404872"/>
            <a:ext cx="1188720" cy="118872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tep0-ic" descr="b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238" y="2666390"/>
            <a:ext cx="665684" cy="665684"/>
          </a:xfrm>
          <a:prstGeom prst="rect">
            <a:avLst/>
          </a:prstGeom>
        </p:spPr>
      </p:pic>
      <p:sp>
        <p:nvSpPr>
          <p:cNvPr id="16" name="step0-n"/>
          <p:cNvSpPr txBox="1"/>
          <p:nvPr/>
        </p:nvSpPr>
        <p:spPr>
          <a:xfrm>
            <a:off x="640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B3122B"/>
                </a:solidFill>
                <a:latin typeface="Segoe UI"/>
              </a:rPr>
              <a:t>STEP 1</a:t>
            </a:r>
          </a:p>
        </p:txBody>
      </p:sp>
      <p:sp>
        <p:nvSpPr>
          <p:cNvPr id="17" name="step0-t"/>
          <p:cNvSpPr txBox="1"/>
          <p:nvPr/>
        </p:nvSpPr>
        <p:spPr>
          <a:xfrm>
            <a:off x="640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商品を選ぶ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Бараа сонгох</a:t>
            </a:r>
          </a:p>
        </p:txBody>
      </p:sp>
      <p:sp>
        <p:nvSpPr>
          <p:cNvPr id="18" name="step1-ring"/>
          <p:cNvSpPr/>
          <p:nvPr/>
        </p:nvSpPr>
        <p:spPr>
          <a:xfrm>
            <a:off x="3383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ep1-bg"/>
          <p:cNvSpPr/>
          <p:nvPr/>
        </p:nvSpPr>
        <p:spPr>
          <a:xfrm>
            <a:off x="3474720" y="2404872"/>
            <a:ext cx="1188720" cy="11887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step1-ic" descr="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238" y="2666390"/>
            <a:ext cx="665684" cy="665684"/>
          </a:xfrm>
          <a:prstGeom prst="rect">
            <a:avLst/>
          </a:prstGeom>
        </p:spPr>
      </p:pic>
      <p:sp>
        <p:nvSpPr>
          <p:cNvPr id="21" name="step1-n"/>
          <p:cNvSpPr txBox="1"/>
          <p:nvPr/>
        </p:nvSpPr>
        <p:spPr>
          <a:xfrm>
            <a:off x="2926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99312"/>
                </a:solidFill>
                <a:latin typeface="Segoe UI"/>
              </a:rPr>
              <a:t>STEP 2</a:t>
            </a:r>
          </a:p>
        </p:txBody>
      </p:sp>
      <p:sp>
        <p:nvSpPr>
          <p:cNvPr id="22" name="step1-t"/>
          <p:cNvSpPr txBox="1"/>
          <p:nvPr/>
        </p:nvSpPr>
        <p:spPr>
          <a:xfrm>
            <a:off x="2926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電話番号をSMS確認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Утас SMS-ээр баталгаажуулах</a:t>
            </a:r>
          </a:p>
        </p:txBody>
      </p:sp>
      <p:sp>
        <p:nvSpPr>
          <p:cNvPr id="23" name="step2-ring"/>
          <p:cNvSpPr/>
          <p:nvPr/>
        </p:nvSpPr>
        <p:spPr>
          <a:xfrm>
            <a:off x="5669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ep2-bg"/>
          <p:cNvSpPr/>
          <p:nvPr/>
        </p:nvSpPr>
        <p:spPr>
          <a:xfrm>
            <a:off x="5760720" y="2404872"/>
            <a:ext cx="1188720" cy="118872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step2-ic" descr="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2238" y="2666390"/>
            <a:ext cx="665684" cy="665684"/>
          </a:xfrm>
          <a:prstGeom prst="rect">
            <a:avLst/>
          </a:prstGeom>
        </p:spPr>
      </p:pic>
      <p:sp>
        <p:nvSpPr>
          <p:cNvPr id="26" name="step2-n"/>
          <p:cNvSpPr txBox="1"/>
          <p:nvPr/>
        </p:nvSpPr>
        <p:spPr>
          <a:xfrm>
            <a:off x="5212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FB3"/>
                </a:solidFill>
                <a:latin typeface="Segoe UI"/>
              </a:rPr>
              <a:t>STEP 3</a:t>
            </a:r>
          </a:p>
        </p:txBody>
      </p:sp>
      <p:sp>
        <p:nvSpPr>
          <p:cNvPr id="27" name="step2-t"/>
          <p:cNvSpPr txBox="1"/>
          <p:nvPr/>
        </p:nvSpPr>
        <p:spPr>
          <a:xfrm>
            <a:off x="5212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配送か店舗受取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Хүргэлт / салбар</a:t>
            </a:r>
          </a:p>
        </p:txBody>
      </p:sp>
      <p:sp>
        <p:nvSpPr>
          <p:cNvPr id="28" name="step3-ring"/>
          <p:cNvSpPr/>
          <p:nvPr/>
        </p:nvSpPr>
        <p:spPr>
          <a:xfrm>
            <a:off x="7955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ep3-bg"/>
          <p:cNvSpPr/>
          <p:nvPr/>
        </p:nvSpPr>
        <p:spPr>
          <a:xfrm>
            <a:off x="8046720" y="2404872"/>
            <a:ext cx="1188720" cy="11887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step3-ic" descr="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8238" y="2666390"/>
            <a:ext cx="665684" cy="665684"/>
          </a:xfrm>
          <a:prstGeom prst="rect">
            <a:avLst/>
          </a:prstGeom>
        </p:spPr>
      </p:pic>
      <p:sp>
        <p:nvSpPr>
          <p:cNvPr id="31" name="step3-n"/>
          <p:cNvSpPr txBox="1"/>
          <p:nvPr/>
        </p:nvSpPr>
        <p:spPr>
          <a:xfrm>
            <a:off x="7498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B4F"/>
                </a:solidFill>
                <a:latin typeface="Segoe UI"/>
              </a:rPr>
              <a:t>STEP 4</a:t>
            </a:r>
          </a:p>
        </p:txBody>
      </p:sp>
      <p:sp>
        <p:nvSpPr>
          <p:cNvPr id="32" name="step3-t"/>
          <p:cNvSpPr txBox="1"/>
          <p:nvPr/>
        </p:nvSpPr>
        <p:spPr>
          <a:xfrm>
            <a:off x="7498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現金・QPay・StorePay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Бэлэн, QPay, StorePay</a:t>
            </a:r>
          </a:p>
        </p:txBody>
      </p:sp>
      <p:sp>
        <p:nvSpPr>
          <p:cNvPr id="33" name="step4-ring"/>
          <p:cNvSpPr/>
          <p:nvPr/>
        </p:nvSpPr>
        <p:spPr>
          <a:xfrm>
            <a:off x="10241280" y="105430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tep4-bg"/>
          <p:cNvSpPr/>
          <p:nvPr/>
        </p:nvSpPr>
        <p:spPr>
          <a:xfrm>
            <a:off x="10332720" y="10634472"/>
            <a:ext cx="1188720" cy="118872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step4-ic" descr="be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4238" y="10895990"/>
            <a:ext cx="665684" cy="665684"/>
          </a:xfrm>
          <a:prstGeom prst="rect">
            <a:avLst/>
          </a:prstGeom>
        </p:spPr>
      </p:pic>
      <p:sp>
        <p:nvSpPr>
          <p:cNvPr id="36" name="step4-n"/>
          <p:cNvSpPr txBox="1"/>
          <p:nvPr/>
        </p:nvSpPr>
        <p:spPr>
          <a:xfrm>
            <a:off x="9784080" y="100401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B4FC9"/>
                </a:solidFill>
                <a:latin typeface="Segoe UI"/>
              </a:rPr>
              <a:t>STEP 5</a:t>
            </a:r>
          </a:p>
        </p:txBody>
      </p:sp>
      <p:sp>
        <p:nvSpPr>
          <p:cNvPr id="37" name="step4-t"/>
          <p:cNvSpPr txBox="1"/>
          <p:nvPr/>
        </p:nvSpPr>
        <p:spPr>
          <a:xfrm>
            <a:off x="9784080" y="120243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通知・PDF領収書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Мэдэгдэл, PDF баримт</a:t>
            </a:r>
          </a:p>
        </p:txBody>
      </p:sp>
      <p:sp>
        <p:nvSpPr>
          <p:cNvPr id="38" name="fs0-tile"/>
          <p:cNvSpPr/>
          <p:nvPr/>
        </p:nvSpPr>
        <p:spPr>
          <a:xfrm>
            <a:off x="68580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fs0-img" descr="s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582" y="13392302"/>
            <a:ext cx="921716" cy="921716"/>
          </a:xfrm>
          <a:prstGeom prst="rect">
            <a:avLst/>
          </a:prstGeom>
        </p:spPr>
      </p:pic>
      <p:sp>
        <p:nvSpPr>
          <p:cNvPr id="40" name="fs1-tile"/>
          <p:cNvSpPr/>
          <p:nvPr/>
        </p:nvSpPr>
        <p:spPr>
          <a:xfrm>
            <a:off x="189280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fs1-img" descr="s1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0590" y="13392302"/>
            <a:ext cx="921716" cy="921716"/>
          </a:xfrm>
          <a:prstGeom prst="rect">
            <a:avLst/>
          </a:prstGeom>
        </p:spPr>
      </p:pic>
      <p:sp>
        <p:nvSpPr>
          <p:cNvPr id="42" name="fs2-tile"/>
          <p:cNvSpPr/>
          <p:nvPr/>
        </p:nvSpPr>
        <p:spPr>
          <a:xfrm>
            <a:off x="309981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fs2-img" descr="s1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7598" y="13392302"/>
            <a:ext cx="921716" cy="921716"/>
          </a:xfrm>
          <a:prstGeom prst="rect">
            <a:avLst/>
          </a:prstGeom>
        </p:spPr>
      </p:pic>
      <p:sp>
        <p:nvSpPr>
          <p:cNvPr id="44" name="fs3-tile"/>
          <p:cNvSpPr/>
          <p:nvPr/>
        </p:nvSpPr>
        <p:spPr>
          <a:xfrm>
            <a:off x="430682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fs3-img" descr="s0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94606" y="13392302"/>
            <a:ext cx="921716" cy="921716"/>
          </a:xfrm>
          <a:prstGeom prst="rect">
            <a:avLst/>
          </a:prstGeom>
        </p:spPr>
      </p:pic>
      <p:sp>
        <p:nvSpPr>
          <p:cNvPr id="46" name="fs4-tile"/>
          <p:cNvSpPr/>
          <p:nvPr/>
        </p:nvSpPr>
        <p:spPr>
          <a:xfrm>
            <a:off x="5513832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fs4-img" descr="s0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1614" y="13392302"/>
            <a:ext cx="921716" cy="921716"/>
          </a:xfrm>
          <a:prstGeom prst="rect">
            <a:avLst/>
          </a:prstGeom>
        </p:spPr>
      </p:pic>
      <p:sp>
        <p:nvSpPr>
          <p:cNvPr id="48" name="fs5-tile"/>
          <p:cNvSpPr/>
          <p:nvPr/>
        </p:nvSpPr>
        <p:spPr>
          <a:xfrm>
            <a:off x="672084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fs5-img" descr="s0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08622" y="13392302"/>
            <a:ext cx="921716" cy="921716"/>
          </a:xfrm>
          <a:prstGeom prst="rect">
            <a:avLst/>
          </a:prstGeom>
        </p:spPr>
      </p:pic>
      <p:sp>
        <p:nvSpPr>
          <p:cNvPr id="50" name="fs6-tile"/>
          <p:cNvSpPr/>
          <p:nvPr/>
        </p:nvSpPr>
        <p:spPr>
          <a:xfrm>
            <a:off x="792784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fs6-img" descr="s0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15630" y="13392302"/>
            <a:ext cx="921716" cy="921716"/>
          </a:xfrm>
          <a:prstGeom prst="rect">
            <a:avLst/>
          </a:prstGeom>
        </p:spPr>
      </p:pic>
      <p:sp>
        <p:nvSpPr>
          <p:cNvPr id="52" name="fs7-tile"/>
          <p:cNvSpPr/>
          <p:nvPr/>
        </p:nvSpPr>
        <p:spPr>
          <a:xfrm>
            <a:off x="913485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fs7-img" descr="s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22638" y="13392302"/>
            <a:ext cx="921716" cy="921716"/>
          </a:xfrm>
          <a:prstGeom prst="rect">
            <a:avLst/>
          </a:prstGeom>
        </p:spPr>
      </p:pic>
      <p:sp>
        <p:nvSpPr>
          <p:cNvPr id="54" name="fs8-tile"/>
          <p:cNvSpPr/>
          <p:nvPr/>
        </p:nvSpPr>
        <p:spPr>
          <a:xfrm>
            <a:off x="1034186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fs8-img" descr="s1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29646" y="13392302"/>
            <a:ext cx="921716" cy="9217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速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購入体験 — 会員登録なしで3分で注文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Худалдан авах урсгал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10 / 16</a:t>
            </a:r>
          </a:p>
        </p:txBody>
      </p:sp>
      <p:sp>
        <p:nvSpPr>
          <p:cNvPr id="11" name="intro"/>
          <p:cNvSpPr txBox="1"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Yu Gothic UI"/>
              </a:rPr>
              <a:t>ゲスト購入。SMS確認で不正注文を防ぎ、クーポン・会員割引・ストアクレジット・ギフトカードを同じ画面で使える。</a:t>
            </a:r>
          </a:p>
        </p:txBody>
      </p:sp>
      <p:sp>
        <p:nvSpPr>
          <p:cNvPr id="12" name="line"/>
          <p:cNvSpPr/>
          <p:nvPr/>
        </p:nvSpPr>
        <p:spPr>
          <a:xfrm>
            <a:off x="1097280" y="2971800"/>
            <a:ext cx="9966960" cy="45720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ep0-ring"/>
          <p:cNvSpPr/>
          <p:nvPr/>
        </p:nvSpPr>
        <p:spPr>
          <a:xfrm>
            <a:off x="1097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ep0-bg"/>
          <p:cNvSpPr/>
          <p:nvPr/>
        </p:nvSpPr>
        <p:spPr>
          <a:xfrm>
            <a:off x="1188720" y="2404872"/>
            <a:ext cx="1188720" cy="118872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tep0-ic" descr="b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238" y="2666390"/>
            <a:ext cx="665684" cy="665684"/>
          </a:xfrm>
          <a:prstGeom prst="rect">
            <a:avLst/>
          </a:prstGeom>
        </p:spPr>
      </p:pic>
      <p:sp>
        <p:nvSpPr>
          <p:cNvPr id="16" name="step0-n"/>
          <p:cNvSpPr txBox="1"/>
          <p:nvPr/>
        </p:nvSpPr>
        <p:spPr>
          <a:xfrm>
            <a:off x="640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B3122B"/>
                </a:solidFill>
                <a:latin typeface="Segoe UI"/>
              </a:rPr>
              <a:t>STEP 1</a:t>
            </a:r>
          </a:p>
        </p:txBody>
      </p:sp>
      <p:sp>
        <p:nvSpPr>
          <p:cNvPr id="17" name="step0-t"/>
          <p:cNvSpPr txBox="1"/>
          <p:nvPr/>
        </p:nvSpPr>
        <p:spPr>
          <a:xfrm>
            <a:off x="640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商品を選ぶ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Бараа сонгох</a:t>
            </a:r>
          </a:p>
        </p:txBody>
      </p:sp>
      <p:sp>
        <p:nvSpPr>
          <p:cNvPr id="18" name="step1-ring"/>
          <p:cNvSpPr/>
          <p:nvPr/>
        </p:nvSpPr>
        <p:spPr>
          <a:xfrm>
            <a:off x="3383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ep1-bg"/>
          <p:cNvSpPr/>
          <p:nvPr/>
        </p:nvSpPr>
        <p:spPr>
          <a:xfrm>
            <a:off x="3474720" y="2404872"/>
            <a:ext cx="1188720" cy="11887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step1-ic" descr="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238" y="2666390"/>
            <a:ext cx="665684" cy="665684"/>
          </a:xfrm>
          <a:prstGeom prst="rect">
            <a:avLst/>
          </a:prstGeom>
        </p:spPr>
      </p:pic>
      <p:sp>
        <p:nvSpPr>
          <p:cNvPr id="21" name="step1-n"/>
          <p:cNvSpPr txBox="1"/>
          <p:nvPr/>
        </p:nvSpPr>
        <p:spPr>
          <a:xfrm>
            <a:off x="2926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99312"/>
                </a:solidFill>
                <a:latin typeface="Segoe UI"/>
              </a:rPr>
              <a:t>STEP 2</a:t>
            </a:r>
          </a:p>
        </p:txBody>
      </p:sp>
      <p:sp>
        <p:nvSpPr>
          <p:cNvPr id="22" name="step1-t"/>
          <p:cNvSpPr txBox="1"/>
          <p:nvPr/>
        </p:nvSpPr>
        <p:spPr>
          <a:xfrm>
            <a:off x="2926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電話番号をSMS確認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Утас SMS-ээр баталгаажуулах</a:t>
            </a:r>
          </a:p>
        </p:txBody>
      </p:sp>
      <p:sp>
        <p:nvSpPr>
          <p:cNvPr id="23" name="step2-ring"/>
          <p:cNvSpPr/>
          <p:nvPr/>
        </p:nvSpPr>
        <p:spPr>
          <a:xfrm>
            <a:off x="5669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ep2-bg"/>
          <p:cNvSpPr/>
          <p:nvPr/>
        </p:nvSpPr>
        <p:spPr>
          <a:xfrm>
            <a:off x="5760720" y="2404872"/>
            <a:ext cx="1188720" cy="118872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step2-ic" descr="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2238" y="2666390"/>
            <a:ext cx="665684" cy="665684"/>
          </a:xfrm>
          <a:prstGeom prst="rect">
            <a:avLst/>
          </a:prstGeom>
        </p:spPr>
      </p:pic>
      <p:sp>
        <p:nvSpPr>
          <p:cNvPr id="26" name="step2-n"/>
          <p:cNvSpPr txBox="1"/>
          <p:nvPr/>
        </p:nvSpPr>
        <p:spPr>
          <a:xfrm>
            <a:off x="5212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FB3"/>
                </a:solidFill>
                <a:latin typeface="Segoe UI"/>
              </a:rPr>
              <a:t>STEP 3</a:t>
            </a:r>
          </a:p>
        </p:txBody>
      </p:sp>
      <p:sp>
        <p:nvSpPr>
          <p:cNvPr id="27" name="step2-t"/>
          <p:cNvSpPr txBox="1"/>
          <p:nvPr/>
        </p:nvSpPr>
        <p:spPr>
          <a:xfrm>
            <a:off x="5212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配送か店舗受取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Хүргэлт / салбар</a:t>
            </a:r>
          </a:p>
        </p:txBody>
      </p:sp>
      <p:sp>
        <p:nvSpPr>
          <p:cNvPr id="28" name="step3-ring"/>
          <p:cNvSpPr/>
          <p:nvPr/>
        </p:nvSpPr>
        <p:spPr>
          <a:xfrm>
            <a:off x="7955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ep3-bg"/>
          <p:cNvSpPr/>
          <p:nvPr/>
        </p:nvSpPr>
        <p:spPr>
          <a:xfrm>
            <a:off x="8046720" y="2404872"/>
            <a:ext cx="1188720" cy="11887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step3-ic" descr="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8238" y="2666390"/>
            <a:ext cx="665684" cy="665684"/>
          </a:xfrm>
          <a:prstGeom prst="rect">
            <a:avLst/>
          </a:prstGeom>
        </p:spPr>
      </p:pic>
      <p:sp>
        <p:nvSpPr>
          <p:cNvPr id="31" name="step3-n"/>
          <p:cNvSpPr txBox="1"/>
          <p:nvPr/>
        </p:nvSpPr>
        <p:spPr>
          <a:xfrm>
            <a:off x="7498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B4F"/>
                </a:solidFill>
                <a:latin typeface="Segoe UI"/>
              </a:rPr>
              <a:t>STEP 4</a:t>
            </a:r>
          </a:p>
        </p:txBody>
      </p:sp>
      <p:sp>
        <p:nvSpPr>
          <p:cNvPr id="32" name="step3-t"/>
          <p:cNvSpPr txBox="1"/>
          <p:nvPr/>
        </p:nvSpPr>
        <p:spPr>
          <a:xfrm>
            <a:off x="7498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現金・QPay・StorePay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Бэлэн, QPay, StorePay</a:t>
            </a:r>
          </a:p>
        </p:txBody>
      </p:sp>
      <p:sp>
        <p:nvSpPr>
          <p:cNvPr id="33" name="step4-ring"/>
          <p:cNvSpPr/>
          <p:nvPr/>
        </p:nvSpPr>
        <p:spPr>
          <a:xfrm>
            <a:off x="10241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tep4-bg"/>
          <p:cNvSpPr/>
          <p:nvPr/>
        </p:nvSpPr>
        <p:spPr>
          <a:xfrm>
            <a:off x="10332720" y="2404872"/>
            <a:ext cx="1188720" cy="118872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step4-ic" descr="be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4238" y="2666390"/>
            <a:ext cx="665684" cy="665684"/>
          </a:xfrm>
          <a:prstGeom prst="rect">
            <a:avLst/>
          </a:prstGeom>
        </p:spPr>
      </p:pic>
      <p:sp>
        <p:nvSpPr>
          <p:cNvPr id="36" name="step4-n"/>
          <p:cNvSpPr txBox="1"/>
          <p:nvPr/>
        </p:nvSpPr>
        <p:spPr>
          <a:xfrm>
            <a:off x="9784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B4FC9"/>
                </a:solidFill>
                <a:latin typeface="Segoe UI"/>
              </a:rPr>
              <a:t>STEP 5</a:t>
            </a:r>
          </a:p>
        </p:txBody>
      </p:sp>
      <p:sp>
        <p:nvSpPr>
          <p:cNvPr id="37" name="step4-t"/>
          <p:cNvSpPr txBox="1"/>
          <p:nvPr/>
        </p:nvSpPr>
        <p:spPr>
          <a:xfrm>
            <a:off x="9784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通知・PDF領収書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Мэдэгдэл, PDF баримт</a:t>
            </a:r>
          </a:p>
        </p:txBody>
      </p:sp>
      <p:sp>
        <p:nvSpPr>
          <p:cNvPr id="38" name="fs0-tile"/>
          <p:cNvSpPr/>
          <p:nvPr/>
        </p:nvSpPr>
        <p:spPr>
          <a:xfrm>
            <a:off x="68580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fs0-img" descr="s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582" y="13392302"/>
            <a:ext cx="921716" cy="921716"/>
          </a:xfrm>
          <a:prstGeom prst="rect">
            <a:avLst/>
          </a:prstGeom>
        </p:spPr>
      </p:pic>
      <p:sp>
        <p:nvSpPr>
          <p:cNvPr id="40" name="fs1-tile"/>
          <p:cNvSpPr/>
          <p:nvPr/>
        </p:nvSpPr>
        <p:spPr>
          <a:xfrm>
            <a:off x="189280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fs1-img" descr="s1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0590" y="13392302"/>
            <a:ext cx="921716" cy="921716"/>
          </a:xfrm>
          <a:prstGeom prst="rect">
            <a:avLst/>
          </a:prstGeom>
        </p:spPr>
      </p:pic>
      <p:sp>
        <p:nvSpPr>
          <p:cNvPr id="42" name="fs2-tile"/>
          <p:cNvSpPr/>
          <p:nvPr/>
        </p:nvSpPr>
        <p:spPr>
          <a:xfrm>
            <a:off x="309981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fs2-img" descr="s1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7598" y="13392302"/>
            <a:ext cx="921716" cy="921716"/>
          </a:xfrm>
          <a:prstGeom prst="rect">
            <a:avLst/>
          </a:prstGeom>
        </p:spPr>
      </p:pic>
      <p:sp>
        <p:nvSpPr>
          <p:cNvPr id="44" name="fs3-tile"/>
          <p:cNvSpPr/>
          <p:nvPr/>
        </p:nvSpPr>
        <p:spPr>
          <a:xfrm>
            <a:off x="430682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fs3-img" descr="s0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94606" y="13392302"/>
            <a:ext cx="921716" cy="921716"/>
          </a:xfrm>
          <a:prstGeom prst="rect">
            <a:avLst/>
          </a:prstGeom>
        </p:spPr>
      </p:pic>
      <p:sp>
        <p:nvSpPr>
          <p:cNvPr id="46" name="fs4-tile"/>
          <p:cNvSpPr/>
          <p:nvPr/>
        </p:nvSpPr>
        <p:spPr>
          <a:xfrm>
            <a:off x="5513832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fs4-img" descr="s0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1614" y="13392302"/>
            <a:ext cx="921716" cy="921716"/>
          </a:xfrm>
          <a:prstGeom prst="rect">
            <a:avLst/>
          </a:prstGeom>
        </p:spPr>
      </p:pic>
      <p:sp>
        <p:nvSpPr>
          <p:cNvPr id="48" name="fs5-tile"/>
          <p:cNvSpPr/>
          <p:nvPr/>
        </p:nvSpPr>
        <p:spPr>
          <a:xfrm>
            <a:off x="672084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fs5-img" descr="s0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08622" y="13392302"/>
            <a:ext cx="921716" cy="921716"/>
          </a:xfrm>
          <a:prstGeom prst="rect">
            <a:avLst/>
          </a:prstGeom>
        </p:spPr>
      </p:pic>
      <p:sp>
        <p:nvSpPr>
          <p:cNvPr id="50" name="fs6-tile"/>
          <p:cNvSpPr/>
          <p:nvPr/>
        </p:nvSpPr>
        <p:spPr>
          <a:xfrm>
            <a:off x="792784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fs6-img" descr="s0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15630" y="13392302"/>
            <a:ext cx="921716" cy="921716"/>
          </a:xfrm>
          <a:prstGeom prst="rect">
            <a:avLst/>
          </a:prstGeom>
        </p:spPr>
      </p:pic>
      <p:sp>
        <p:nvSpPr>
          <p:cNvPr id="52" name="fs7-tile"/>
          <p:cNvSpPr/>
          <p:nvPr/>
        </p:nvSpPr>
        <p:spPr>
          <a:xfrm>
            <a:off x="913485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fs7-img" descr="s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22638" y="13392302"/>
            <a:ext cx="921716" cy="921716"/>
          </a:xfrm>
          <a:prstGeom prst="rect">
            <a:avLst/>
          </a:prstGeom>
        </p:spPr>
      </p:pic>
      <p:sp>
        <p:nvSpPr>
          <p:cNvPr id="54" name="fs8-tile"/>
          <p:cNvSpPr/>
          <p:nvPr/>
        </p:nvSpPr>
        <p:spPr>
          <a:xfrm>
            <a:off x="1034186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fs8-img" descr="s1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29646" y="13392302"/>
            <a:ext cx="921716" cy="9217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速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購入体験 — 会員登録なしで3分で注文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Худалдан авах урсгал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10 / 16</a:t>
            </a:r>
          </a:p>
        </p:txBody>
      </p:sp>
      <p:sp>
        <p:nvSpPr>
          <p:cNvPr id="11" name="intro"/>
          <p:cNvSpPr txBox="1"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Yu Gothic UI"/>
              </a:rPr>
              <a:t>ゲスト購入。SMS確認で不正注文を防ぎ、クーポン・会員割引・ストアクレジット・ギフトカードを同じ画面で使える。</a:t>
            </a:r>
          </a:p>
        </p:txBody>
      </p:sp>
      <p:sp>
        <p:nvSpPr>
          <p:cNvPr id="12" name="line"/>
          <p:cNvSpPr/>
          <p:nvPr/>
        </p:nvSpPr>
        <p:spPr>
          <a:xfrm>
            <a:off x="1097280" y="2971800"/>
            <a:ext cx="9966960" cy="45720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ep0-ring"/>
          <p:cNvSpPr/>
          <p:nvPr/>
        </p:nvSpPr>
        <p:spPr>
          <a:xfrm>
            <a:off x="1097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ep0-bg"/>
          <p:cNvSpPr/>
          <p:nvPr/>
        </p:nvSpPr>
        <p:spPr>
          <a:xfrm>
            <a:off x="1188720" y="2404872"/>
            <a:ext cx="1188720" cy="118872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tep0-ic" descr="b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238" y="2666390"/>
            <a:ext cx="665684" cy="665684"/>
          </a:xfrm>
          <a:prstGeom prst="rect">
            <a:avLst/>
          </a:prstGeom>
        </p:spPr>
      </p:pic>
      <p:sp>
        <p:nvSpPr>
          <p:cNvPr id="16" name="step0-n"/>
          <p:cNvSpPr txBox="1"/>
          <p:nvPr/>
        </p:nvSpPr>
        <p:spPr>
          <a:xfrm>
            <a:off x="640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B3122B"/>
                </a:solidFill>
                <a:latin typeface="Segoe UI"/>
              </a:rPr>
              <a:t>STEP 1</a:t>
            </a:r>
          </a:p>
        </p:txBody>
      </p:sp>
      <p:sp>
        <p:nvSpPr>
          <p:cNvPr id="17" name="step0-t"/>
          <p:cNvSpPr txBox="1"/>
          <p:nvPr/>
        </p:nvSpPr>
        <p:spPr>
          <a:xfrm>
            <a:off x="640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商品を選ぶ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Бараа сонгох</a:t>
            </a:r>
          </a:p>
        </p:txBody>
      </p:sp>
      <p:sp>
        <p:nvSpPr>
          <p:cNvPr id="18" name="step1-ring"/>
          <p:cNvSpPr/>
          <p:nvPr/>
        </p:nvSpPr>
        <p:spPr>
          <a:xfrm>
            <a:off x="3383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ep1-bg"/>
          <p:cNvSpPr/>
          <p:nvPr/>
        </p:nvSpPr>
        <p:spPr>
          <a:xfrm>
            <a:off x="3474720" y="2404872"/>
            <a:ext cx="1188720" cy="11887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step1-ic" descr="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238" y="2666390"/>
            <a:ext cx="665684" cy="665684"/>
          </a:xfrm>
          <a:prstGeom prst="rect">
            <a:avLst/>
          </a:prstGeom>
        </p:spPr>
      </p:pic>
      <p:sp>
        <p:nvSpPr>
          <p:cNvPr id="21" name="step1-n"/>
          <p:cNvSpPr txBox="1"/>
          <p:nvPr/>
        </p:nvSpPr>
        <p:spPr>
          <a:xfrm>
            <a:off x="2926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99312"/>
                </a:solidFill>
                <a:latin typeface="Segoe UI"/>
              </a:rPr>
              <a:t>STEP 2</a:t>
            </a:r>
          </a:p>
        </p:txBody>
      </p:sp>
      <p:sp>
        <p:nvSpPr>
          <p:cNvPr id="22" name="step1-t"/>
          <p:cNvSpPr txBox="1"/>
          <p:nvPr/>
        </p:nvSpPr>
        <p:spPr>
          <a:xfrm>
            <a:off x="2926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電話番号をSMS確認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Утас SMS-ээр баталгаажуулах</a:t>
            </a:r>
          </a:p>
        </p:txBody>
      </p:sp>
      <p:sp>
        <p:nvSpPr>
          <p:cNvPr id="23" name="step2-ring"/>
          <p:cNvSpPr/>
          <p:nvPr/>
        </p:nvSpPr>
        <p:spPr>
          <a:xfrm>
            <a:off x="5669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ep2-bg"/>
          <p:cNvSpPr/>
          <p:nvPr/>
        </p:nvSpPr>
        <p:spPr>
          <a:xfrm>
            <a:off x="5760720" y="2404872"/>
            <a:ext cx="1188720" cy="118872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step2-ic" descr="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2238" y="2666390"/>
            <a:ext cx="665684" cy="665684"/>
          </a:xfrm>
          <a:prstGeom prst="rect">
            <a:avLst/>
          </a:prstGeom>
        </p:spPr>
      </p:pic>
      <p:sp>
        <p:nvSpPr>
          <p:cNvPr id="26" name="step2-n"/>
          <p:cNvSpPr txBox="1"/>
          <p:nvPr/>
        </p:nvSpPr>
        <p:spPr>
          <a:xfrm>
            <a:off x="5212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FB3"/>
                </a:solidFill>
                <a:latin typeface="Segoe UI"/>
              </a:rPr>
              <a:t>STEP 3</a:t>
            </a:r>
          </a:p>
        </p:txBody>
      </p:sp>
      <p:sp>
        <p:nvSpPr>
          <p:cNvPr id="27" name="step2-t"/>
          <p:cNvSpPr txBox="1"/>
          <p:nvPr/>
        </p:nvSpPr>
        <p:spPr>
          <a:xfrm>
            <a:off x="5212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配送か店舗受取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Хүргэлт / салбар</a:t>
            </a:r>
          </a:p>
        </p:txBody>
      </p:sp>
      <p:sp>
        <p:nvSpPr>
          <p:cNvPr id="28" name="step3-ring"/>
          <p:cNvSpPr/>
          <p:nvPr/>
        </p:nvSpPr>
        <p:spPr>
          <a:xfrm>
            <a:off x="7955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ep3-bg"/>
          <p:cNvSpPr/>
          <p:nvPr/>
        </p:nvSpPr>
        <p:spPr>
          <a:xfrm>
            <a:off x="8046720" y="2404872"/>
            <a:ext cx="1188720" cy="11887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step3-ic" descr="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8238" y="2666390"/>
            <a:ext cx="665684" cy="665684"/>
          </a:xfrm>
          <a:prstGeom prst="rect">
            <a:avLst/>
          </a:prstGeom>
        </p:spPr>
      </p:pic>
      <p:sp>
        <p:nvSpPr>
          <p:cNvPr id="31" name="step3-n"/>
          <p:cNvSpPr txBox="1"/>
          <p:nvPr/>
        </p:nvSpPr>
        <p:spPr>
          <a:xfrm>
            <a:off x="7498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B4F"/>
                </a:solidFill>
                <a:latin typeface="Segoe UI"/>
              </a:rPr>
              <a:t>STEP 4</a:t>
            </a:r>
          </a:p>
        </p:txBody>
      </p:sp>
      <p:sp>
        <p:nvSpPr>
          <p:cNvPr id="32" name="step3-t"/>
          <p:cNvSpPr txBox="1"/>
          <p:nvPr/>
        </p:nvSpPr>
        <p:spPr>
          <a:xfrm>
            <a:off x="7498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現金・QPay・StorePay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Бэлэн, QPay, StorePay</a:t>
            </a:r>
          </a:p>
        </p:txBody>
      </p:sp>
      <p:sp>
        <p:nvSpPr>
          <p:cNvPr id="33" name="step4-ring"/>
          <p:cNvSpPr/>
          <p:nvPr/>
        </p:nvSpPr>
        <p:spPr>
          <a:xfrm>
            <a:off x="10241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tep4-bg"/>
          <p:cNvSpPr/>
          <p:nvPr/>
        </p:nvSpPr>
        <p:spPr>
          <a:xfrm>
            <a:off x="10332720" y="2404872"/>
            <a:ext cx="1188720" cy="118872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step4-ic" descr="be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4238" y="2666390"/>
            <a:ext cx="665684" cy="665684"/>
          </a:xfrm>
          <a:prstGeom prst="rect">
            <a:avLst/>
          </a:prstGeom>
        </p:spPr>
      </p:pic>
      <p:sp>
        <p:nvSpPr>
          <p:cNvPr id="36" name="step4-n"/>
          <p:cNvSpPr txBox="1"/>
          <p:nvPr/>
        </p:nvSpPr>
        <p:spPr>
          <a:xfrm>
            <a:off x="9784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B4FC9"/>
                </a:solidFill>
                <a:latin typeface="Segoe UI"/>
              </a:rPr>
              <a:t>STEP 5</a:t>
            </a:r>
          </a:p>
        </p:txBody>
      </p:sp>
      <p:sp>
        <p:nvSpPr>
          <p:cNvPr id="37" name="step4-t"/>
          <p:cNvSpPr txBox="1"/>
          <p:nvPr/>
        </p:nvSpPr>
        <p:spPr>
          <a:xfrm>
            <a:off x="9784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通知・PDF領収書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Мэдэгдэл, PDF баримт</a:t>
            </a:r>
          </a:p>
        </p:txBody>
      </p:sp>
      <p:sp>
        <p:nvSpPr>
          <p:cNvPr id="38" name="fs0-tile"/>
          <p:cNvSpPr/>
          <p:nvPr/>
        </p:nvSpPr>
        <p:spPr>
          <a:xfrm>
            <a:off x="685800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fs0-img" descr="s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582" y="5162702"/>
            <a:ext cx="921716" cy="921716"/>
          </a:xfrm>
          <a:prstGeom prst="rect">
            <a:avLst/>
          </a:prstGeom>
        </p:spPr>
      </p:pic>
      <p:sp>
        <p:nvSpPr>
          <p:cNvPr id="40" name="fs1-tile"/>
          <p:cNvSpPr/>
          <p:nvPr/>
        </p:nvSpPr>
        <p:spPr>
          <a:xfrm>
            <a:off x="1892808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fs1-img" descr="s1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0590" y="5162702"/>
            <a:ext cx="921716" cy="921716"/>
          </a:xfrm>
          <a:prstGeom prst="rect">
            <a:avLst/>
          </a:prstGeom>
        </p:spPr>
      </p:pic>
      <p:sp>
        <p:nvSpPr>
          <p:cNvPr id="42" name="fs2-tile"/>
          <p:cNvSpPr/>
          <p:nvPr/>
        </p:nvSpPr>
        <p:spPr>
          <a:xfrm>
            <a:off x="3099816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fs2-img" descr="s1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7598" y="5162702"/>
            <a:ext cx="921716" cy="921716"/>
          </a:xfrm>
          <a:prstGeom prst="rect">
            <a:avLst/>
          </a:prstGeom>
        </p:spPr>
      </p:pic>
      <p:sp>
        <p:nvSpPr>
          <p:cNvPr id="44" name="fs3-tile"/>
          <p:cNvSpPr/>
          <p:nvPr/>
        </p:nvSpPr>
        <p:spPr>
          <a:xfrm>
            <a:off x="4306824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fs3-img" descr="s0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94606" y="5162702"/>
            <a:ext cx="921716" cy="921716"/>
          </a:xfrm>
          <a:prstGeom prst="rect">
            <a:avLst/>
          </a:prstGeom>
        </p:spPr>
      </p:pic>
      <p:sp>
        <p:nvSpPr>
          <p:cNvPr id="46" name="fs4-tile"/>
          <p:cNvSpPr/>
          <p:nvPr/>
        </p:nvSpPr>
        <p:spPr>
          <a:xfrm>
            <a:off x="5513832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fs4-img" descr="s0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1614" y="5162702"/>
            <a:ext cx="921716" cy="921716"/>
          </a:xfrm>
          <a:prstGeom prst="rect">
            <a:avLst/>
          </a:prstGeom>
        </p:spPr>
      </p:pic>
      <p:sp>
        <p:nvSpPr>
          <p:cNvPr id="48" name="fs5-tile"/>
          <p:cNvSpPr/>
          <p:nvPr/>
        </p:nvSpPr>
        <p:spPr>
          <a:xfrm>
            <a:off x="6720840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fs5-img" descr="s0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08622" y="5162702"/>
            <a:ext cx="921716" cy="921716"/>
          </a:xfrm>
          <a:prstGeom prst="rect">
            <a:avLst/>
          </a:prstGeom>
        </p:spPr>
      </p:pic>
      <p:sp>
        <p:nvSpPr>
          <p:cNvPr id="50" name="fs6-tile"/>
          <p:cNvSpPr/>
          <p:nvPr/>
        </p:nvSpPr>
        <p:spPr>
          <a:xfrm>
            <a:off x="7927848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fs6-img" descr="s0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15630" y="5162702"/>
            <a:ext cx="921716" cy="921716"/>
          </a:xfrm>
          <a:prstGeom prst="rect">
            <a:avLst/>
          </a:prstGeom>
        </p:spPr>
      </p:pic>
      <p:sp>
        <p:nvSpPr>
          <p:cNvPr id="52" name="fs7-tile"/>
          <p:cNvSpPr/>
          <p:nvPr/>
        </p:nvSpPr>
        <p:spPr>
          <a:xfrm>
            <a:off x="9134856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fs7-img" descr="s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22638" y="5162702"/>
            <a:ext cx="921716" cy="921716"/>
          </a:xfrm>
          <a:prstGeom prst="rect">
            <a:avLst/>
          </a:prstGeom>
        </p:spPr>
      </p:pic>
      <p:sp>
        <p:nvSpPr>
          <p:cNvPr id="54" name="fs8-tile"/>
          <p:cNvSpPr/>
          <p:nvPr/>
        </p:nvSpPr>
        <p:spPr>
          <a:xfrm>
            <a:off x="10341864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fs8-img" descr="s1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29646" y="5162702"/>
            <a:ext cx="921716" cy="9217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運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店舗運営 — 1つの管理画面で4店舗と倉庫を運営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Дэлгүүрийн удирдлага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11 / 16</a:t>
            </a:r>
          </a:p>
        </p:txBody>
      </p:sp>
      <p:sp>
        <p:nvSpPr>
          <p:cNvPr id="11" name="admin-frame"/>
          <p:cNvSpPr/>
          <p:nvPr/>
        </p:nvSpPr>
        <p:spPr>
          <a:xfrm>
            <a:off x="548640" y="1783080"/>
            <a:ext cx="6949440" cy="4308652"/>
          </a:xfrm>
          <a:prstGeom prst="roundRect">
            <a:avLst>
              <a:gd name="adj" fmla="val 3000"/>
            </a:avLst>
          </a:prstGeom>
          <a:solidFill>
            <a:srgbClr val="2A2E35"/>
          </a:solidFill>
          <a:ln>
            <a:noFill/>
          </a:ln>
          <a:effectLst>
            <a:outerShdw blurRad="508000" dist="1778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admin-img" descr="slide-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929384"/>
            <a:ext cx="6656832" cy="4016044"/>
          </a:xfrm>
          <a:prstGeom prst="rect">
            <a:avLst/>
          </a:prstGeom>
        </p:spPr>
      </p:pic>
      <p:sp>
        <p:nvSpPr>
          <p:cNvPr id="13" name="admin-base"/>
          <p:cNvSpPr/>
          <p:nvPr/>
        </p:nvSpPr>
        <p:spPr>
          <a:xfrm>
            <a:off x="228600" y="6091732"/>
            <a:ext cx="7589520" cy="14630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p0"/>
          <p:cNvSpPr/>
          <p:nvPr/>
        </p:nvSpPr>
        <p:spPr>
          <a:xfrm>
            <a:off x="7818120" y="10012680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0-bg"/>
          <p:cNvSpPr/>
          <p:nvPr/>
        </p:nvSpPr>
        <p:spPr>
          <a:xfrm>
            <a:off x="7955280" y="10131552"/>
            <a:ext cx="512064" cy="512064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op0-ic" descr="b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934" y="10244206"/>
            <a:ext cx="286756" cy="286756"/>
          </a:xfrm>
          <a:prstGeom prst="rect">
            <a:avLst/>
          </a:prstGeom>
        </p:spPr>
      </p:pic>
      <p:sp>
        <p:nvSpPr>
          <p:cNvPr id="17" name="op0-t"/>
          <p:cNvSpPr txBox="1"/>
          <p:nvPr/>
        </p:nvSpPr>
        <p:spPr>
          <a:xfrm>
            <a:off x="8595360" y="10085832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注文ワークフロー・手入力注文・ピッキング印刷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Захиалгын урсгал, гар захиалга, бэлтгэх хуудас</a:t>
            </a:r>
          </a:p>
        </p:txBody>
      </p:sp>
      <p:sp>
        <p:nvSpPr>
          <p:cNvPr id="18" name="op1"/>
          <p:cNvSpPr/>
          <p:nvPr/>
        </p:nvSpPr>
        <p:spPr>
          <a:xfrm>
            <a:off x="7818120" y="10908792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p1-bg"/>
          <p:cNvSpPr/>
          <p:nvPr/>
        </p:nvSpPr>
        <p:spPr>
          <a:xfrm>
            <a:off x="7955280" y="11027664"/>
            <a:ext cx="512064" cy="512064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op1-ic" descr="sc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7934" y="11140318"/>
            <a:ext cx="286756" cy="286756"/>
          </a:xfrm>
          <a:prstGeom prst="rect">
            <a:avLst/>
          </a:prstGeom>
        </p:spPr>
      </p:pic>
      <p:sp>
        <p:nvSpPr>
          <p:cNvPr id="21" name="op1-t"/>
          <p:cNvSpPr txBox="1"/>
          <p:nvPr/>
        </p:nvSpPr>
        <p:spPr>
          <a:xfrm>
            <a:off x="8595360" y="1098194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在庫台帳・バーコード入荷・棚卸・店舗間移動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Нөөцийн ledger, сканнер, шилжүүлэг</a:t>
            </a:r>
          </a:p>
        </p:txBody>
      </p:sp>
      <p:sp>
        <p:nvSpPr>
          <p:cNvPr id="22" name="op2"/>
          <p:cNvSpPr/>
          <p:nvPr/>
        </p:nvSpPr>
        <p:spPr>
          <a:xfrm>
            <a:off x="7818120" y="11804904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p2-bg"/>
          <p:cNvSpPr/>
          <p:nvPr/>
        </p:nvSpPr>
        <p:spPr>
          <a:xfrm>
            <a:off x="7955280" y="11923776"/>
            <a:ext cx="512064" cy="51206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op2-ic" descr="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934" y="12036430"/>
            <a:ext cx="286756" cy="286756"/>
          </a:xfrm>
          <a:prstGeom prst="rect">
            <a:avLst/>
          </a:prstGeom>
        </p:spPr>
      </p:pic>
      <p:sp>
        <p:nvSpPr>
          <p:cNvPr id="25" name="op2-t"/>
          <p:cNvSpPr txBox="1"/>
          <p:nvPr/>
        </p:nvSpPr>
        <p:spPr>
          <a:xfrm>
            <a:off x="8595360" y="11878056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Smart POS（店舗レジ）と在庫同期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Smart POS-той нөөц синк</a:t>
            </a:r>
          </a:p>
        </p:txBody>
      </p:sp>
      <p:sp>
        <p:nvSpPr>
          <p:cNvPr id="26" name="op3"/>
          <p:cNvSpPr/>
          <p:nvPr/>
        </p:nvSpPr>
        <p:spPr>
          <a:xfrm>
            <a:off x="7818120" y="12701016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p3-bg"/>
          <p:cNvSpPr/>
          <p:nvPr/>
        </p:nvSpPr>
        <p:spPr>
          <a:xfrm>
            <a:off x="7955280" y="12819888"/>
            <a:ext cx="512064" cy="512064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op3-ic" descr="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7934" y="12932542"/>
            <a:ext cx="286756" cy="286756"/>
          </a:xfrm>
          <a:prstGeom prst="rect">
            <a:avLst/>
          </a:prstGeom>
        </p:spPr>
      </p:pic>
      <p:sp>
        <p:nvSpPr>
          <p:cNvPr id="29" name="op3-t"/>
          <p:cNvSpPr txBox="1"/>
          <p:nvPr/>
        </p:nvSpPr>
        <p:spPr>
          <a:xfrm>
            <a:off x="8595360" y="127741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売上・利益・転換率・返品率の分析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Аналитик самбар</a:t>
            </a:r>
          </a:p>
        </p:txBody>
      </p:sp>
      <p:sp>
        <p:nvSpPr>
          <p:cNvPr id="30" name="op4"/>
          <p:cNvSpPr/>
          <p:nvPr/>
        </p:nvSpPr>
        <p:spPr>
          <a:xfrm>
            <a:off x="7818120" y="13597128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p4-bg"/>
          <p:cNvSpPr/>
          <p:nvPr/>
        </p:nvSpPr>
        <p:spPr>
          <a:xfrm>
            <a:off x="7955280" y="13716000"/>
            <a:ext cx="512064" cy="512064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op4-ic" descr="ke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7934" y="13828654"/>
            <a:ext cx="286756" cy="286756"/>
          </a:xfrm>
          <a:prstGeom prst="rect">
            <a:avLst/>
          </a:prstGeom>
        </p:spPr>
      </p:pic>
      <p:sp>
        <p:nvSpPr>
          <p:cNvPr id="33" name="op4-t"/>
          <p:cNvSpPr txBox="1"/>
          <p:nvPr/>
        </p:nvSpPr>
        <p:spPr>
          <a:xfrm>
            <a:off x="8595360" y="1367028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権限5段階・顔認証・スマホ通知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5 эрх, царай таних, push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運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店舗運営 — 1つの管理画面で4店舗と倉庫を運営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Дэлгүүрийн удирдлага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11 / 16</a:t>
            </a:r>
          </a:p>
        </p:txBody>
      </p:sp>
      <p:sp>
        <p:nvSpPr>
          <p:cNvPr id="11" name="admin-frame"/>
          <p:cNvSpPr/>
          <p:nvPr/>
        </p:nvSpPr>
        <p:spPr>
          <a:xfrm>
            <a:off x="548640" y="1783080"/>
            <a:ext cx="6949440" cy="4308652"/>
          </a:xfrm>
          <a:prstGeom prst="roundRect">
            <a:avLst>
              <a:gd name="adj" fmla="val 3000"/>
            </a:avLst>
          </a:prstGeom>
          <a:solidFill>
            <a:srgbClr val="2A2E35"/>
          </a:solidFill>
          <a:ln>
            <a:noFill/>
          </a:ln>
          <a:effectLst>
            <a:outerShdw blurRad="508000" dist="1778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admin-img" descr="slide-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929384"/>
            <a:ext cx="6656832" cy="4016044"/>
          </a:xfrm>
          <a:prstGeom prst="rect">
            <a:avLst/>
          </a:prstGeom>
        </p:spPr>
      </p:pic>
      <p:sp>
        <p:nvSpPr>
          <p:cNvPr id="13" name="admin-base"/>
          <p:cNvSpPr/>
          <p:nvPr/>
        </p:nvSpPr>
        <p:spPr>
          <a:xfrm>
            <a:off x="228600" y="6091732"/>
            <a:ext cx="7589520" cy="14630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p0"/>
          <p:cNvSpPr/>
          <p:nvPr/>
        </p:nvSpPr>
        <p:spPr>
          <a:xfrm>
            <a:off x="7818120" y="1783080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0-bg"/>
          <p:cNvSpPr/>
          <p:nvPr/>
        </p:nvSpPr>
        <p:spPr>
          <a:xfrm>
            <a:off x="7955280" y="1901952"/>
            <a:ext cx="512064" cy="512064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op0-ic" descr="b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934" y="2014606"/>
            <a:ext cx="286756" cy="286756"/>
          </a:xfrm>
          <a:prstGeom prst="rect">
            <a:avLst/>
          </a:prstGeom>
        </p:spPr>
      </p:pic>
      <p:sp>
        <p:nvSpPr>
          <p:cNvPr id="17" name="op0-t"/>
          <p:cNvSpPr txBox="1"/>
          <p:nvPr/>
        </p:nvSpPr>
        <p:spPr>
          <a:xfrm>
            <a:off x="8595360" y="1856232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注文ワークフロー・手入力注文・ピッキング印刷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Захиалгын урсгал, гар захиалга, бэлтгэх хуудас</a:t>
            </a:r>
          </a:p>
        </p:txBody>
      </p:sp>
      <p:sp>
        <p:nvSpPr>
          <p:cNvPr id="18" name="op1"/>
          <p:cNvSpPr/>
          <p:nvPr/>
        </p:nvSpPr>
        <p:spPr>
          <a:xfrm>
            <a:off x="7818120" y="2679192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p1-bg"/>
          <p:cNvSpPr/>
          <p:nvPr/>
        </p:nvSpPr>
        <p:spPr>
          <a:xfrm>
            <a:off x="7955280" y="2798064"/>
            <a:ext cx="512064" cy="512064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op1-ic" descr="sc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7934" y="2910718"/>
            <a:ext cx="286756" cy="286756"/>
          </a:xfrm>
          <a:prstGeom prst="rect">
            <a:avLst/>
          </a:prstGeom>
        </p:spPr>
      </p:pic>
      <p:sp>
        <p:nvSpPr>
          <p:cNvPr id="21" name="op1-t"/>
          <p:cNvSpPr txBox="1"/>
          <p:nvPr/>
        </p:nvSpPr>
        <p:spPr>
          <a:xfrm>
            <a:off x="8595360" y="2752344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在庫台帳・バーコード入荷・棚卸・店舗間移動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Нөөцийн ledger, сканнер, шилжүүлэг</a:t>
            </a:r>
          </a:p>
        </p:txBody>
      </p:sp>
      <p:sp>
        <p:nvSpPr>
          <p:cNvPr id="22" name="op2"/>
          <p:cNvSpPr/>
          <p:nvPr/>
        </p:nvSpPr>
        <p:spPr>
          <a:xfrm>
            <a:off x="7818120" y="3575304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p2-bg"/>
          <p:cNvSpPr/>
          <p:nvPr/>
        </p:nvSpPr>
        <p:spPr>
          <a:xfrm>
            <a:off x="7955280" y="3694176"/>
            <a:ext cx="512064" cy="51206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op2-ic" descr="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934" y="3806830"/>
            <a:ext cx="286756" cy="286756"/>
          </a:xfrm>
          <a:prstGeom prst="rect">
            <a:avLst/>
          </a:prstGeom>
        </p:spPr>
      </p:pic>
      <p:sp>
        <p:nvSpPr>
          <p:cNvPr id="25" name="op2-t"/>
          <p:cNvSpPr txBox="1"/>
          <p:nvPr/>
        </p:nvSpPr>
        <p:spPr>
          <a:xfrm>
            <a:off x="8595360" y="3648456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Smart POS（店舗レジ）と在庫同期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Smart POS-той нөөц синк</a:t>
            </a:r>
          </a:p>
        </p:txBody>
      </p:sp>
      <p:sp>
        <p:nvSpPr>
          <p:cNvPr id="26" name="op3"/>
          <p:cNvSpPr/>
          <p:nvPr/>
        </p:nvSpPr>
        <p:spPr>
          <a:xfrm>
            <a:off x="7818120" y="4471416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p3-bg"/>
          <p:cNvSpPr/>
          <p:nvPr/>
        </p:nvSpPr>
        <p:spPr>
          <a:xfrm>
            <a:off x="7955280" y="4590288"/>
            <a:ext cx="512064" cy="512064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op3-ic" descr="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7934" y="4702942"/>
            <a:ext cx="286756" cy="286756"/>
          </a:xfrm>
          <a:prstGeom prst="rect">
            <a:avLst/>
          </a:prstGeom>
        </p:spPr>
      </p:pic>
      <p:sp>
        <p:nvSpPr>
          <p:cNvPr id="29" name="op3-t"/>
          <p:cNvSpPr txBox="1"/>
          <p:nvPr/>
        </p:nvSpPr>
        <p:spPr>
          <a:xfrm>
            <a:off x="8595360" y="4544568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売上・利益・転換率・返品率の分析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Аналитик самбар</a:t>
            </a:r>
          </a:p>
        </p:txBody>
      </p:sp>
      <p:sp>
        <p:nvSpPr>
          <p:cNvPr id="30" name="op4"/>
          <p:cNvSpPr/>
          <p:nvPr/>
        </p:nvSpPr>
        <p:spPr>
          <a:xfrm>
            <a:off x="7818120" y="5367528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p4-bg"/>
          <p:cNvSpPr/>
          <p:nvPr/>
        </p:nvSpPr>
        <p:spPr>
          <a:xfrm>
            <a:off x="7955280" y="5486400"/>
            <a:ext cx="512064" cy="512064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op4-ic" descr="ke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7934" y="5599054"/>
            <a:ext cx="286756" cy="286756"/>
          </a:xfrm>
          <a:prstGeom prst="rect">
            <a:avLst/>
          </a:prstGeom>
        </p:spPr>
      </p:pic>
      <p:sp>
        <p:nvSpPr>
          <p:cNvPr id="33" name="op4-t"/>
          <p:cNvSpPr txBox="1"/>
          <p:nvPr/>
        </p:nvSpPr>
        <p:spPr>
          <a:xfrm>
            <a:off x="8595360" y="5440680"/>
            <a:ext cx="29718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権限5段階・顔認証・スマホ通知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5 эрх, царай таних, push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基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技術基盤 — 東京リージョンのクラウドで運用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Техникийн суурь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12 / 16</a:t>
            </a:r>
          </a:p>
        </p:txBody>
      </p:sp>
      <p:sp>
        <p:nvSpPr>
          <p:cNvPr id="11" name="tile0"/>
          <p:cNvSpPr/>
          <p:nvPr/>
        </p:nvSpPr>
        <p:spPr>
          <a:xfrm>
            <a:off x="548640" y="99212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ile0-bg"/>
          <p:cNvSpPr/>
          <p:nvPr/>
        </p:nvSpPr>
        <p:spPr>
          <a:xfrm>
            <a:off x="777240" y="10104119"/>
            <a:ext cx="731520" cy="73152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tile0-ic" descr="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74" y="10265053"/>
            <a:ext cx="409652" cy="409652"/>
          </a:xfrm>
          <a:prstGeom prst="rect">
            <a:avLst/>
          </a:prstGeom>
        </p:spPr>
      </p:pic>
      <p:sp>
        <p:nvSpPr>
          <p:cNvPr id="14" name="tile0-t"/>
          <p:cNvSpPr txBox="1"/>
          <p:nvPr/>
        </p:nvSpPr>
        <p:spPr>
          <a:xfrm>
            <a:off x="777240" y="10927080"/>
            <a:ext cx="2194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61A"/>
                </a:solidFill>
                <a:latin typeface="Segoe UI"/>
              </a:rPr>
              <a:t>Cloudflare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WAF・CDN・Bot対策・トンネル</a:t>
            </a:r>
          </a:p>
        </p:txBody>
      </p:sp>
      <p:sp>
        <p:nvSpPr>
          <p:cNvPr id="15" name="tile1"/>
          <p:cNvSpPr/>
          <p:nvPr/>
        </p:nvSpPr>
        <p:spPr>
          <a:xfrm>
            <a:off x="3383280" y="99212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le1-bg"/>
          <p:cNvSpPr/>
          <p:nvPr/>
        </p:nvSpPr>
        <p:spPr>
          <a:xfrm>
            <a:off x="3611880" y="10104119"/>
            <a:ext cx="731520" cy="7315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tile1-ic" descr="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2814" y="10265053"/>
            <a:ext cx="409652" cy="409652"/>
          </a:xfrm>
          <a:prstGeom prst="rect">
            <a:avLst/>
          </a:prstGeom>
        </p:spPr>
      </p:pic>
      <p:sp>
        <p:nvSpPr>
          <p:cNvPr id="18" name="tile1-t"/>
          <p:cNvSpPr txBox="1"/>
          <p:nvPr/>
        </p:nvSpPr>
        <p:spPr>
          <a:xfrm>
            <a:off x="3611880" y="10927080"/>
            <a:ext cx="2194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61A"/>
                </a:solidFill>
                <a:latin typeface="Segoe UI"/>
              </a:rPr>
              <a:t>Oracle Cloud 東京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本番＋ステージング</a:t>
            </a:r>
          </a:p>
        </p:txBody>
      </p:sp>
      <p:sp>
        <p:nvSpPr>
          <p:cNvPr id="19" name="tile2"/>
          <p:cNvSpPr/>
          <p:nvPr/>
        </p:nvSpPr>
        <p:spPr>
          <a:xfrm>
            <a:off x="6217920" y="99212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le2-bg"/>
          <p:cNvSpPr/>
          <p:nvPr/>
        </p:nvSpPr>
        <p:spPr>
          <a:xfrm>
            <a:off x="6446520" y="10104119"/>
            <a:ext cx="731520" cy="73152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tile2-ic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7454" y="10265053"/>
            <a:ext cx="409652" cy="409652"/>
          </a:xfrm>
          <a:prstGeom prst="rect">
            <a:avLst/>
          </a:prstGeom>
        </p:spPr>
      </p:pic>
      <p:sp>
        <p:nvSpPr>
          <p:cNvPr id="22" name="tile2-t"/>
          <p:cNvSpPr txBox="1"/>
          <p:nvPr/>
        </p:nvSpPr>
        <p:spPr>
          <a:xfrm>
            <a:off x="6446520" y="10927080"/>
            <a:ext cx="2194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61A"/>
                </a:solidFill>
                <a:latin typeface="Segoe UI"/>
              </a:rPr>
              <a:t>MySQL HeatWave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TLS暗号化・日次暗号化バックアップ</a:t>
            </a:r>
          </a:p>
        </p:txBody>
      </p:sp>
      <p:sp>
        <p:nvSpPr>
          <p:cNvPr id="23" name="tile3"/>
          <p:cNvSpPr/>
          <p:nvPr/>
        </p:nvSpPr>
        <p:spPr>
          <a:xfrm>
            <a:off x="9052560" y="99212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le3-bg"/>
          <p:cNvSpPr/>
          <p:nvPr/>
        </p:nvSpPr>
        <p:spPr>
          <a:xfrm>
            <a:off x="9281160" y="10104119"/>
            <a:ext cx="731520" cy="7315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tile3-ic" descr="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2094" y="10265053"/>
            <a:ext cx="409652" cy="409652"/>
          </a:xfrm>
          <a:prstGeom prst="rect">
            <a:avLst/>
          </a:prstGeom>
        </p:spPr>
      </p:pic>
      <p:sp>
        <p:nvSpPr>
          <p:cNvPr id="26" name="tile3-t"/>
          <p:cNvSpPr txBox="1"/>
          <p:nvPr/>
        </p:nvSpPr>
        <p:spPr>
          <a:xfrm>
            <a:off x="9281160" y="10927080"/>
            <a:ext cx="2194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61A"/>
                </a:solidFill>
                <a:latin typeface="Segoe UI"/>
              </a:rPr>
              <a:t>Cloudflare R2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商品画像ストレージ</a:t>
            </a:r>
          </a:p>
        </p:txBody>
      </p:sp>
      <p:sp>
        <p:nvSpPr>
          <p:cNvPr id="27" name="fact0-bar"/>
          <p:cNvSpPr/>
          <p:nvPr/>
        </p:nvSpPr>
        <p:spPr>
          <a:xfrm>
            <a:off x="548640" y="11932920"/>
            <a:ext cx="54864" cy="114300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act0"/>
          <p:cNvSpPr txBox="1"/>
          <p:nvPr/>
        </p:nvSpPr>
        <p:spPr>
          <a:xfrm>
            <a:off x="731520" y="11887200"/>
            <a:ext cx="24231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61A"/>
                </a:solidFill>
                <a:latin typeface="Segoe UI"/>
              </a:rPr>
              <a:t>TypeScript / React / tRPC / Drizzle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自社保有のソースコード・1リポジトリ</a:t>
            </a:r>
          </a:p>
        </p:txBody>
      </p:sp>
      <p:sp>
        <p:nvSpPr>
          <p:cNvPr id="29" name="fact1-bar"/>
          <p:cNvSpPr/>
          <p:nvPr/>
        </p:nvSpPr>
        <p:spPr>
          <a:xfrm>
            <a:off x="3383280" y="11932920"/>
            <a:ext cx="54864" cy="114300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act1"/>
          <p:cNvSpPr txBox="1"/>
          <p:nvPr/>
        </p:nvSpPr>
        <p:spPr>
          <a:xfrm>
            <a:off x="3566160" y="11887200"/>
            <a:ext cx="24231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61A"/>
                </a:solidFill>
                <a:latin typeface="Segoe UI"/>
              </a:rPr>
              <a:t>自動テスト 935件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実DBの統合テスト、CIで毎回</a:t>
            </a:r>
          </a:p>
        </p:txBody>
      </p:sp>
      <p:sp>
        <p:nvSpPr>
          <p:cNvPr id="31" name="fact2-bar"/>
          <p:cNvSpPr/>
          <p:nvPr/>
        </p:nvSpPr>
        <p:spPr>
          <a:xfrm>
            <a:off x="6217920" y="11932920"/>
            <a:ext cx="54864" cy="114300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act2"/>
          <p:cNvSpPr txBox="1"/>
          <p:nvPr/>
        </p:nvSpPr>
        <p:spPr>
          <a:xfrm>
            <a:off x="6400800" y="11887200"/>
            <a:ext cx="24231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61A"/>
                </a:solidFill>
                <a:latin typeface="Segoe UI"/>
              </a:rPr>
              <a:t>ワンコマンド・デプロイ（約3分）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独立したステージング環境</a:t>
            </a:r>
          </a:p>
        </p:txBody>
      </p:sp>
      <p:sp>
        <p:nvSpPr>
          <p:cNvPr id="33" name="fact3-bar"/>
          <p:cNvSpPr/>
          <p:nvPr/>
        </p:nvSpPr>
        <p:spPr>
          <a:xfrm>
            <a:off x="9052560" y="11932920"/>
            <a:ext cx="54864" cy="114300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act3"/>
          <p:cNvSpPr txBox="1"/>
          <p:nvPr/>
        </p:nvSpPr>
        <p:spPr>
          <a:xfrm>
            <a:off x="9235440" y="11887200"/>
            <a:ext cx="24231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61A"/>
                </a:solidFill>
                <a:latin typeface="Segoe UI"/>
              </a:rPr>
              <a:t>稼働監視・エラートラッキング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暗号化バックアップ30日保持</a:t>
            </a:r>
          </a:p>
        </p:txBody>
      </p:sp>
      <p:sp>
        <p:nvSpPr>
          <p:cNvPr id="35" name="ts0-tile"/>
          <p:cNvSpPr/>
          <p:nvPr/>
        </p:nvSpPr>
        <p:spPr>
          <a:xfrm>
            <a:off x="68580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ts0-img" descr="s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582" y="13392302"/>
            <a:ext cx="921716" cy="921716"/>
          </a:xfrm>
          <a:prstGeom prst="rect">
            <a:avLst/>
          </a:prstGeom>
        </p:spPr>
      </p:pic>
      <p:sp>
        <p:nvSpPr>
          <p:cNvPr id="37" name="ts1-tile"/>
          <p:cNvSpPr/>
          <p:nvPr/>
        </p:nvSpPr>
        <p:spPr>
          <a:xfrm>
            <a:off x="189280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ts1-img" descr="s0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0590" y="13392302"/>
            <a:ext cx="921716" cy="921716"/>
          </a:xfrm>
          <a:prstGeom prst="rect">
            <a:avLst/>
          </a:prstGeom>
        </p:spPr>
      </p:pic>
      <p:sp>
        <p:nvSpPr>
          <p:cNvPr id="39" name="ts2-tile"/>
          <p:cNvSpPr/>
          <p:nvPr/>
        </p:nvSpPr>
        <p:spPr>
          <a:xfrm>
            <a:off x="309981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ts2-img" descr="s0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7598" y="13392302"/>
            <a:ext cx="921716" cy="921716"/>
          </a:xfrm>
          <a:prstGeom prst="rect">
            <a:avLst/>
          </a:prstGeom>
        </p:spPr>
      </p:pic>
      <p:sp>
        <p:nvSpPr>
          <p:cNvPr id="41" name="ts3-tile"/>
          <p:cNvSpPr/>
          <p:nvPr/>
        </p:nvSpPr>
        <p:spPr>
          <a:xfrm>
            <a:off x="430682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ts3-img" descr="s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94606" y="13392302"/>
            <a:ext cx="921716" cy="921716"/>
          </a:xfrm>
          <a:prstGeom prst="rect">
            <a:avLst/>
          </a:prstGeom>
        </p:spPr>
      </p:pic>
      <p:sp>
        <p:nvSpPr>
          <p:cNvPr id="43" name="ts4-tile"/>
          <p:cNvSpPr/>
          <p:nvPr/>
        </p:nvSpPr>
        <p:spPr>
          <a:xfrm>
            <a:off x="5513832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ts4-img" descr="s1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01614" y="13392302"/>
            <a:ext cx="921716" cy="921716"/>
          </a:xfrm>
          <a:prstGeom prst="rect">
            <a:avLst/>
          </a:prstGeom>
        </p:spPr>
      </p:pic>
      <p:sp>
        <p:nvSpPr>
          <p:cNvPr id="45" name="ts5-tile"/>
          <p:cNvSpPr/>
          <p:nvPr/>
        </p:nvSpPr>
        <p:spPr>
          <a:xfrm>
            <a:off x="672084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ts5-img" descr="s1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08622" y="13392302"/>
            <a:ext cx="921716" cy="921716"/>
          </a:xfrm>
          <a:prstGeom prst="rect">
            <a:avLst/>
          </a:prstGeom>
        </p:spPr>
      </p:pic>
      <p:sp>
        <p:nvSpPr>
          <p:cNvPr id="47" name="ts6-tile"/>
          <p:cNvSpPr/>
          <p:nvPr/>
        </p:nvSpPr>
        <p:spPr>
          <a:xfrm>
            <a:off x="792784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ts6-img" descr="s1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15630" y="13392302"/>
            <a:ext cx="921716" cy="921716"/>
          </a:xfrm>
          <a:prstGeom prst="rect">
            <a:avLst/>
          </a:prstGeom>
        </p:spPr>
      </p:pic>
      <p:sp>
        <p:nvSpPr>
          <p:cNvPr id="49" name="ts7-tile"/>
          <p:cNvSpPr/>
          <p:nvPr/>
        </p:nvSpPr>
        <p:spPr>
          <a:xfrm>
            <a:off x="913485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ts7-img" descr="s17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22638" y="13392302"/>
            <a:ext cx="921716" cy="921716"/>
          </a:xfrm>
          <a:prstGeom prst="rect">
            <a:avLst/>
          </a:prstGeom>
        </p:spPr>
      </p:pic>
      <p:sp>
        <p:nvSpPr>
          <p:cNvPr id="51" name="ts8-tile"/>
          <p:cNvSpPr/>
          <p:nvPr/>
        </p:nvSpPr>
        <p:spPr>
          <a:xfrm>
            <a:off x="1034186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ts8-img" descr="s19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29646" y="13392302"/>
            <a:ext cx="921716" cy="9217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基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技術基盤 — 東京リージョンのクラウドで運用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Техникийн суурь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12 / 16</a:t>
            </a:r>
          </a:p>
        </p:txBody>
      </p:sp>
      <p:sp>
        <p:nvSpPr>
          <p:cNvPr id="11" name="tile0"/>
          <p:cNvSpPr/>
          <p:nvPr/>
        </p:nvSpPr>
        <p:spPr>
          <a:xfrm>
            <a:off x="548640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ile0-bg"/>
          <p:cNvSpPr/>
          <p:nvPr/>
        </p:nvSpPr>
        <p:spPr>
          <a:xfrm>
            <a:off x="777240" y="1874519"/>
            <a:ext cx="731520" cy="73152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tile0-ic" descr="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74" y="2035453"/>
            <a:ext cx="409652" cy="409652"/>
          </a:xfrm>
          <a:prstGeom prst="rect">
            <a:avLst/>
          </a:prstGeom>
        </p:spPr>
      </p:pic>
      <p:sp>
        <p:nvSpPr>
          <p:cNvPr id="14" name="tile0-t"/>
          <p:cNvSpPr txBox="1"/>
          <p:nvPr/>
        </p:nvSpPr>
        <p:spPr>
          <a:xfrm>
            <a:off x="777240" y="2697480"/>
            <a:ext cx="2194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61A"/>
                </a:solidFill>
                <a:latin typeface="Segoe UI"/>
              </a:rPr>
              <a:t>Cloudflare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WAF・CDN・Bot対策・トンネル</a:t>
            </a:r>
          </a:p>
        </p:txBody>
      </p:sp>
      <p:sp>
        <p:nvSpPr>
          <p:cNvPr id="15" name="tile1"/>
          <p:cNvSpPr/>
          <p:nvPr/>
        </p:nvSpPr>
        <p:spPr>
          <a:xfrm>
            <a:off x="3383280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le1-bg"/>
          <p:cNvSpPr/>
          <p:nvPr/>
        </p:nvSpPr>
        <p:spPr>
          <a:xfrm>
            <a:off x="3611880" y="1874519"/>
            <a:ext cx="731520" cy="7315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tile1-ic" descr="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2814" y="2035453"/>
            <a:ext cx="409652" cy="409652"/>
          </a:xfrm>
          <a:prstGeom prst="rect">
            <a:avLst/>
          </a:prstGeom>
        </p:spPr>
      </p:pic>
      <p:sp>
        <p:nvSpPr>
          <p:cNvPr id="18" name="tile1-t"/>
          <p:cNvSpPr txBox="1"/>
          <p:nvPr/>
        </p:nvSpPr>
        <p:spPr>
          <a:xfrm>
            <a:off x="3611880" y="2697480"/>
            <a:ext cx="2194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61A"/>
                </a:solidFill>
                <a:latin typeface="Segoe UI"/>
              </a:rPr>
              <a:t>Oracle Cloud 東京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本番＋ステージング</a:t>
            </a:r>
          </a:p>
        </p:txBody>
      </p:sp>
      <p:sp>
        <p:nvSpPr>
          <p:cNvPr id="19" name="tile2"/>
          <p:cNvSpPr/>
          <p:nvPr/>
        </p:nvSpPr>
        <p:spPr>
          <a:xfrm>
            <a:off x="6217920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le2-bg"/>
          <p:cNvSpPr/>
          <p:nvPr/>
        </p:nvSpPr>
        <p:spPr>
          <a:xfrm>
            <a:off x="6446520" y="1874519"/>
            <a:ext cx="731520" cy="73152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tile2-ic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7454" y="2035453"/>
            <a:ext cx="409652" cy="409652"/>
          </a:xfrm>
          <a:prstGeom prst="rect">
            <a:avLst/>
          </a:prstGeom>
        </p:spPr>
      </p:pic>
      <p:sp>
        <p:nvSpPr>
          <p:cNvPr id="22" name="tile2-t"/>
          <p:cNvSpPr txBox="1"/>
          <p:nvPr/>
        </p:nvSpPr>
        <p:spPr>
          <a:xfrm>
            <a:off x="6446520" y="2697480"/>
            <a:ext cx="2194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61A"/>
                </a:solidFill>
                <a:latin typeface="Segoe UI"/>
              </a:rPr>
              <a:t>MySQL HeatWave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TLS暗号化・日次暗号化バックアップ</a:t>
            </a:r>
          </a:p>
        </p:txBody>
      </p:sp>
      <p:sp>
        <p:nvSpPr>
          <p:cNvPr id="23" name="tile3"/>
          <p:cNvSpPr/>
          <p:nvPr/>
        </p:nvSpPr>
        <p:spPr>
          <a:xfrm>
            <a:off x="9052560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le3-bg"/>
          <p:cNvSpPr/>
          <p:nvPr/>
        </p:nvSpPr>
        <p:spPr>
          <a:xfrm>
            <a:off x="9281160" y="1874519"/>
            <a:ext cx="731520" cy="7315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tile3-ic" descr="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2094" y="2035453"/>
            <a:ext cx="409652" cy="409652"/>
          </a:xfrm>
          <a:prstGeom prst="rect">
            <a:avLst/>
          </a:prstGeom>
        </p:spPr>
      </p:pic>
      <p:sp>
        <p:nvSpPr>
          <p:cNvPr id="26" name="tile3-t"/>
          <p:cNvSpPr txBox="1"/>
          <p:nvPr/>
        </p:nvSpPr>
        <p:spPr>
          <a:xfrm>
            <a:off x="9281160" y="2697480"/>
            <a:ext cx="2194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61A"/>
                </a:solidFill>
                <a:latin typeface="Segoe UI"/>
              </a:rPr>
              <a:t>Cloudflare R2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商品画像ストレージ</a:t>
            </a:r>
          </a:p>
        </p:txBody>
      </p:sp>
      <p:sp>
        <p:nvSpPr>
          <p:cNvPr id="27" name="fact0-bar"/>
          <p:cNvSpPr/>
          <p:nvPr/>
        </p:nvSpPr>
        <p:spPr>
          <a:xfrm>
            <a:off x="548640" y="11932920"/>
            <a:ext cx="54864" cy="114300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act0"/>
          <p:cNvSpPr txBox="1"/>
          <p:nvPr/>
        </p:nvSpPr>
        <p:spPr>
          <a:xfrm>
            <a:off x="731520" y="11887200"/>
            <a:ext cx="24231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61A"/>
                </a:solidFill>
                <a:latin typeface="Segoe UI"/>
              </a:rPr>
              <a:t>TypeScript / React / tRPC / Drizzle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自社保有のソースコード・1リポジトリ</a:t>
            </a:r>
          </a:p>
        </p:txBody>
      </p:sp>
      <p:sp>
        <p:nvSpPr>
          <p:cNvPr id="29" name="fact1-bar"/>
          <p:cNvSpPr/>
          <p:nvPr/>
        </p:nvSpPr>
        <p:spPr>
          <a:xfrm>
            <a:off x="3383280" y="11932920"/>
            <a:ext cx="54864" cy="114300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act1"/>
          <p:cNvSpPr txBox="1"/>
          <p:nvPr/>
        </p:nvSpPr>
        <p:spPr>
          <a:xfrm>
            <a:off x="3566160" y="11887200"/>
            <a:ext cx="24231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61A"/>
                </a:solidFill>
                <a:latin typeface="Segoe UI"/>
              </a:rPr>
              <a:t>自動テスト 935件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実DBの統合テスト、CIで毎回</a:t>
            </a:r>
          </a:p>
        </p:txBody>
      </p:sp>
      <p:sp>
        <p:nvSpPr>
          <p:cNvPr id="31" name="fact2-bar"/>
          <p:cNvSpPr/>
          <p:nvPr/>
        </p:nvSpPr>
        <p:spPr>
          <a:xfrm>
            <a:off x="6217920" y="11932920"/>
            <a:ext cx="54864" cy="114300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act2"/>
          <p:cNvSpPr txBox="1"/>
          <p:nvPr/>
        </p:nvSpPr>
        <p:spPr>
          <a:xfrm>
            <a:off x="6400800" y="11887200"/>
            <a:ext cx="24231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61A"/>
                </a:solidFill>
                <a:latin typeface="Segoe UI"/>
              </a:rPr>
              <a:t>ワンコマンド・デプロイ（約3分）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独立したステージング環境</a:t>
            </a:r>
          </a:p>
        </p:txBody>
      </p:sp>
      <p:sp>
        <p:nvSpPr>
          <p:cNvPr id="33" name="fact3-bar"/>
          <p:cNvSpPr/>
          <p:nvPr/>
        </p:nvSpPr>
        <p:spPr>
          <a:xfrm>
            <a:off x="9052560" y="11932920"/>
            <a:ext cx="54864" cy="114300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act3"/>
          <p:cNvSpPr txBox="1"/>
          <p:nvPr/>
        </p:nvSpPr>
        <p:spPr>
          <a:xfrm>
            <a:off x="9235440" y="11887200"/>
            <a:ext cx="24231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61A"/>
                </a:solidFill>
                <a:latin typeface="Segoe UI"/>
              </a:rPr>
              <a:t>稼働監視・エラートラッキング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暗号化バックアップ30日保持</a:t>
            </a:r>
          </a:p>
        </p:txBody>
      </p:sp>
      <p:sp>
        <p:nvSpPr>
          <p:cNvPr id="35" name="ts0-tile"/>
          <p:cNvSpPr/>
          <p:nvPr/>
        </p:nvSpPr>
        <p:spPr>
          <a:xfrm>
            <a:off x="68580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ts0-img" descr="s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582" y="13392302"/>
            <a:ext cx="921716" cy="921716"/>
          </a:xfrm>
          <a:prstGeom prst="rect">
            <a:avLst/>
          </a:prstGeom>
        </p:spPr>
      </p:pic>
      <p:sp>
        <p:nvSpPr>
          <p:cNvPr id="37" name="ts1-tile"/>
          <p:cNvSpPr/>
          <p:nvPr/>
        </p:nvSpPr>
        <p:spPr>
          <a:xfrm>
            <a:off x="189280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ts1-img" descr="s0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0590" y="13392302"/>
            <a:ext cx="921716" cy="921716"/>
          </a:xfrm>
          <a:prstGeom prst="rect">
            <a:avLst/>
          </a:prstGeom>
        </p:spPr>
      </p:pic>
      <p:sp>
        <p:nvSpPr>
          <p:cNvPr id="39" name="ts2-tile"/>
          <p:cNvSpPr/>
          <p:nvPr/>
        </p:nvSpPr>
        <p:spPr>
          <a:xfrm>
            <a:off x="309981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ts2-img" descr="s0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7598" y="13392302"/>
            <a:ext cx="921716" cy="921716"/>
          </a:xfrm>
          <a:prstGeom prst="rect">
            <a:avLst/>
          </a:prstGeom>
        </p:spPr>
      </p:pic>
      <p:sp>
        <p:nvSpPr>
          <p:cNvPr id="41" name="ts3-tile"/>
          <p:cNvSpPr/>
          <p:nvPr/>
        </p:nvSpPr>
        <p:spPr>
          <a:xfrm>
            <a:off x="430682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ts3-img" descr="s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94606" y="13392302"/>
            <a:ext cx="921716" cy="921716"/>
          </a:xfrm>
          <a:prstGeom prst="rect">
            <a:avLst/>
          </a:prstGeom>
        </p:spPr>
      </p:pic>
      <p:sp>
        <p:nvSpPr>
          <p:cNvPr id="43" name="ts4-tile"/>
          <p:cNvSpPr/>
          <p:nvPr/>
        </p:nvSpPr>
        <p:spPr>
          <a:xfrm>
            <a:off x="5513832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ts4-img" descr="s1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01614" y="13392302"/>
            <a:ext cx="921716" cy="921716"/>
          </a:xfrm>
          <a:prstGeom prst="rect">
            <a:avLst/>
          </a:prstGeom>
        </p:spPr>
      </p:pic>
      <p:sp>
        <p:nvSpPr>
          <p:cNvPr id="45" name="ts5-tile"/>
          <p:cNvSpPr/>
          <p:nvPr/>
        </p:nvSpPr>
        <p:spPr>
          <a:xfrm>
            <a:off x="672084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ts5-img" descr="s1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08622" y="13392302"/>
            <a:ext cx="921716" cy="921716"/>
          </a:xfrm>
          <a:prstGeom prst="rect">
            <a:avLst/>
          </a:prstGeom>
        </p:spPr>
      </p:pic>
      <p:sp>
        <p:nvSpPr>
          <p:cNvPr id="47" name="ts6-tile"/>
          <p:cNvSpPr/>
          <p:nvPr/>
        </p:nvSpPr>
        <p:spPr>
          <a:xfrm>
            <a:off x="792784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ts6-img" descr="s1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15630" y="13392302"/>
            <a:ext cx="921716" cy="921716"/>
          </a:xfrm>
          <a:prstGeom prst="rect">
            <a:avLst/>
          </a:prstGeom>
        </p:spPr>
      </p:pic>
      <p:sp>
        <p:nvSpPr>
          <p:cNvPr id="49" name="ts7-tile"/>
          <p:cNvSpPr/>
          <p:nvPr/>
        </p:nvSpPr>
        <p:spPr>
          <a:xfrm>
            <a:off x="913485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ts7-img" descr="s17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22638" y="13392302"/>
            <a:ext cx="921716" cy="921716"/>
          </a:xfrm>
          <a:prstGeom prst="rect">
            <a:avLst/>
          </a:prstGeom>
        </p:spPr>
      </p:pic>
      <p:sp>
        <p:nvSpPr>
          <p:cNvPr id="51" name="ts8-tile"/>
          <p:cNvSpPr/>
          <p:nvPr/>
        </p:nvSpPr>
        <p:spPr>
          <a:xfrm>
            <a:off x="1034186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ts8-img" descr="s19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29646" y="13392302"/>
            <a:ext cx="921716" cy="9217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基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技術基盤 — 東京リージョンのクラウドで運用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Техникийн суурь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12 / 16</a:t>
            </a:r>
          </a:p>
        </p:txBody>
      </p:sp>
      <p:sp>
        <p:nvSpPr>
          <p:cNvPr id="11" name="tile0"/>
          <p:cNvSpPr/>
          <p:nvPr/>
        </p:nvSpPr>
        <p:spPr>
          <a:xfrm>
            <a:off x="548640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ile0-bg"/>
          <p:cNvSpPr/>
          <p:nvPr/>
        </p:nvSpPr>
        <p:spPr>
          <a:xfrm>
            <a:off x="777240" y="1874519"/>
            <a:ext cx="731520" cy="73152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tile0-ic" descr="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74" y="2035453"/>
            <a:ext cx="409652" cy="409652"/>
          </a:xfrm>
          <a:prstGeom prst="rect">
            <a:avLst/>
          </a:prstGeom>
        </p:spPr>
      </p:pic>
      <p:sp>
        <p:nvSpPr>
          <p:cNvPr id="14" name="tile0-t"/>
          <p:cNvSpPr txBox="1"/>
          <p:nvPr/>
        </p:nvSpPr>
        <p:spPr>
          <a:xfrm>
            <a:off x="777240" y="2697480"/>
            <a:ext cx="2194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61A"/>
                </a:solidFill>
                <a:latin typeface="Segoe UI"/>
              </a:rPr>
              <a:t>Cloudflare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WAF・CDN・Bot対策・トンネル</a:t>
            </a:r>
          </a:p>
        </p:txBody>
      </p:sp>
      <p:sp>
        <p:nvSpPr>
          <p:cNvPr id="15" name="tile1"/>
          <p:cNvSpPr/>
          <p:nvPr/>
        </p:nvSpPr>
        <p:spPr>
          <a:xfrm>
            <a:off x="3383280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le1-bg"/>
          <p:cNvSpPr/>
          <p:nvPr/>
        </p:nvSpPr>
        <p:spPr>
          <a:xfrm>
            <a:off x="3611880" y="1874519"/>
            <a:ext cx="731520" cy="7315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tile1-ic" descr="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2814" y="2035453"/>
            <a:ext cx="409652" cy="409652"/>
          </a:xfrm>
          <a:prstGeom prst="rect">
            <a:avLst/>
          </a:prstGeom>
        </p:spPr>
      </p:pic>
      <p:sp>
        <p:nvSpPr>
          <p:cNvPr id="18" name="tile1-t"/>
          <p:cNvSpPr txBox="1"/>
          <p:nvPr/>
        </p:nvSpPr>
        <p:spPr>
          <a:xfrm>
            <a:off x="3611880" y="2697480"/>
            <a:ext cx="2194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61A"/>
                </a:solidFill>
                <a:latin typeface="Segoe UI"/>
              </a:rPr>
              <a:t>Oracle Cloud 東京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本番＋ステージング</a:t>
            </a:r>
          </a:p>
        </p:txBody>
      </p:sp>
      <p:sp>
        <p:nvSpPr>
          <p:cNvPr id="19" name="tile2"/>
          <p:cNvSpPr/>
          <p:nvPr/>
        </p:nvSpPr>
        <p:spPr>
          <a:xfrm>
            <a:off x="6217920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le2-bg"/>
          <p:cNvSpPr/>
          <p:nvPr/>
        </p:nvSpPr>
        <p:spPr>
          <a:xfrm>
            <a:off x="6446520" y="1874519"/>
            <a:ext cx="731520" cy="73152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tile2-ic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7454" y="2035453"/>
            <a:ext cx="409652" cy="409652"/>
          </a:xfrm>
          <a:prstGeom prst="rect">
            <a:avLst/>
          </a:prstGeom>
        </p:spPr>
      </p:pic>
      <p:sp>
        <p:nvSpPr>
          <p:cNvPr id="22" name="tile2-t"/>
          <p:cNvSpPr txBox="1"/>
          <p:nvPr/>
        </p:nvSpPr>
        <p:spPr>
          <a:xfrm>
            <a:off x="6446520" y="2697480"/>
            <a:ext cx="2194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61A"/>
                </a:solidFill>
                <a:latin typeface="Segoe UI"/>
              </a:rPr>
              <a:t>MySQL HeatWave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TLS暗号化・日次暗号化バックアップ</a:t>
            </a:r>
          </a:p>
        </p:txBody>
      </p:sp>
      <p:sp>
        <p:nvSpPr>
          <p:cNvPr id="23" name="tile3"/>
          <p:cNvSpPr/>
          <p:nvPr/>
        </p:nvSpPr>
        <p:spPr>
          <a:xfrm>
            <a:off x="9052560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le3-bg"/>
          <p:cNvSpPr/>
          <p:nvPr/>
        </p:nvSpPr>
        <p:spPr>
          <a:xfrm>
            <a:off x="9281160" y="1874519"/>
            <a:ext cx="731520" cy="73152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tile3-ic" descr="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2094" y="2035453"/>
            <a:ext cx="409652" cy="409652"/>
          </a:xfrm>
          <a:prstGeom prst="rect">
            <a:avLst/>
          </a:prstGeom>
        </p:spPr>
      </p:pic>
      <p:sp>
        <p:nvSpPr>
          <p:cNvPr id="26" name="tile3-t"/>
          <p:cNvSpPr txBox="1"/>
          <p:nvPr/>
        </p:nvSpPr>
        <p:spPr>
          <a:xfrm>
            <a:off x="9281160" y="2697480"/>
            <a:ext cx="2194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61A"/>
                </a:solidFill>
                <a:latin typeface="Segoe UI"/>
              </a:rPr>
              <a:t>Cloudflare R2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商品画像ストレージ</a:t>
            </a:r>
          </a:p>
        </p:txBody>
      </p:sp>
      <p:sp>
        <p:nvSpPr>
          <p:cNvPr id="27" name="fact0-bar"/>
          <p:cNvSpPr/>
          <p:nvPr/>
        </p:nvSpPr>
        <p:spPr>
          <a:xfrm>
            <a:off x="548640" y="3703320"/>
            <a:ext cx="54864" cy="114300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act0"/>
          <p:cNvSpPr txBox="1"/>
          <p:nvPr/>
        </p:nvSpPr>
        <p:spPr>
          <a:xfrm>
            <a:off x="731520" y="3657600"/>
            <a:ext cx="24231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61A"/>
                </a:solidFill>
                <a:latin typeface="Segoe UI"/>
              </a:rPr>
              <a:t>TypeScript / React / tRPC / Drizzle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自社保有のソースコード・1リポジトリ</a:t>
            </a:r>
          </a:p>
        </p:txBody>
      </p:sp>
      <p:sp>
        <p:nvSpPr>
          <p:cNvPr id="29" name="fact1-bar"/>
          <p:cNvSpPr/>
          <p:nvPr/>
        </p:nvSpPr>
        <p:spPr>
          <a:xfrm>
            <a:off x="3383280" y="3703320"/>
            <a:ext cx="54864" cy="114300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act1"/>
          <p:cNvSpPr txBox="1"/>
          <p:nvPr/>
        </p:nvSpPr>
        <p:spPr>
          <a:xfrm>
            <a:off x="3566160" y="3657600"/>
            <a:ext cx="24231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61A"/>
                </a:solidFill>
                <a:latin typeface="Segoe UI"/>
              </a:rPr>
              <a:t>自動テスト 935件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実DBの統合テスト、CIで毎回</a:t>
            </a:r>
          </a:p>
        </p:txBody>
      </p:sp>
      <p:sp>
        <p:nvSpPr>
          <p:cNvPr id="31" name="fact2-bar"/>
          <p:cNvSpPr/>
          <p:nvPr/>
        </p:nvSpPr>
        <p:spPr>
          <a:xfrm>
            <a:off x="6217920" y="3703320"/>
            <a:ext cx="54864" cy="114300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act2"/>
          <p:cNvSpPr txBox="1"/>
          <p:nvPr/>
        </p:nvSpPr>
        <p:spPr>
          <a:xfrm>
            <a:off x="6400800" y="3657600"/>
            <a:ext cx="24231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61A"/>
                </a:solidFill>
                <a:latin typeface="Segoe UI"/>
              </a:rPr>
              <a:t>ワンコマンド・デプロイ（約3分）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独立したステージング環境</a:t>
            </a:r>
          </a:p>
        </p:txBody>
      </p:sp>
      <p:sp>
        <p:nvSpPr>
          <p:cNvPr id="33" name="fact3-bar"/>
          <p:cNvSpPr/>
          <p:nvPr/>
        </p:nvSpPr>
        <p:spPr>
          <a:xfrm>
            <a:off x="9052560" y="3703320"/>
            <a:ext cx="54864" cy="114300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act3"/>
          <p:cNvSpPr txBox="1"/>
          <p:nvPr/>
        </p:nvSpPr>
        <p:spPr>
          <a:xfrm>
            <a:off x="9235440" y="3657600"/>
            <a:ext cx="24231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61A"/>
                </a:solidFill>
                <a:latin typeface="Segoe UI"/>
              </a:rPr>
              <a:t>稼働監視・エラートラッキング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暗号化バックアップ30日保持</a:t>
            </a:r>
          </a:p>
        </p:txBody>
      </p:sp>
      <p:sp>
        <p:nvSpPr>
          <p:cNvPr id="35" name="ts0-tile"/>
          <p:cNvSpPr/>
          <p:nvPr/>
        </p:nvSpPr>
        <p:spPr>
          <a:xfrm>
            <a:off x="685800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ts0-img" descr="s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582" y="5162702"/>
            <a:ext cx="921716" cy="921716"/>
          </a:xfrm>
          <a:prstGeom prst="rect">
            <a:avLst/>
          </a:prstGeom>
        </p:spPr>
      </p:pic>
      <p:sp>
        <p:nvSpPr>
          <p:cNvPr id="37" name="ts1-tile"/>
          <p:cNvSpPr/>
          <p:nvPr/>
        </p:nvSpPr>
        <p:spPr>
          <a:xfrm>
            <a:off x="1892808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ts1-img" descr="s0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0590" y="5162702"/>
            <a:ext cx="921716" cy="921716"/>
          </a:xfrm>
          <a:prstGeom prst="rect">
            <a:avLst/>
          </a:prstGeom>
        </p:spPr>
      </p:pic>
      <p:sp>
        <p:nvSpPr>
          <p:cNvPr id="39" name="ts2-tile"/>
          <p:cNvSpPr/>
          <p:nvPr/>
        </p:nvSpPr>
        <p:spPr>
          <a:xfrm>
            <a:off x="3099816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ts2-img" descr="s0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7598" y="5162702"/>
            <a:ext cx="921716" cy="921716"/>
          </a:xfrm>
          <a:prstGeom prst="rect">
            <a:avLst/>
          </a:prstGeom>
        </p:spPr>
      </p:pic>
      <p:sp>
        <p:nvSpPr>
          <p:cNvPr id="41" name="ts3-tile"/>
          <p:cNvSpPr/>
          <p:nvPr/>
        </p:nvSpPr>
        <p:spPr>
          <a:xfrm>
            <a:off x="4306824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ts3-img" descr="s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94606" y="5162702"/>
            <a:ext cx="921716" cy="921716"/>
          </a:xfrm>
          <a:prstGeom prst="rect">
            <a:avLst/>
          </a:prstGeom>
        </p:spPr>
      </p:pic>
      <p:sp>
        <p:nvSpPr>
          <p:cNvPr id="43" name="ts4-tile"/>
          <p:cNvSpPr/>
          <p:nvPr/>
        </p:nvSpPr>
        <p:spPr>
          <a:xfrm>
            <a:off x="5513832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ts4-img" descr="s1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01614" y="5162702"/>
            <a:ext cx="921716" cy="921716"/>
          </a:xfrm>
          <a:prstGeom prst="rect">
            <a:avLst/>
          </a:prstGeom>
        </p:spPr>
      </p:pic>
      <p:sp>
        <p:nvSpPr>
          <p:cNvPr id="45" name="ts5-tile"/>
          <p:cNvSpPr/>
          <p:nvPr/>
        </p:nvSpPr>
        <p:spPr>
          <a:xfrm>
            <a:off x="6720840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ts5-img" descr="s1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08622" y="5162702"/>
            <a:ext cx="921716" cy="921716"/>
          </a:xfrm>
          <a:prstGeom prst="rect">
            <a:avLst/>
          </a:prstGeom>
        </p:spPr>
      </p:pic>
      <p:sp>
        <p:nvSpPr>
          <p:cNvPr id="47" name="ts6-tile"/>
          <p:cNvSpPr/>
          <p:nvPr/>
        </p:nvSpPr>
        <p:spPr>
          <a:xfrm>
            <a:off x="7927848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ts6-img" descr="s1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15630" y="5162702"/>
            <a:ext cx="921716" cy="921716"/>
          </a:xfrm>
          <a:prstGeom prst="rect">
            <a:avLst/>
          </a:prstGeom>
        </p:spPr>
      </p:pic>
      <p:sp>
        <p:nvSpPr>
          <p:cNvPr id="49" name="ts7-tile"/>
          <p:cNvSpPr/>
          <p:nvPr/>
        </p:nvSpPr>
        <p:spPr>
          <a:xfrm>
            <a:off x="9134856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ts7-img" descr="s17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22638" y="5162702"/>
            <a:ext cx="921716" cy="921716"/>
          </a:xfrm>
          <a:prstGeom prst="rect">
            <a:avLst/>
          </a:prstGeom>
        </p:spPr>
      </p:pic>
      <p:sp>
        <p:nvSpPr>
          <p:cNvPr id="51" name="ts8-tile"/>
          <p:cNvSpPr/>
          <p:nvPr/>
        </p:nvSpPr>
        <p:spPr>
          <a:xfrm>
            <a:off x="10341864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ts8-img" descr="s19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29646" y="5162702"/>
            <a:ext cx="921716" cy="9217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安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セキュリティと法令対応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Аюулгүй байдал, хуулийн нийцэл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13 / 16</a:t>
            </a:r>
          </a:p>
        </p:txBody>
      </p:sp>
      <p:sp>
        <p:nvSpPr>
          <p:cNvPr id="11" name="sec0"/>
          <p:cNvSpPr/>
          <p:nvPr/>
        </p:nvSpPr>
        <p:spPr>
          <a:xfrm>
            <a:off x="548640" y="17830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ec0-bg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ec0-ic" descr="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7" y="2152497"/>
            <a:ext cx="358446" cy="358446"/>
          </a:xfrm>
          <a:prstGeom prst="rect">
            <a:avLst/>
          </a:prstGeom>
        </p:spPr>
      </p:pic>
      <p:sp>
        <p:nvSpPr>
          <p:cNvPr id="14" name="sec0-t"/>
          <p:cNvSpPr txBox="1"/>
          <p:nvPr/>
        </p:nvSpPr>
        <p:spPr>
          <a:xfrm>
            <a:off x="777240" y="274320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SQLインジェクション不可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全クエリをバインド、sqlmapで検証済み</a:t>
            </a:r>
          </a:p>
        </p:txBody>
      </p:sp>
      <p:sp>
        <p:nvSpPr>
          <p:cNvPr id="15" name="sec1"/>
          <p:cNvSpPr/>
          <p:nvPr/>
        </p:nvSpPr>
        <p:spPr>
          <a:xfrm>
            <a:off x="3383280" y="17830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c1-bg"/>
          <p:cNvSpPr/>
          <p:nvPr/>
        </p:nvSpPr>
        <p:spPr>
          <a:xfrm>
            <a:off x="3611880" y="2011680"/>
            <a:ext cx="640080" cy="64008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ec1-ic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697" y="2152497"/>
            <a:ext cx="358446" cy="358446"/>
          </a:xfrm>
          <a:prstGeom prst="rect">
            <a:avLst/>
          </a:prstGeom>
        </p:spPr>
      </p:pic>
      <p:sp>
        <p:nvSpPr>
          <p:cNvPr id="18" name="sec1-t"/>
          <p:cNvSpPr txBox="1"/>
          <p:nvPr/>
        </p:nvSpPr>
        <p:spPr>
          <a:xfrm>
            <a:off x="3611880" y="274320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CSRF・CSP・レート制限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スキャナーボットは自動遮断</a:t>
            </a:r>
          </a:p>
        </p:txBody>
      </p:sp>
      <p:sp>
        <p:nvSpPr>
          <p:cNvPr id="19" name="sec2"/>
          <p:cNvSpPr/>
          <p:nvPr/>
        </p:nvSpPr>
        <p:spPr>
          <a:xfrm>
            <a:off x="6217920" y="17830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ec2-bg"/>
          <p:cNvSpPr/>
          <p:nvPr/>
        </p:nvSpPr>
        <p:spPr>
          <a:xfrm>
            <a:off x="6446520" y="2011680"/>
            <a:ext cx="640080" cy="64008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sec2-ic" descr="ke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7337" y="2152497"/>
            <a:ext cx="358446" cy="358446"/>
          </a:xfrm>
          <a:prstGeom prst="rect">
            <a:avLst/>
          </a:prstGeom>
        </p:spPr>
      </p:pic>
      <p:sp>
        <p:nvSpPr>
          <p:cNvPr id="22" name="sec2-t"/>
          <p:cNvSpPr txBox="1"/>
          <p:nvPr/>
        </p:nvSpPr>
        <p:spPr>
          <a:xfrm>
            <a:off x="6446520" y="274320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管理画面は OTP＋顔認証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25分無操作で自動ロック</a:t>
            </a:r>
          </a:p>
        </p:txBody>
      </p:sp>
      <p:sp>
        <p:nvSpPr>
          <p:cNvPr id="23" name="sec3"/>
          <p:cNvSpPr/>
          <p:nvPr/>
        </p:nvSpPr>
        <p:spPr>
          <a:xfrm>
            <a:off x="9052560" y="17830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ec3-bg"/>
          <p:cNvSpPr/>
          <p:nvPr/>
        </p:nvSpPr>
        <p:spPr>
          <a:xfrm>
            <a:off x="9281160" y="2011680"/>
            <a:ext cx="640080" cy="64008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sec3-ic" descr="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1977" y="2152497"/>
            <a:ext cx="358446" cy="358446"/>
          </a:xfrm>
          <a:prstGeom prst="rect">
            <a:avLst/>
          </a:prstGeom>
        </p:spPr>
      </p:pic>
      <p:sp>
        <p:nvSpPr>
          <p:cNvPr id="26" name="sec3-t"/>
          <p:cNvSpPr txBox="1"/>
          <p:nvPr/>
        </p:nvSpPr>
        <p:spPr>
          <a:xfrm>
            <a:off x="9281160" y="274320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決済は必ず再照会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二重支払い・過少支払いを排除</a:t>
            </a:r>
          </a:p>
        </p:txBody>
      </p:sp>
      <p:sp>
        <p:nvSpPr>
          <p:cNvPr id="27" name="sec4"/>
          <p:cNvSpPr/>
          <p:nvPr/>
        </p:nvSpPr>
        <p:spPr>
          <a:xfrm>
            <a:off x="548640" y="1225296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ec4-bg"/>
          <p:cNvSpPr/>
          <p:nvPr/>
        </p:nvSpPr>
        <p:spPr>
          <a:xfrm>
            <a:off x="777240" y="12481560"/>
            <a:ext cx="640080" cy="64008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sec4-ic" descr="f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057" y="12622377"/>
            <a:ext cx="358446" cy="358446"/>
          </a:xfrm>
          <a:prstGeom prst="rect">
            <a:avLst/>
          </a:prstGeom>
        </p:spPr>
      </p:pic>
      <p:sp>
        <p:nvSpPr>
          <p:cNvPr id="30" name="sec4-t"/>
          <p:cNvSpPr txBox="1"/>
          <p:nvPr/>
        </p:nvSpPr>
        <p:spPr>
          <a:xfrm>
            <a:off x="777240" y="1321308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個人情報保護法に準拠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退会・データ削除・Cookie同意</a:t>
            </a:r>
          </a:p>
        </p:txBody>
      </p:sp>
      <p:sp>
        <p:nvSpPr>
          <p:cNvPr id="31" name="sec5"/>
          <p:cNvSpPr/>
          <p:nvPr/>
        </p:nvSpPr>
        <p:spPr>
          <a:xfrm>
            <a:off x="3383280" y="1225296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ec5-bg"/>
          <p:cNvSpPr/>
          <p:nvPr/>
        </p:nvSpPr>
        <p:spPr>
          <a:xfrm>
            <a:off x="3611880" y="12481560"/>
            <a:ext cx="640080" cy="64008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sec5-ic" descr="us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2697" y="12622377"/>
            <a:ext cx="358446" cy="358446"/>
          </a:xfrm>
          <a:prstGeom prst="rect">
            <a:avLst/>
          </a:prstGeom>
        </p:spPr>
      </p:pic>
      <p:sp>
        <p:nvSpPr>
          <p:cNvPr id="34" name="sec5-t"/>
          <p:cNvSpPr txBox="1"/>
          <p:nvPr/>
        </p:nvSpPr>
        <p:spPr>
          <a:xfrm>
            <a:off x="3611880" y="1321308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不適切コメントを自動排除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多言語フィルター＋画像チェック</a:t>
            </a:r>
          </a:p>
        </p:txBody>
      </p:sp>
      <p:sp>
        <p:nvSpPr>
          <p:cNvPr id="35" name="sec6"/>
          <p:cNvSpPr/>
          <p:nvPr/>
        </p:nvSpPr>
        <p:spPr>
          <a:xfrm>
            <a:off x="6217920" y="1225296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ec6-bg"/>
          <p:cNvSpPr/>
          <p:nvPr/>
        </p:nvSpPr>
        <p:spPr>
          <a:xfrm>
            <a:off x="6446520" y="12481560"/>
            <a:ext cx="640080" cy="64008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sec6-ic" descr="layer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7337" y="12622377"/>
            <a:ext cx="358446" cy="358446"/>
          </a:xfrm>
          <a:prstGeom prst="rect">
            <a:avLst/>
          </a:prstGeom>
        </p:spPr>
      </p:pic>
      <p:sp>
        <p:nvSpPr>
          <p:cNvPr id="38" name="sec6-t"/>
          <p:cNvSpPr txBox="1"/>
          <p:nvPr/>
        </p:nvSpPr>
        <p:spPr>
          <a:xfrm>
            <a:off x="6446520" y="1321308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注文・在庫・クレジットは原子的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二重注文・在庫ズレなし</a:t>
            </a:r>
          </a:p>
        </p:txBody>
      </p:sp>
      <p:sp>
        <p:nvSpPr>
          <p:cNvPr id="39" name="sec7"/>
          <p:cNvSpPr/>
          <p:nvPr/>
        </p:nvSpPr>
        <p:spPr>
          <a:xfrm>
            <a:off x="9052560" y="1225296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c7-bg"/>
          <p:cNvSpPr/>
          <p:nvPr/>
        </p:nvSpPr>
        <p:spPr>
          <a:xfrm>
            <a:off x="9281160" y="12481560"/>
            <a:ext cx="640080" cy="64008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sec7-ic" descr="ch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1977" y="12622377"/>
            <a:ext cx="358446" cy="358446"/>
          </a:xfrm>
          <a:prstGeom prst="rect">
            <a:avLst/>
          </a:prstGeom>
        </p:spPr>
      </p:pic>
      <p:sp>
        <p:nvSpPr>
          <p:cNvPr id="42" name="sec7-t"/>
          <p:cNvSpPr txBox="1"/>
          <p:nvPr/>
        </p:nvSpPr>
        <p:spPr>
          <a:xfrm>
            <a:off x="9281160" y="1321308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在庫台帳と自動検知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すべての変動を記録、ズレを警告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安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セキュリティと法令対応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Аюулгүй байдал, хуулийн нийцэл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13 / 16</a:t>
            </a:r>
          </a:p>
        </p:txBody>
      </p:sp>
      <p:sp>
        <p:nvSpPr>
          <p:cNvPr id="11" name="sec0"/>
          <p:cNvSpPr/>
          <p:nvPr/>
        </p:nvSpPr>
        <p:spPr>
          <a:xfrm>
            <a:off x="548640" y="17830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ec0-bg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ec0-ic" descr="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7" y="2152497"/>
            <a:ext cx="358446" cy="358446"/>
          </a:xfrm>
          <a:prstGeom prst="rect">
            <a:avLst/>
          </a:prstGeom>
        </p:spPr>
      </p:pic>
      <p:sp>
        <p:nvSpPr>
          <p:cNvPr id="14" name="sec0-t"/>
          <p:cNvSpPr txBox="1"/>
          <p:nvPr/>
        </p:nvSpPr>
        <p:spPr>
          <a:xfrm>
            <a:off x="777240" y="274320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SQLインジェクション不可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全クエリをバインド、sqlmapで検証済み</a:t>
            </a:r>
          </a:p>
        </p:txBody>
      </p:sp>
      <p:sp>
        <p:nvSpPr>
          <p:cNvPr id="15" name="sec1"/>
          <p:cNvSpPr/>
          <p:nvPr/>
        </p:nvSpPr>
        <p:spPr>
          <a:xfrm>
            <a:off x="3383280" y="17830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c1-bg"/>
          <p:cNvSpPr/>
          <p:nvPr/>
        </p:nvSpPr>
        <p:spPr>
          <a:xfrm>
            <a:off x="3611880" y="2011680"/>
            <a:ext cx="640080" cy="64008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ec1-ic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697" y="2152497"/>
            <a:ext cx="358446" cy="358446"/>
          </a:xfrm>
          <a:prstGeom prst="rect">
            <a:avLst/>
          </a:prstGeom>
        </p:spPr>
      </p:pic>
      <p:sp>
        <p:nvSpPr>
          <p:cNvPr id="18" name="sec1-t"/>
          <p:cNvSpPr txBox="1"/>
          <p:nvPr/>
        </p:nvSpPr>
        <p:spPr>
          <a:xfrm>
            <a:off x="3611880" y="274320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CSRF・CSP・レート制限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スキャナーボットは自動遮断</a:t>
            </a:r>
          </a:p>
        </p:txBody>
      </p:sp>
      <p:sp>
        <p:nvSpPr>
          <p:cNvPr id="19" name="sec2"/>
          <p:cNvSpPr/>
          <p:nvPr/>
        </p:nvSpPr>
        <p:spPr>
          <a:xfrm>
            <a:off x="6217920" y="17830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ec2-bg"/>
          <p:cNvSpPr/>
          <p:nvPr/>
        </p:nvSpPr>
        <p:spPr>
          <a:xfrm>
            <a:off x="6446520" y="2011680"/>
            <a:ext cx="640080" cy="64008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sec2-ic" descr="ke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7337" y="2152497"/>
            <a:ext cx="358446" cy="358446"/>
          </a:xfrm>
          <a:prstGeom prst="rect">
            <a:avLst/>
          </a:prstGeom>
        </p:spPr>
      </p:pic>
      <p:sp>
        <p:nvSpPr>
          <p:cNvPr id="22" name="sec2-t"/>
          <p:cNvSpPr txBox="1"/>
          <p:nvPr/>
        </p:nvSpPr>
        <p:spPr>
          <a:xfrm>
            <a:off x="6446520" y="274320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管理画面は OTP＋顔認証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25分無操作で自動ロック</a:t>
            </a:r>
          </a:p>
        </p:txBody>
      </p:sp>
      <p:sp>
        <p:nvSpPr>
          <p:cNvPr id="23" name="sec3"/>
          <p:cNvSpPr/>
          <p:nvPr/>
        </p:nvSpPr>
        <p:spPr>
          <a:xfrm>
            <a:off x="9052560" y="17830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ec3-bg"/>
          <p:cNvSpPr/>
          <p:nvPr/>
        </p:nvSpPr>
        <p:spPr>
          <a:xfrm>
            <a:off x="9281160" y="2011680"/>
            <a:ext cx="640080" cy="64008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sec3-ic" descr="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1977" y="2152497"/>
            <a:ext cx="358446" cy="358446"/>
          </a:xfrm>
          <a:prstGeom prst="rect">
            <a:avLst/>
          </a:prstGeom>
        </p:spPr>
      </p:pic>
      <p:sp>
        <p:nvSpPr>
          <p:cNvPr id="26" name="sec3-t"/>
          <p:cNvSpPr txBox="1"/>
          <p:nvPr/>
        </p:nvSpPr>
        <p:spPr>
          <a:xfrm>
            <a:off x="9281160" y="274320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決済は必ず再照会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二重支払い・過少支払いを排除</a:t>
            </a:r>
          </a:p>
        </p:txBody>
      </p:sp>
      <p:sp>
        <p:nvSpPr>
          <p:cNvPr id="27" name="sec4"/>
          <p:cNvSpPr/>
          <p:nvPr/>
        </p:nvSpPr>
        <p:spPr>
          <a:xfrm>
            <a:off x="548640" y="402336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ec4-bg"/>
          <p:cNvSpPr/>
          <p:nvPr/>
        </p:nvSpPr>
        <p:spPr>
          <a:xfrm>
            <a:off x="777240" y="4251960"/>
            <a:ext cx="640080" cy="64008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sec4-ic" descr="f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057" y="4392777"/>
            <a:ext cx="358446" cy="358446"/>
          </a:xfrm>
          <a:prstGeom prst="rect">
            <a:avLst/>
          </a:prstGeom>
        </p:spPr>
      </p:pic>
      <p:sp>
        <p:nvSpPr>
          <p:cNvPr id="30" name="sec4-t"/>
          <p:cNvSpPr txBox="1"/>
          <p:nvPr/>
        </p:nvSpPr>
        <p:spPr>
          <a:xfrm>
            <a:off x="777240" y="498348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個人情報保護法に準拠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退会・データ削除・Cookie同意</a:t>
            </a:r>
          </a:p>
        </p:txBody>
      </p:sp>
      <p:sp>
        <p:nvSpPr>
          <p:cNvPr id="31" name="sec5"/>
          <p:cNvSpPr/>
          <p:nvPr/>
        </p:nvSpPr>
        <p:spPr>
          <a:xfrm>
            <a:off x="3383280" y="402336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ec5-bg"/>
          <p:cNvSpPr/>
          <p:nvPr/>
        </p:nvSpPr>
        <p:spPr>
          <a:xfrm>
            <a:off x="3611880" y="4251960"/>
            <a:ext cx="640080" cy="64008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sec5-ic" descr="us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2697" y="4392777"/>
            <a:ext cx="358446" cy="358446"/>
          </a:xfrm>
          <a:prstGeom prst="rect">
            <a:avLst/>
          </a:prstGeom>
        </p:spPr>
      </p:pic>
      <p:sp>
        <p:nvSpPr>
          <p:cNvPr id="34" name="sec5-t"/>
          <p:cNvSpPr txBox="1"/>
          <p:nvPr/>
        </p:nvSpPr>
        <p:spPr>
          <a:xfrm>
            <a:off x="3611880" y="498348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不適切コメントを自動排除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多言語フィルター＋画像チェック</a:t>
            </a:r>
          </a:p>
        </p:txBody>
      </p:sp>
      <p:sp>
        <p:nvSpPr>
          <p:cNvPr id="35" name="sec6"/>
          <p:cNvSpPr/>
          <p:nvPr/>
        </p:nvSpPr>
        <p:spPr>
          <a:xfrm>
            <a:off x="6217920" y="402336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ec6-bg"/>
          <p:cNvSpPr/>
          <p:nvPr/>
        </p:nvSpPr>
        <p:spPr>
          <a:xfrm>
            <a:off x="6446520" y="4251960"/>
            <a:ext cx="640080" cy="64008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sec6-ic" descr="layer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7337" y="4392777"/>
            <a:ext cx="358446" cy="358446"/>
          </a:xfrm>
          <a:prstGeom prst="rect">
            <a:avLst/>
          </a:prstGeom>
        </p:spPr>
      </p:pic>
      <p:sp>
        <p:nvSpPr>
          <p:cNvPr id="38" name="sec6-t"/>
          <p:cNvSpPr txBox="1"/>
          <p:nvPr/>
        </p:nvSpPr>
        <p:spPr>
          <a:xfrm>
            <a:off x="6446520" y="498348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注文・在庫・クレジットは原子的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二重注文・在庫ズレなし</a:t>
            </a:r>
          </a:p>
        </p:txBody>
      </p:sp>
      <p:sp>
        <p:nvSpPr>
          <p:cNvPr id="39" name="sec7"/>
          <p:cNvSpPr/>
          <p:nvPr/>
        </p:nvSpPr>
        <p:spPr>
          <a:xfrm>
            <a:off x="9052560" y="402336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c7-bg"/>
          <p:cNvSpPr/>
          <p:nvPr/>
        </p:nvSpPr>
        <p:spPr>
          <a:xfrm>
            <a:off x="9281160" y="4251960"/>
            <a:ext cx="640080" cy="640080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sec7-ic" descr="ch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1977" y="4392777"/>
            <a:ext cx="358446" cy="358446"/>
          </a:xfrm>
          <a:prstGeom prst="rect">
            <a:avLst/>
          </a:prstGeom>
        </p:spPr>
      </p:pic>
      <p:sp>
        <p:nvSpPr>
          <p:cNvPr id="42" name="sec7-t"/>
          <p:cNvSpPr txBox="1"/>
          <p:nvPr/>
        </p:nvSpPr>
        <p:spPr>
          <a:xfrm>
            <a:off x="9281160" y="498348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在庫台帳と自動検知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すべての変動を記録、ズレを警告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数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現状の数字（2026年9月14日、本番システム計測）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Одоогийн тоо баримт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14 / 16</a:t>
            </a:r>
          </a:p>
        </p:txBody>
      </p:sp>
      <p:sp>
        <p:nvSpPr>
          <p:cNvPr id="11" name="stat0"/>
          <p:cNvSpPr/>
          <p:nvPr/>
        </p:nvSpPr>
        <p:spPr>
          <a:xfrm>
            <a:off x="1577340" y="2651760"/>
            <a:ext cx="54864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1"/>
          <p:cNvSpPr/>
          <p:nvPr/>
        </p:nvSpPr>
        <p:spPr>
          <a:xfrm>
            <a:off x="4411980" y="2651760"/>
            <a:ext cx="54864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2"/>
          <p:cNvSpPr/>
          <p:nvPr/>
        </p:nvSpPr>
        <p:spPr>
          <a:xfrm>
            <a:off x="7246620" y="2651760"/>
            <a:ext cx="54864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3"/>
          <p:cNvSpPr/>
          <p:nvPr/>
        </p:nvSpPr>
        <p:spPr>
          <a:xfrm>
            <a:off x="10081260" y="2651760"/>
            <a:ext cx="54864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4"/>
          <p:cNvSpPr/>
          <p:nvPr/>
        </p:nvSpPr>
        <p:spPr>
          <a:xfrm>
            <a:off x="1577340" y="4846320"/>
            <a:ext cx="54864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5"/>
          <p:cNvSpPr/>
          <p:nvPr/>
        </p:nvSpPr>
        <p:spPr>
          <a:xfrm>
            <a:off x="4411980" y="4846320"/>
            <a:ext cx="54864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6"/>
          <p:cNvSpPr/>
          <p:nvPr/>
        </p:nvSpPr>
        <p:spPr>
          <a:xfrm>
            <a:off x="7246620" y="4846320"/>
            <a:ext cx="54864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7"/>
          <p:cNvSpPr/>
          <p:nvPr/>
        </p:nvSpPr>
        <p:spPr>
          <a:xfrm>
            <a:off x="10081260" y="4846320"/>
            <a:ext cx="54864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数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現状の数字（2026年9月14日、本番システム計測）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Одоогийн тоо баримт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14 / 16</a:t>
            </a:r>
          </a:p>
        </p:txBody>
      </p:sp>
      <p:sp>
        <p:nvSpPr>
          <p:cNvPr id="11" name="stat0"/>
          <p:cNvSpPr/>
          <p:nvPr/>
        </p:nvSpPr>
        <p:spPr>
          <a:xfrm>
            <a:off x="548640" y="192024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0-v"/>
          <p:cNvSpPr txBox="1"/>
          <p:nvPr/>
        </p:nvSpPr>
        <p:spPr>
          <a:xfrm>
            <a:off x="548640" y="201168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B3122B"/>
                </a:solidFill>
                <a:latin typeface="Segoe UI"/>
              </a:rPr>
              <a:t>980</a:t>
            </a:r>
          </a:p>
        </p:txBody>
      </p:sp>
      <p:sp>
        <p:nvSpPr>
          <p:cNvPr id="13" name="stat0-t"/>
          <p:cNvSpPr txBox="1"/>
          <p:nvPr/>
        </p:nvSpPr>
        <p:spPr>
          <a:xfrm>
            <a:off x="548640" y="288036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掲載商品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Нийтлэгдсэн бараа</a:t>
            </a:r>
          </a:p>
        </p:txBody>
      </p:sp>
      <p:sp>
        <p:nvSpPr>
          <p:cNvPr id="14" name="stat1"/>
          <p:cNvSpPr/>
          <p:nvPr/>
        </p:nvSpPr>
        <p:spPr>
          <a:xfrm>
            <a:off x="3383280" y="192024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1-v"/>
          <p:cNvSpPr txBox="1"/>
          <p:nvPr/>
        </p:nvSpPr>
        <p:spPr>
          <a:xfrm>
            <a:off x="3383280" y="201168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2F6FB3"/>
                </a:solidFill>
                <a:latin typeface="Segoe UI"/>
              </a:rPr>
              <a:t>4+1</a:t>
            </a:r>
          </a:p>
        </p:txBody>
      </p:sp>
      <p:sp>
        <p:nvSpPr>
          <p:cNvPr id="16" name="stat1-t"/>
          <p:cNvSpPr txBox="1"/>
          <p:nvPr/>
        </p:nvSpPr>
        <p:spPr>
          <a:xfrm>
            <a:off x="3383280" y="288036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店舗＋倉庫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Салбар + агуулах</a:t>
            </a:r>
          </a:p>
        </p:txBody>
      </p:sp>
      <p:sp>
        <p:nvSpPr>
          <p:cNvPr id="17" name="stat2"/>
          <p:cNvSpPr/>
          <p:nvPr/>
        </p:nvSpPr>
        <p:spPr>
          <a:xfrm>
            <a:off x="6217920" y="192024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2-v"/>
          <p:cNvSpPr txBox="1"/>
          <p:nvPr/>
        </p:nvSpPr>
        <p:spPr>
          <a:xfrm>
            <a:off x="6217920" y="201168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B3122B"/>
                </a:solidFill>
                <a:latin typeface="Segoe UI"/>
              </a:rPr>
              <a:t>3</a:t>
            </a:r>
          </a:p>
        </p:txBody>
      </p:sp>
      <p:sp>
        <p:nvSpPr>
          <p:cNvPr id="19" name="stat2-t"/>
          <p:cNvSpPr txBox="1"/>
          <p:nvPr/>
        </p:nvSpPr>
        <p:spPr>
          <a:xfrm>
            <a:off x="6217920" y="288036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対応言語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Хэл</a:t>
            </a:r>
          </a:p>
        </p:txBody>
      </p:sp>
      <p:sp>
        <p:nvSpPr>
          <p:cNvPr id="20" name="stat3"/>
          <p:cNvSpPr/>
          <p:nvPr/>
        </p:nvSpPr>
        <p:spPr>
          <a:xfrm>
            <a:off x="9052560" y="192024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t3-v"/>
          <p:cNvSpPr txBox="1"/>
          <p:nvPr/>
        </p:nvSpPr>
        <p:spPr>
          <a:xfrm>
            <a:off x="9052560" y="201168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2F6FB3"/>
                </a:solidFill>
                <a:latin typeface="Segoe UI"/>
              </a:rPr>
              <a:t>935</a:t>
            </a:r>
          </a:p>
        </p:txBody>
      </p:sp>
      <p:sp>
        <p:nvSpPr>
          <p:cNvPr id="22" name="stat3-t"/>
          <p:cNvSpPr txBox="1"/>
          <p:nvPr/>
        </p:nvSpPr>
        <p:spPr>
          <a:xfrm>
            <a:off x="9052560" y="288036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自動テスト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Автомат тест</a:t>
            </a:r>
          </a:p>
        </p:txBody>
      </p:sp>
      <p:sp>
        <p:nvSpPr>
          <p:cNvPr id="23" name="stat4"/>
          <p:cNvSpPr/>
          <p:nvPr/>
        </p:nvSpPr>
        <p:spPr>
          <a:xfrm>
            <a:off x="548640" y="411480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at4-v"/>
          <p:cNvSpPr txBox="1"/>
          <p:nvPr/>
        </p:nvSpPr>
        <p:spPr>
          <a:xfrm>
            <a:off x="548640" y="420624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B3122B"/>
                </a:solidFill>
                <a:latin typeface="Segoe UI"/>
              </a:rPr>
              <a:t>61</a:t>
            </a:r>
          </a:p>
        </p:txBody>
      </p:sp>
      <p:sp>
        <p:nvSpPr>
          <p:cNvPr id="25" name="stat4-t"/>
          <p:cNvSpPr txBox="1"/>
          <p:nvPr/>
        </p:nvSpPr>
        <p:spPr>
          <a:xfrm>
            <a:off x="548640" y="507492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DBテーブル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Хүснэгт</a:t>
            </a:r>
          </a:p>
        </p:txBody>
      </p:sp>
      <p:sp>
        <p:nvSpPr>
          <p:cNvPr id="26" name="stat5"/>
          <p:cNvSpPr/>
          <p:nvPr/>
        </p:nvSpPr>
        <p:spPr>
          <a:xfrm>
            <a:off x="3383280" y="411480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t5-v"/>
          <p:cNvSpPr txBox="1"/>
          <p:nvPr/>
        </p:nvSpPr>
        <p:spPr>
          <a:xfrm>
            <a:off x="3383280" y="420624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2F6FB3"/>
                </a:solidFill>
                <a:latin typeface="Segoe UI"/>
              </a:rPr>
              <a:t>&lt;0.2s</a:t>
            </a:r>
          </a:p>
        </p:txBody>
      </p:sp>
      <p:sp>
        <p:nvSpPr>
          <p:cNvPr id="28" name="stat5-t"/>
          <p:cNvSpPr txBox="1"/>
          <p:nvPr/>
        </p:nvSpPr>
        <p:spPr>
          <a:xfrm>
            <a:off x="3383280" y="507492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ページ応答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Хуудасны хариу</a:t>
            </a:r>
          </a:p>
        </p:txBody>
      </p:sp>
      <p:sp>
        <p:nvSpPr>
          <p:cNvPr id="29" name="stat6"/>
          <p:cNvSpPr/>
          <p:nvPr/>
        </p:nvSpPr>
        <p:spPr>
          <a:xfrm>
            <a:off x="6217920" y="411480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t6-v"/>
          <p:cNvSpPr txBox="1"/>
          <p:nvPr/>
        </p:nvSpPr>
        <p:spPr>
          <a:xfrm>
            <a:off x="6217920" y="420624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B3122B"/>
                </a:solidFill>
                <a:latin typeface="Segoe UI"/>
              </a:rPr>
              <a:t>30日</a:t>
            </a:r>
          </a:p>
        </p:txBody>
      </p:sp>
      <p:sp>
        <p:nvSpPr>
          <p:cNvPr id="31" name="stat6-t"/>
          <p:cNvSpPr txBox="1"/>
          <p:nvPr/>
        </p:nvSpPr>
        <p:spPr>
          <a:xfrm>
            <a:off x="6217920" y="507492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バックアップ保持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Backup</a:t>
            </a:r>
          </a:p>
        </p:txBody>
      </p:sp>
      <p:sp>
        <p:nvSpPr>
          <p:cNvPr id="32" name="stat7"/>
          <p:cNvSpPr/>
          <p:nvPr/>
        </p:nvSpPr>
        <p:spPr>
          <a:xfrm>
            <a:off x="9052560" y="411480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t7-v"/>
          <p:cNvSpPr txBox="1"/>
          <p:nvPr/>
        </p:nvSpPr>
        <p:spPr>
          <a:xfrm>
            <a:off x="9052560" y="420624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2F6FB3"/>
                </a:solidFill>
                <a:latin typeface="Segoe UI"/>
              </a:rPr>
              <a:t>0</a:t>
            </a:r>
          </a:p>
        </p:txBody>
      </p:sp>
      <p:sp>
        <p:nvSpPr>
          <p:cNvPr id="34" name="stat7-t"/>
          <p:cNvSpPr txBox="1"/>
          <p:nvPr/>
        </p:nvSpPr>
        <p:spPr>
          <a:xfrm>
            <a:off x="9052560" y="507492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AA コントラスト違反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Контрастын алдаа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共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ロードマップと、ご協力いただきたいこと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Дараагийн алхам, хамтын ажиллагаа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15 / 16</a:t>
            </a:r>
          </a:p>
        </p:txBody>
      </p:sp>
      <p:sp>
        <p:nvSpPr>
          <p:cNvPr id="11" name="tl"/>
          <p:cNvSpPr/>
          <p:nvPr/>
        </p:nvSpPr>
        <p:spPr>
          <a:xfrm>
            <a:off x="822960" y="2788920"/>
            <a:ext cx="6400800" cy="45720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t0"/>
          <p:cNvSpPr/>
          <p:nvPr/>
        </p:nvSpPr>
        <p:spPr>
          <a:xfrm>
            <a:off x="1097280" y="2606040"/>
            <a:ext cx="411480" cy="411480"/>
          </a:xfrm>
          <a:prstGeom prst="ellipse">
            <a:avLst/>
          </a:prstGeom>
          <a:solidFill>
            <a:srgbClr val="B3122B"/>
          </a:solidFill>
          <a:ln>
            <a:noFill/>
          </a:ln>
          <a:effectLst>
            <a:outerShdw blurRad="177800" dist="381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0"/>
          <p:cNvSpPr txBox="1"/>
          <p:nvPr/>
        </p:nvSpPr>
        <p:spPr>
          <a:xfrm>
            <a:off x="54864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B3122B"/>
                </a:solidFill>
                <a:latin typeface="Segoe UI"/>
              </a:rPr>
              <a:t>2026 Q4</a:t>
            </a:r>
          </a:p>
        </p:txBody>
      </p:sp>
      <p:sp>
        <p:nvSpPr>
          <p:cNvPr id="14" name="road0"/>
          <p:cNvSpPr txBox="1"/>
          <p:nvPr/>
        </p:nvSpPr>
        <p:spPr>
          <a:xfrm>
            <a:off x="548640" y="3200400"/>
            <a:ext cx="16002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4161A"/>
                </a:solidFill>
                <a:latin typeface="Yu Gothic UI"/>
              </a:rPr>
              <a:t>QPay・StorePay 本番接続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eBarimt 電子領収書連携</a:t>
            </a:r>
          </a:p>
        </p:txBody>
      </p:sp>
      <p:sp>
        <p:nvSpPr>
          <p:cNvPr id="15" name="dot1"/>
          <p:cNvSpPr/>
          <p:nvPr/>
        </p:nvSpPr>
        <p:spPr>
          <a:xfrm>
            <a:off x="2788920" y="2606040"/>
            <a:ext cx="411480" cy="411480"/>
          </a:xfrm>
          <a:prstGeom prst="ellipse">
            <a:avLst/>
          </a:prstGeom>
          <a:solidFill>
            <a:srgbClr val="C99312"/>
          </a:solidFill>
          <a:ln>
            <a:noFill/>
          </a:ln>
          <a:effectLst>
            <a:outerShdw blurRad="177800" dist="381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q1"/>
          <p:cNvSpPr txBox="1"/>
          <p:nvPr/>
        </p:nvSpPr>
        <p:spPr>
          <a:xfrm>
            <a:off x="224028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99312"/>
                </a:solidFill>
                <a:latin typeface="Segoe UI"/>
              </a:rPr>
              <a:t>2027 Q1</a:t>
            </a:r>
          </a:p>
        </p:txBody>
      </p:sp>
      <p:sp>
        <p:nvSpPr>
          <p:cNvPr id="17" name="road1"/>
          <p:cNvSpPr txBox="1"/>
          <p:nvPr/>
        </p:nvSpPr>
        <p:spPr>
          <a:xfrm>
            <a:off x="2240280" y="3200400"/>
            <a:ext cx="16002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4161A"/>
                </a:solidFill>
                <a:latin typeface="Yu Gothic UI"/>
              </a:rPr>
              <a:t>配送パートナー・自社ドメイン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全商品の写真撮影</a:t>
            </a:r>
          </a:p>
        </p:txBody>
      </p:sp>
      <p:sp>
        <p:nvSpPr>
          <p:cNvPr id="18" name="dot2"/>
          <p:cNvSpPr/>
          <p:nvPr/>
        </p:nvSpPr>
        <p:spPr>
          <a:xfrm>
            <a:off x="4480560" y="10835640"/>
            <a:ext cx="411480" cy="411480"/>
          </a:xfrm>
          <a:prstGeom prst="ellipse">
            <a:avLst/>
          </a:prstGeom>
          <a:solidFill>
            <a:srgbClr val="2F6FB3"/>
          </a:solidFill>
          <a:ln>
            <a:noFill/>
          </a:ln>
          <a:effectLst>
            <a:outerShdw blurRad="177800" dist="381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q2"/>
          <p:cNvSpPr txBox="1"/>
          <p:nvPr/>
        </p:nvSpPr>
        <p:spPr>
          <a:xfrm>
            <a:off x="3931920" y="100126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FB3"/>
                </a:solidFill>
                <a:latin typeface="Segoe UI"/>
              </a:rPr>
              <a:t>2027 Q2</a:t>
            </a:r>
          </a:p>
        </p:txBody>
      </p:sp>
      <p:sp>
        <p:nvSpPr>
          <p:cNvPr id="20" name="road2"/>
          <p:cNvSpPr txBox="1"/>
          <p:nvPr/>
        </p:nvSpPr>
        <p:spPr>
          <a:xfrm>
            <a:off x="3931920" y="11430000"/>
            <a:ext cx="16002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4161A"/>
                </a:solidFill>
                <a:latin typeface="Yu Gothic UI"/>
              </a:rPr>
              <a:t>広告計測・レビュー特典・紹介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Google / Meta 計測開始</a:t>
            </a:r>
          </a:p>
        </p:txBody>
      </p:sp>
      <p:sp>
        <p:nvSpPr>
          <p:cNvPr id="21" name="dot3"/>
          <p:cNvSpPr/>
          <p:nvPr/>
        </p:nvSpPr>
        <p:spPr>
          <a:xfrm>
            <a:off x="6172200" y="10835640"/>
            <a:ext cx="411480" cy="411480"/>
          </a:xfrm>
          <a:prstGeom prst="ellipse">
            <a:avLst/>
          </a:prstGeom>
          <a:solidFill>
            <a:srgbClr val="2F6B4F"/>
          </a:solidFill>
          <a:ln>
            <a:noFill/>
          </a:ln>
          <a:effectLst>
            <a:outerShdw blurRad="177800" dist="381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q3"/>
          <p:cNvSpPr txBox="1"/>
          <p:nvPr/>
        </p:nvSpPr>
        <p:spPr>
          <a:xfrm>
            <a:off x="5623560" y="100126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B4F"/>
                </a:solidFill>
                <a:latin typeface="Segoe UI"/>
              </a:rPr>
              <a:t>2027 H2</a:t>
            </a:r>
          </a:p>
        </p:txBody>
      </p:sp>
      <p:sp>
        <p:nvSpPr>
          <p:cNvPr id="23" name="road3"/>
          <p:cNvSpPr txBox="1"/>
          <p:nvPr/>
        </p:nvSpPr>
        <p:spPr>
          <a:xfrm>
            <a:off x="5623560" y="11430000"/>
            <a:ext cx="16002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4161A"/>
                </a:solidFill>
                <a:latin typeface="Yu Gothic UI"/>
              </a:rPr>
              <a:t>本社データとのAPI連携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在庫・商品マスター</a:t>
            </a:r>
          </a:p>
        </p:txBody>
      </p:sp>
      <p:sp>
        <p:nvSpPr>
          <p:cNvPr id="24" name="rs0-tile"/>
          <p:cNvSpPr/>
          <p:nvPr/>
        </p:nvSpPr>
        <p:spPr>
          <a:xfrm>
            <a:off x="685800" y="131216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rs0-img" descr="s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" y="13202107"/>
            <a:ext cx="844906" cy="844906"/>
          </a:xfrm>
          <a:prstGeom prst="rect">
            <a:avLst/>
          </a:prstGeom>
        </p:spPr>
      </p:pic>
      <p:sp>
        <p:nvSpPr>
          <p:cNvPr id="26" name="rs1-tile"/>
          <p:cNvSpPr/>
          <p:nvPr/>
        </p:nvSpPr>
        <p:spPr>
          <a:xfrm>
            <a:off x="1783080" y="131216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rs1-img" descr="s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3547" y="13202107"/>
            <a:ext cx="844906" cy="844906"/>
          </a:xfrm>
          <a:prstGeom prst="rect">
            <a:avLst/>
          </a:prstGeom>
        </p:spPr>
      </p:pic>
      <p:sp>
        <p:nvSpPr>
          <p:cNvPr id="28" name="rs2-tile"/>
          <p:cNvSpPr/>
          <p:nvPr/>
        </p:nvSpPr>
        <p:spPr>
          <a:xfrm>
            <a:off x="2880360" y="131216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rs2-img" descr="s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0827" y="13202107"/>
            <a:ext cx="844906" cy="844906"/>
          </a:xfrm>
          <a:prstGeom prst="rect">
            <a:avLst/>
          </a:prstGeom>
        </p:spPr>
      </p:pic>
      <p:sp>
        <p:nvSpPr>
          <p:cNvPr id="30" name="rs3-tile"/>
          <p:cNvSpPr/>
          <p:nvPr/>
        </p:nvSpPr>
        <p:spPr>
          <a:xfrm>
            <a:off x="3977640" y="131216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s3-img" descr="s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8107" y="13202107"/>
            <a:ext cx="844906" cy="844906"/>
          </a:xfrm>
          <a:prstGeom prst="rect">
            <a:avLst/>
          </a:prstGeom>
        </p:spPr>
      </p:pic>
      <p:sp>
        <p:nvSpPr>
          <p:cNvPr id="32" name="rs4-tile"/>
          <p:cNvSpPr/>
          <p:nvPr/>
        </p:nvSpPr>
        <p:spPr>
          <a:xfrm>
            <a:off x="5074920" y="131216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rs4-img" descr="s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5387" y="13202107"/>
            <a:ext cx="844906" cy="844906"/>
          </a:xfrm>
          <a:prstGeom prst="rect">
            <a:avLst/>
          </a:prstGeom>
        </p:spPr>
      </p:pic>
      <p:sp>
        <p:nvSpPr>
          <p:cNvPr id="34" name="rs5-tile"/>
          <p:cNvSpPr/>
          <p:nvPr/>
        </p:nvSpPr>
        <p:spPr>
          <a:xfrm>
            <a:off x="6172200" y="131216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rs5-img" descr="s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2667" y="13202107"/>
            <a:ext cx="844906" cy="844906"/>
          </a:xfrm>
          <a:prstGeom prst="rect">
            <a:avLst/>
          </a:prstGeom>
        </p:spPr>
      </p:pic>
      <p:sp>
        <p:nvSpPr>
          <p:cNvPr id="36" name="ask"/>
          <p:cNvSpPr/>
          <p:nvPr/>
        </p:nvSpPr>
        <p:spPr>
          <a:xfrm>
            <a:off x="7680960" y="9966960"/>
            <a:ext cx="3977639" cy="4343400"/>
          </a:xfrm>
          <a:prstGeom prst="roundRect">
            <a:avLst>
              <a:gd name="adj" fmla="val 6000"/>
            </a:avLst>
          </a:prstGeom>
          <a:solidFill>
            <a:srgbClr val="14161A"/>
          </a:solidFill>
          <a:ln>
            <a:noFill/>
          </a:ln>
          <a:effectLst>
            <a:outerShdw blurRad="457200" dist="127000" dir="5400000" algn="ctr" rotWithShape="0">
              <a:srgbClr val="1A14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sk-bg"/>
          <p:cNvSpPr/>
          <p:nvPr/>
        </p:nvSpPr>
        <p:spPr>
          <a:xfrm>
            <a:off x="7955279" y="10195560"/>
            <a:ext cx="731520" cy="73152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ask-ic" descr="handshak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6213" y="10356494"/>
            <a:ext cx="409652" cy="409652"/>
          </a:xfrm>
          <a:prstGeom prst="rect">
            <a:avLst/>
          </a:prstGeom>
        </p:spPr>
      </p:pic>
      <p:sp>
        <p:nvSpPr>
          <p:cNvPr id="39" name="ask-t"/>
          <p:cNvSpPr txBox="1"/>
          <p:nvPr/>
        </p:nvSpPr>
        <p:spPr>
          <a:xfrm>
            <a:off x="7955279" y="11018520"/>
            <a:ext cx="3474720" cy="3200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Yu Mincho Demibold"/>
              </a:rPr>
              <a:t>日本側へのお願い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・商品マスター（成分・内容量・使用期限）の提供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B8BDC4"/>
                </a:solidFill>
                <a:latin typeface="Segoe UI"/>
              </a:rPr>
              <a:t>　Барааны мэдээллийн сан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・日本語商品説明と公式画像の利用許諾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B8BDC4"/>
                </a:solidFill>
                <a:latin typeface="Segoe UI"/>
              </a:rPr>
              <a:t>　Тайлбар, албан ёсны зураг ашиглах зөвшөөрөл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・物流・決済立ち上げへの投資と提携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B8BDC4"/>
                </a:solidFill>
                <a:latin typeface="Segoe UI"/>
              </a:rPr>
              <a:t>　Логистик, төлбөрт хөрөнгө оруулалт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共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ロードマップと、ご協力いただきたいこと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Дараагийн алхам, хамтын ажиллагаа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15 / 16</a:t>
            </a:r>
          </a:p>
        </p:txBody>
      </p:sp>
      <p:sp>
        <p:nvSpPr>
          <p:cNvPr id="11" name="tl"/>
          <p:cNvSpPr/>
          <p:nvPr/>
        </p:nvSpPr>
        <p:spPr>
          <a:xfrm>
            <a:off x="822960" y="2788920"/>
            <a:ext cx="6400800" cy="45720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t0"/>
          <p:cNvSpPr/>
          <p:nvPr/>
        </p:nvSpPr>
        <p:spPr>
          <a:xfrm>
            <a:off x="1097280" y="2606040"/>
            <a:ext cx="411480" cy="411480"/>
          </a:xfrm>
          <a:prstGeom prst="ellipse">
            <a:avLst/>
          </a:prstGeom>
          <a:solidFill>
            <a:srgbClr val="B3122B"/>
          </a:solidFill>
          <a:ln>
            <a:noFill/>
          </a:ln>
          <a:effectLst>
            <a:outerShdw blurRad="177800" dist="381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0"/>
          <p:cNvSpPr txBox="1"/>
          <p:nvPr/>
        </p:nvSpPr>
        <p:spPr>
          <a:xfrm>
            <a:off x="54864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B3122B"/>
                </a:solidFill>
                <a:latin typeface="Segoe UI"/>
              </a:rPr>
              <a:t>2026 Q4</a:t>
            </a:r>
          </a:p>
        </p:txBody>
      </p:sp>
      <p:sp>
        <p:nvSpPr>
          <p:cNvPr id="14" name="road0"/>
          <p:cNvSpPr txBox="1"/>
          <p:nvPr/>
        </p:nvSpPr>
        <p:spPr>
          <a:xfrm>
            <a:off x="548640" y="3200400"/>
            <a:ext cx="16002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4161A"/>
                </a:solidFill>
                <a:latin typeface="Yu Gothic UI"/>
              </a:rPr>
              <a:t>QPay・StorePay 本番接続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eBarimt 電子領収書連携</a:t>
            </a:r>
          </a:p>
        </p:txBody>
      </p:sp>
      <p:sp>
        <p:nvSpPr>
          <p:cNvPr id="15" name="dot1"/>
          <p:cNvSpPr/>
          <p:nvPr/>
        </p:nvSpPr>
        <p:spPr>
          <a:xfrm>
            <a:off x="2788920" y="2606040"/>
            <a:ext cx="411480" cy="411480"/>
          </a:xfrm>
          <a:prstGeom prst="ellipse">
            <a:avLst/>
          </a:prstGeom>
          <a:solidFill>
            <a:srgbClr val="C99312"/>
          </a:solidFill>
          <a:ln>
            <a:noFill/>
          </a:ln>
          <a:effectLst>
            <a:outerShdw blurRad="177800" dist="381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q1"/>
          <p:cNvSpPr txBox="1"/>
          <p:nvPr/>
        </p:nvSpPr>
        <p:spPr>
          <a:xfrm>
            <a:off x="224028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99312"/>
                </a:solidFill>
                <a:latin typeface="Segoe UI"/>
              </a:rPr>
              <a:t>2027 Q1</a:t>
            </a:r>
          </a:p>
        </p:txBody>
      </p:sp>
      <p:sp>
        <p:nvSpPr>
          <p:cNvPr id="17" name="road1"/>
          <p:cNvSpPr txBox="1"/>
          <p:nvPr/>
        </p:nvSpPr>
        <p:spPr>
          <a:xfrm>
            <a:off x="2240280" y="3200400"/>
            <a:ext cx="16002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4161A"/>
                </a:solidFill>
                <a:latin typeface="Yu Gothic UI"/>
              </a:rPr>
              <a:t>配送パートナー・自社ドメイン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全商品の写真撮影</a:t>
            </a:r>
          </a:p>
        </p:txBody>
      </p:sp>
      <p:sp>
        <p:nvSpPr>
          <p:cNvPr id="18" name="dot2"/>
          <p:cNvSpPr/>
          <p:nvPr/>
        </p:nvSpPr>
        <p:spPr>
          <a:xfrm>
            <a:off x="4480560" y="2606040"/>
            <a:ext cx="411480" cy="411480"/>
          </a:xfrm>
          <a:prstGeom prst="ellipse">
            <a:avLst/>
          </a:prstGeom>
          <a:solidFill>
            <a:srgbClr val="2F6FB3"/>
          </a:solidFill>
          <a:ln>
            <a:noFill/>
          </a:ln>
          <a:effectLst>
            <a:outerShdw blurRad="177800" dist="381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q2"/>
          <p:cNvSpPr txBox="1"/>
          <p:nvPr/>
        </p:nvSpPr>
        <p:spPr>
          <a:xfrm>
            <a:off x="393192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FB3"/>
                </a:solidFill>
                <a:latin typeface="Segoe UI"/>
              </a:rPr>
              <a:t>2027 Q2</a:t>
            </a:r>
          </a:p>
        </p:txBody>
      </p:sp>
      <p:sp>
        <p:nvSpPr>
          <p:cNvPr id="20" name="road2"/>
          <p:cNvSpPr txBox="1"/>
          <p:nvPr/>
        </p:nvSpPr>
        <p:spPr>
          <a:xfrm>
            <a:off x="3931920" y="3200400"/>
            <a:ext cx="16002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4161A"/>
                </a:solidFill>
                <a:latin typeface="Yu Gothic UI"/>
              </a:rPr>
              <a:t>広告計測・レビュー特典・紹介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Google / Meta 計測開始</a:t>
            </a:r>
          </a:p>
        </p:txBody>
      </p:sp>
      <p:sp>
        <p:nvSpPr>
          <p:cNvPr id="21" name="dot3"/>
          <p:cNvSpPr/>
          <p:nvPr/>
        </p:nvSpPr>
        <p:spPr>
          <a:xfrm>
            <a:off x="6172200" y="2606040"/>
            <a:ext cx="411480" cy="411480"/>
          </a:xfrm>
          <a:prstGeom prst="ellipse">
            <a:avLst/>
          </a:prstGeom>
          <a:solidFill>
            <a:srgbClr val="2F6B4F"/>
          </a:solidFill>
          <a:ln>
            <a:noFill/>
          </a:ln>
          <a:effectLst>
            <a:outerShdw blurRad="177800" dist="381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q3"/>
          <p:cNvSpPr txBox="1"/>
          <p:nvPr/>
        </p:nvSpPr>
        <p:spPr>
          <a:xfrm>
            <a:off x="562356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B4F"/>
                </a:solidFill>
                <a:latin typeface="Segoe UI"/>
              </a:rPr>
              <a:t>2027 H2</a:t>
            </a:r>
          </a:p>
        </p:txBody>
      </p:sp>
      <p:sp>
        <p:nvSpPr>
          <p:cNvPr id="23" name="road3"/>
          <p:cNvSpPr txBox="1"/>
          <p:nvPr/>
        </p:nvSpPr>
        <p:spPr>
          <a:xfrm>
            <a:off x="5623560" y="3200400"/>
            <a:ext cx="16002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4161A"/>
                </a:solidFill>
                <a:latin typeface="Yu Gothic UI"/>
              </a:rPr>
              <a:t>本社データとのAPI連携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在庫・商品マスター</a:t>
            </a:r>
          </a:p>
        </p:txBody>
      </p:sp>
      <p:sp>
        <p:nvSpPr>
          <p:cNvPr id="24" name="rs0-tile"/>
          <p:cNvSpPr/>
          <p:nvPr/>
        </p:nvSpPr>
        <p:spPr>
          <a:xfrm>
            <a:off x="685800" y="48920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rs0-img" descr="s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" y="4972507"/>
            <a:ext cx="844906" cy="844906"/>
          </a:xfrm>
          <a:prstGeom prst="rect">
            <a:avLst/>
          </a:prstGeom>
        </p:spPr>
      </p:pic>
      <p:sp>
        <p:nvSpPr>
          <p:cNvPr id="26" name="rs1-tile"/>
          <p:cNvSpPr/>
          <p:nvPr/>
        </p:nvSpPr>
        <p:spPr>
          <a:xfrm>
            <a:off x="1783080" y="48920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rs1-img" descr="s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3547" y="4972507"/>
            <a:ext cx="844906" cy="844906"/>
          </a:xfrm>
          <a:prstGeom prst="rect">
            <a:avLst/>
          </a:prstGeom>
        </p:spPr>
      </p:pic>
      <p:sp>
        <p:nvSpPr>
          <p:cNvPr id="28" name="rs2-tile"/>
          <p:cNvSpPr/>
          <p:nvPr/>
        </p:nvSpPr>
        <p:spPr>
          <a:xfrm>
            <a:off x="2880360" y="48920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rs2-img" descr="s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0827" y="4972507"/>
            <a:ext cx="844906" cy="844906"/>
          </a:xfrm>
          <a:prstGeom prst="rect">
            <a:avLst/>
          </a:prstGeom>
        </p:spPr>
      </p:pic>
      <p:sp>
        <p:nvSpPr>
          <p:cNvPr id="30" name="rs3-tile"/>
          <p:cNvSpPr/>
          <p:nvPr/>
        </p:nvSpPr>
        <p:spPr>
          <a:xfrm>
            <a:off x="3977640" y="48920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s3-img" descr="s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8107" y="4972507"/>
            <a:ext cx="844906" cy="844906"/>
          </a:xfrm>
          <a:prstGeom prst="rect">
            <a:avLst/>
          </a:prstGeom>
        </p:spPr>
      </p:pic>
      <p:sp>
        <p:nvSpPr>
          <p:cNvPr id="32" name="rs4-tile"/>
          <p:cNvSpPr/>
          <p:nvPr/>
        </p:nvSpPr>
        <p:spPr>
          <a:xfrm>
            <a:off x="5074920" y="48920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rs4-img" descr="s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5387" y="4972507"/>
            <a:ext cx="844906" cy="844906"/>
          </a:xfrm>
          <a:prstGeom prst="rect">
            <a:avLst/>
          </a:prstGeom>
        </p:spPr>
      </p:pic>
      <p:sp>
        <p:nvSpPr>
          <p:cNvPr id="34" name="rs5-tile"/>
          <p:cNvSpPr/>
          <p:nvPr/>
        </p:nvSpPr>
        <p:spPr>
          <a:xfrm>
            <a:off x="6172200" y="48920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rs5-img" descr="s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2667" y="4972507"/>
            <a:ext cx="844906" cy="844906"/>
          </a:xfrm>
          <a:prstGeom prst="rect">
            <a:avLst/>
          </a:prstGeom>
        </p:spPr>
      </p:pic>
      <p:sp>
        <p:nvSpPr>
          <p:cNvPr id="36" name="ask"/>
          <p:cNvSpPr/>
          <p:nvPr/>
        </p:nvSpPr>
        <p:spPr>
          <a:xfrm>
            <a:off x="7680960" y="9966960"/>
            <a:ext cx="3977639" cy="4343400"/>
          </a:xfrm>
          <a:prstGeom prst="roundRect">
            <a:avLst>
              <a:gd name="adj" fmla="val 6000"/>
            </a:avLst>
          </a:prstGeom>
          <a:solidFill>
            <a:srgbClr val="14161A"/>
          </a:solidFill>
          <a:ln>
            <a:noFill/>
          </a:ln>
          <a:effectLst>
            <a:outerShdw blurRad="457200" dist="127000" dir="5400000" algn="ctr" rotWithShape="0">
              <a:srgbClr val="1A14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sk-bg"/>
          <p:cNvSpPr/>
          <p:nvPr/>
        </p:nvSpPr>
        <p:spPr>
          <a:xfrm>
            <a:off x="7955279" y="10195560"/>
            <a:ext cx="731520" cy="73152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ask-ic" descr="handshak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6213" y="10356494"/>
            <a:ext cx="409652" cy="409652"/>
          </a:xfrm>
          <a:prstGeom prst="rect">
            <a:avLst/>
          </a:prstGeom>
        </p:spPr>
      </p:pic>
      <p:sp>
        <p:nvSpPr>
          <p:cNvPr id="39" name="ask-t"/>
          <p:cNvSpPr txBox="1"/>
          <p:nvPr/>
        </p:nvSpPr>
        <p:spPr>
          <a:xfrm>
            <a:off x="7955279" y="11018520"/>
            <a:ext cx="3474720" cy="3200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Yu Mincho Demibold"/>
              </a:rPr>
              <a:t>日本側へのお願い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・商品マスター（成分・内容量・使用期限）の提供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B8BDC4"/>
                </a:solidFill>
                <a:latin typeface="Segoe UI"/>
              </a:rPr>
              <a:t>　Барааны мэдээллийн сан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・日本語商品説明と公式画像の利用許諾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B8BDC4"/>
                </a:solidFill>
                <a:latin typeface="Segoe UI"/>
              </a:rPr>
              <a:t>　Тайлбар, албан ёсны зураг ашиглах зөвшөөрөл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・物流・決済立ち上げへの投資と提携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B8BDC4"/>
                </a:solidFill>
                <a:latin typeface="Segoe UI"/>
              </a:rPr>
              <a:t>　Логистик, төлбөрт хөрөнгө оруулалт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kanji"/>
          <p:cNvSpPr txBox="1"/>
          <p:nvPr/>
        </p:nvSpPr>
        <p:spPr>
          <a:xfrm>
            <a:off x="8503920" y="3246120"/>
            <a:ext cx="3291840" cy="3200400"/>
          </a:xfrm>
          <a:prstGeom prst="rect">
            <a:avLst/>
          </a:prstGeom>
          <a:noFill/>
        </p:spPr>
        <p:txBody>
          <a:bodyPr wrap="square" anchor="b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9000" b="0">
                <a:solidFill>
                  <a:srgbClr val="EEDDD1"/>
                </a:solidFill>
                <a:latin typeface="Yu Mincho Demibold"/>
              </a:rPr>
              <a:t>共</a:t>
            </a:r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2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20624"/>
            <a:ext cx="8778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161A"/>
                </a:solidFill>
                <a:latin typeface="Yu Mincho Demibold"/>
              </a:rPr>
              <a:t>ロードマップと、ご協力いただきたいこと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Segoe UI"/>
              </a:rPr>
              <a:t>Дараагийн алхам, хамтын ажиллагаа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058400" y="6400800"/>
            <a:ext cx="1600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B3122B"/>
                </a:solidFill>
                <a:latin typeface="Segoe UI"/>
              </a:rPr>
              <a:t>15 / 16</a:t>
            </a:r>
          </a:p>
        </p:txBody>
      </p:sp>
      <p:sp>
        <p:nvSpPr>
          <p:cNvPr id="11" name="tl"/>
          <p:cNvSpPr/>
          <p:nvPr/>
        </p:nvSpPr>
        <p:spPr>
          <a:xfrm>
            <a:off x="822960" y="2788920"/>
            <a:ext cx="6400800" cy="45720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t0"/>
          <p:cNvSpPr/>
          <p:nvPr/>
        </p:nvSpPr>
        <p:spPr>
          <a:xfrm>
            <a:off x="1097280" y="2606040"/>
            <a:ext cx="411480" cy="411480"/>
          </a:xfrm>
          <a:prstGeom prst="ellipse">
            <a:avLst/>
          </a:prstGeom>
          <a:solidFill>
            <a:srgbClr val="B3122B"/>
          </a:solidFill>
          <a:ln>
            <a:noFill/>
          </a:ln>
          <a:effectLst>
            <a:outerShdw blurRad="177800" dist="381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0"/>
          <p:cNvSpPr txBox="1"/>
          <p:nvPr/>
        </p:nvSpPr>
        <p:spPr>
          <a:xfrm>
            <a:off x="54864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B3122B"/>
                </a:solidFill>
                <a:latin typeface="Segoe UI"/>
              </a:rPr>
              <a:t>2026 Q4</a:t>
            </a:r>
          </a:p>
        </p:txBody>
      </p:sp>
      <p:sp>
        <p:nvSpPr>
          <p:cNvPr id="14" name="road0"/>
          <p:cNvSpPr txBox="1"/>
          <p:nvPr/>
        </p:nvSpPr>
        <p:spPr>
          <a:xfrm>
            <a:off x="548640" y="3200400"/>
            <a:ext cx="16002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4161A"/>
                </a:solidFill>
                <a:latin typeface="Yu Gothic UI"/>
              </a:rPr>
              <a:t>QPay・StorePay 本番接続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eBarimt 電子領収書連携</a:t>
            </a:r>
          </a:p>
        </p:txBody>
      </p:sp>
      <p:sp>
        <p:nvSpPr>
          <p:cNvPr id="15" name="dot1"/>
          <p:cNvSpPr/>
          <p:nvPr/>
        </p:nvSpPr>
        <p:spPr>
          <a:xfrm>
            <a:off x="2788920" y="2606040"/>
            <a:ext cx="411480" cy="411480"/>
          </a:xfrm>
          <a:prstGeom prst="ellipse">
            <a:avLst/>
          </a:prstGeom>
          <a:solidFill>
            <a:srgbClr val="C99312"/>
          </a:solidFill>
          <a:ln>
            <a:noFill/>
          </a:ln>
          <a:effectLst>
            <a:outerShdw blurRad="177800" dist="381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q1"/>
          <p:cNvSpPr txBox="1"/>
          <p:nvPr/>
        </p:nvSpPr>
        <p:spPr>
          <a:xfrm>
            <a:off x="224028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99312"/>
                </a:solidFill>
                <a:latin typeface="Segoe UI"/>
              </a:rPr>
              <a:t>2027 Q1</a:t>
            </a:r>
          </a:p>
        </p:txBody>
      </p:sp>
      <p:sp>
        <p:nvSpPr>
          <p:cNvPr id="17" name="road1"/>
          <p:cNvSpPr txBox="1"/>
          <p:nvPr/>
        </p:nvSpPr>
        <p:spPr>
          <a:xfrm>
            <a:off x="2240280" y="3200400"/>
            <a:ext cx="16002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4161A"/>
                </a:solidFill>
                <a:latin typeface="Yu Gothic UI"/>
              </a:rPr>
              <a:t>配送パートナー・自社ドメイン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全商品の写真撮影</a:t>
            </a:r>
          </a:p>
        </p:txBody>
      </p:sp>
      <p:sp>
        <p:nvSpPr>
          <p:cNvPr id="18" name="dot2"/>
          <p:cNvSpPr/>
          <p:nvPr/>
        </p:nvSpPr>
        <p:spPr>
          <a:xfrm>
            <a:off x="4480560" y="2606040"/>
            <a:ext cx="411480" cy="411480"/>
          </a:xfrm>
          <a:prstGeom prst="ellipse">
            <a:avLst/>
          </a:prstGeom>
          <a:solidFill>
            <a:srgbClr val="2F6FB3"/>
          </a:solidFill>
          <a:ln>
            <a:noFill/>
          </a:ln>
          <a:effectLst>
            <a:outerShdw blurRad="177800" dist="381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q2"/>
          <p:cNvSpPr txBox="1"/>
          <p:nvPr/>
        </p:nvSpPr>
        <p:spPr>
          <a:xfrm>
            <a:off x="393192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FB3"/>
                </a:solidFill>
                <a:latin typeface="Segoe UI"/>
              </a:rPr>
              <a:t>2027 Q2</a:t>
            </a:r>
          </a:p>
        </p:txBody>
      </p:sp>
      <p:sp>
        <p:nvSpPr>
          <p:cNvPr id="20" name="road2"/>
          <p:cNvSpPr txBox="1"/>
          <p:nvPr/>
        </p:nvSpPr>
        <p:spPr>
          <a:xfrm>
            <a:off x="3931920" y="3200400"/>
            <a:ext cx="16002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4161A"/>
                </a:solidFill>
                <a:latin typeface="Yu Gothic UI"/>
              </a:rPr>
              <a:t>広告計測・レビュー特典・紹介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Google / Meta 計測開始</a:t>
            </a:r>
          </a:p>
        </p:txBody>
      </p:sp>
      <p:sp>
        <p:nvSpPr>
          <p:cNvPr id="21" name="dot3"/>
          <p:cNvSpPr/>
          <p:nvPr/>
        </p:nvSpPr>
        <p:spPr>
          <a:xfrm>
            <a:off x="6172200" y="2606040"/>
            <a:ext cx="411480" cy="411480"/>
          </a:xfrm>
          <a:prstGeom prst="ellipse">
            <a:avLst/>
          </a:prstGeom>
          <a:solidFill>
            <a:srgbClr val="2F6B4F"/>
          </a:solidFill>
          <a:ln>
            <a:noFill/>
          </a:ln>
          <a:effectLst>
            <a:outerShdw blurRad="177800" dist="381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q3"/>
          <p:cNvSpPr txBox="1"/>
          <p:nvPr/>
        </p:nvSpPr>
        <p:spPr>
          <a:xfrm>
            <a:off x="562356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B4F"/>
                </a:solidFill>
                <a:latin typeface="Segoe UI"/>
              </a:rPr>
              <a:t>2027 H2</a:t>
            </a:r>
          </a:p>
        </p:txBody>
      </p:sp>
      <p:sp>
        <p:nvSpPr>
          <p:cNvPr id="23" name="road3"/>
          <p:cNvSpPr txBox="1"/>
          <p:nvPr/>
        </p:nvSpPr>
        <p:spPr>
          <a:xfrm>
            <a:off x="5623560" y="3200400"/>
            <a:ext cx="16002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4161A"/>
                </a:solidFill>
                <a:latin typeface="Yu Gothic UI"/>
              </a:rPr>
              <a:t>本社データとのAPI連携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在庫・商品マスター</a:t>
            </a:r>
          </a:p>
        </p:txBody>
      </p:sp>
      <p:sp>
        <p:nvSpPr>
          <p:cNvPr id="24" name="rs0-tile"/>
          <p:cNvSpPr/>
          <p:nvPr/>
        </p:nvSpPr>
        <p:spPr>
          <a:xfrm>
            <a:off x="685800" y="48920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rs0-img" descr="s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" y="4972507"/>
            <a:ext cx="844906" cy="844906"/>
          </a:xfrm>
          <a:prstGeom prst="rect">
            <a:avLst/>
          </a:prstGeom>
        </p:spPr>
      </p:pic>
      <p:sp>
        <p:nvSpPr>
          <p:cNvPr id="26" name="rs1-tile"/>
          <p:cNvSpPr/>
          <p:nvPr/>
        </p:nvSpPr>
        <p:spPr>
          <a:xfrm>
            <a:off x="1783080" y="48920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rs1-img" descr="s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3547" y="4972507"/>
            <a:ext cx="844906" cy="844906"/>
          </a:xfrm>
          <a:prstGeom prst="rect">
            <a:avLst/>
          </a:prstGeom>
        </p:spPr>
      </p:pic>
      <p:sp>
        <p:nvSpPr>
          <p:cNvPr id="28" name="rs2-tile"/>
          <p:cNvSpPr/>
          <p:nvPr/>
        </p:nvSpPr>
        <p:spPr>
          <a:xfrm>
            <a:off x="2880360" y="48920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rs2-img" descr="s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0827" y="4972507"/>
            <a:ext cx="844906" cy="844906"/>
          </a:xfrm>
          <a:prstGeom prst="rect">
            <a:avLst/>
          </a:prstGeom>
        </p:spPr>
      </p:pic>
      <p:sp>
        <p:nvSpPr>
          <p:cNvPr id="30" name="rs3-tile"/>
          <p:cNvSpPr/>
          <p:nvPr/>
        </p:nvSpPr>
        <p:spPr>
          <a:xfrm>
            <a:off x="3977640" y="48920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s3-img" descr="s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8107" y="4972507"/>
            <a:ext cx="844906" cy="844906"/>
          </a:xfrm>
          <a:prstGeom prst="rect">
            <a:avLst/>
          </a:prstGeom>
        </p:spPr>
      </p:pic>
      <p:sp>
        <p:nvSpPr>
          <p:cNvPr id="32" name="rs4-tile"/>
          <p:cNvSpPr/>
          <p:nvPr/>
        </p:nvSpPr>
        <p:spPr>
          <a:xfrm>
            <a:off x="5074920" y="48920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rs4-img" descr="s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5387" y="4972507"/>
            <a:ext cx="844906" cy="844906"/>
          </a:xfrm>
          <a:prstGeom prst="rect">
            <a:avLst/>
          </a:prstGeom>
        </p:spPr>
      </p:pic>
      <p:sp>
        <p:nvSpPr>
          <p:cNvPr id="34" name="rs5-tile"/>
          <p:cNvSpPr/>
          <p:nvPr/>
        </p:nvSpPr>
        <p:spPr>
          <a:xfrm>
            <a:off x="6172200" y="48920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rs5-img" descr="s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2667" y="4972507"/>
            <a:ext cx="844906" cy="844906"/>
          </a:xfrm>
          <a:prstGeom prst="rect">
            <a:avLst/>
          </a:prstGeom>
        </p:spPr>
      </p:pic>
      <p:sp>
        <p:nvSpPr>
          <p:cNvPr id="36" name="ask"/>
          <p:cNvSpPr/>
          <p:nvPr/>
        </p:nvSpPr>
        <p:spPr>
          <a:xfrm>
            <a:off x="7680960" y="1737360"/>
            <a:ext cx="3977639" cy="4343400"/>
          </a:xfrm>
          <a:prstGeom prst="roundRect">
            <a:avLst>
              <a:gd name="adj" fmla="val 6000"/>
            </a:avLst>
          </a:prstGeom>
          <a:solidFill>
            <a:srgbClr val="14161A"/>
          </a:solidFill>
          <a:ln>
            <a:noFill/>
          </a:ln>
          <a:effectLst>
            <a:outerShdw blurRad="457200" dist="127000" dir="5400000" algn="ctr" rotWithShape="0">
              <a:srgbClr val="1A14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sk-bg"/>
          <p:cNvSpPr/>
          <p:nvPr/>
        </p:nvSpPr>
        <p:spPr>
          <a:xfrm>
            <a:off x="7955279" y="1965960"/>
            <a:ext cx="731520" cy="731520"/>
          </a:xfrm>
          <a:prstGeom prst="ellipse">
            <a:avLst/>
          </a:prstGeom>
          <a:solidFill>
            <a:srgbClr val="B3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ask-ic" descr="handshak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6213" y="2126894"/>
            <a:ext cx="409652" cy="409652"/>
          </a:xfrm>
          <a:prstGeom prst="rect">
            <a:avLst/>
          </a:prstGeom>
        </p:spPr>
      </p:pic>
      <p:sp>
        <p:nvSpPr>
          <p:cNvPr id="39" name="ask-t"/>
          <p:cNvSpPr txBox="1"/>
          <p:nvPr/>
        </p:nvSpPr>
        <p:spPr>
          <a:xfrm>
            <a:off x="7955279" y="2788920"/>
            <a:ext cx="3474720" cy="3200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Yu Mincho Demibold"/>
              </a:rPr>
              <a:t>日本側へのお願い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・商品マスター（成分・内容量・使用期限）の提供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B8BDC4"/>
                </a:solidFill>
                <a:latin typeface="Segoe UI"/>
              </a:rPr>
              <a:t>　Барааны мэдээллийн сан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・日本語商品説明と公式画像の利用許諾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B8BDC4"/>
                </a:solidFill>
                <a:latin typeface="Segoe UI"/>
              </a:rPr>
              <a:t>　Тайлбар, албан ёсны зураг ашиглах зөвшөөрөл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・物流・決済立ち上げへの投資と提携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B8BDC4"/>
                </a:solidFill>
                <a:latin typeface="Segoe UI"/>
              </a:rPr>
              <a:t>　Логистик, төлбөрт хөрөнгө оруулалт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BE9DC"/>
              </a:gs>
            </a:gsLst>
            <a:lin scaled="0" ang="198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un-glow"/>
          <p:cNvSpPr/>
          <p:nvPr/>
        </p:nvSpPr>
        <p:spPr>
          <a:xfrm>
            <a:off x="8001000" y="3840480"/>
            <a:ext cx="4023360" cy="4023360"/>
          </a:xfrm>
          <a:prstGeom prst="ellipse">
            <a:avLst/>
          </a:prstGeom>
          <a:solidFill>
            <a:srgbClr val="F9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un"/>
          <p:cNvSpPr/>
          <p:nvPr/>
        </p:nvSpPr>
        <p:spPr>
          <a:xfrm>
            <a:off x="8549640" y="4389120"/>
            <a:ext cx="2926080" cy="2926080"/>
          </a:xfrm>
          <a:prstGeom prst="ellipse">
            <a:avLst/>
          </a:prstGeom>
          <a:gradFill rotWithShape="1">
            <a:gsLst>
              <a:gs pos="0">
                <a:srgbClr val="B3122B"/>
              </a:gs>
              <a:gs pos="100000">
                <a:srgbClr val="E4572E"/>
              </a:gs>
            </a:gsLst>
            <a:lin scaled="0" ang="18000000"/>
          </a:gradFill>
          <a:ln>
            <a:noFill/>
          </a:ln>
          <a:effectLst>
            <a:outerShdw blurRad="889000" dist="127000" dir="5400000" algn="ctr" rotWithShape="0">
              <a:srgbClr val="1A14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2834640" cy="426508"/>
          </a:xfrm>
          <a:prstGeom prst="rect">
            <a:avLst/>
          </a:prstGeom>
        </p:spPr>
      </p:pic>
      <p:sp>
        <p:nvSpPr>
          <p:cNvPr id="6" name="thanks"/>
          <p:cNvSpPr txBox="1"/>
          <p:nvPr/>
        </p:nvSpPr>
        <p:spPr>
          <a:xfrm>
            <a:off x="-11978640" y="2011680"/>
            <a:ext cx="73152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14161A"/>
                </a:solidFill>
                <a:latin typeface="Yu Mincho Demibold"/>
              </a:rPr>
              <a:t>ご清聴ありがとうございました</a:t>
            </a:r>
          </a:p>
        </p:txBody>
      </p:sp>
      <p:sp>
        <p:nvSpPr>
          <p:cNvPr id="7" name="tag"/>
          <p:cNvSpPr txBox="1"/>
          <p:nvPr/>
        </p:nvSpPr>
        <p:spPr>
          <a:xfrm>
            <a:off x="-11978640" y="2971800"/>
            <a:ext cx="7315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B3122B"/>
                </a:solidFill>
                <a:latin typeface="Yu Mincho Demibold"/>
              </a:rPr>
              <a:t>日本の朝を、モンゴルの毎日へ。</a:t>
            </a:r>
          </a:p>
        </p:txBody>
      </p:sp>
      <p:sp>
        <p:nvSpPr>
          <p:cNvPr id="8" name="tag-mn"/>
          <p:cNvSpPr txBox="1"/>
          <p:nvPr/>
        </p:nvSpPr>
        <p:spPr>
          <a:xfrm>
            <a:off x="-11978640" y="3611880"/>
            <a:ext cx="7315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Баярлалаа — Японы өглөөг Монголын өдөр бүрт.</a:t>
            </a:r>
          </a:p>
        </p:txBody>
      </p:sp>
      <p:sp>
        <p:nvSpPr>
          <p:cNvPr id="9" name="qr-tile"/>
          <p:cNvSpPr/>
          <p:nvPr/>
        </p:nvSpPr>
        <p:spPr>
          <a:xfrm>
            <a:off x="822960" y="12573000"/>
            <a:ext cx="16002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qr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2682728"/>
            <a:ext cx="1380744" cy="1380744"/>
          </a:xfrm>
          <a:prstGeom prst="rect">
            <a:avLst/>
          </a:prstGeom>
        </p:spPr>
      </p:pic>
      <p:sp>
        <p:nvSpPr>
          <p:cNvPr id="11" name="qr-t"/>
          <p:cNvSpPr txBox="1"/>
          <p:nvPr/>
        </p:nvSpPr>
        <p:spPr>
          <a:xfrm>
            <a:off x="2606040" y="12710160"/>
            <a:ext cx="59436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4161A"/>
                </a:solidFill>
                <a:latin typeface="Yu Gothic UI"/>
              </a:rPr>
              <a:t>実際のサイトはこちら（日本語表示）</a:t>
            </a:r>
          </a:p>
          <a:p>
            <a:pPr algn="l">
              <a:spcAft>
                <a:spcPts val="300"/>
              </a:spcAft>
            </a:pPr>
            <a:r>
              <a:rPr sz="2000" b="1">
                <a:solidFill>
                  <a:srgbClr val="B3122B"/>
                </a:solidFill>
                <a:latin typeface="Segoe UI"/>
              </a:rPr>
              <a:t>sugi.karkaron.com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Батмагнай Мөнхтөвшин · SUGI ASAYAKE Mongolia · t.morius@gmail.com</a:t>
            </a:r>
          </a:p>
        </p:txBody>
      </p:sp>
      <p:sp>
        <p:nvSpPr>
          <p:cNvPr id="12" name="rule"/>
          <p:cNvSpPr/>
          <p:nvPr/>
        </p:nvSpPr>
        <p:spPr>
          <a:xfrm>
            <a:off x="0" y="6172200"/>
            <a:ext cx="12191695" cy="64008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vert"/>
          <p:cNvSpPr txBox="1"/>
          <p:nvPr/>
        </p:nvSpPr>
        <p:spPr>
          <a:xfrm>
            <a:off x="11475720" y="502920"/>
            <a:ext cx="502920" cy="4206240"/>
          </a:xfrm>
          <a:prstGeom prst="rect">
            <a:avLst/>
          </a:prstGeom>
          <a:noFill/>
        </p:spPr>
        <p:txBody>
          <a:bodyPr wrap="square" anchor="t" lIns="36576" rIns="36576" tIns="18288" bIns="18288" vert="eaVer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3122B"/>
                </a:solidFill>
                <a:latin typeface="Yu Mincho Demibold"/>
              </a:rPr>
              <a:t>朝焼けのように、毎日に新しい光を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BE9DC"/>
              </a:gs>
            </a:gsLst>
            <a:lin scaled="0" ang="198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un-glow"/>
          <p:cNvSpPr/>
          <p:nvPr/>
        </p:nvSpPr>
        <p:spPr>
          <a:xfrm>
            <a:off x="8001000" y="274320"/>
            <a:ext cx="4023360" cy="4023360"/>
          </a:xfrm>
          <a:prstGeom prst="ellipse">
            <a:avLst/>
          </a:prstGeom>
          <a:solidFill>
            <a:srgbClr val="F9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un"/>
          <p:cNvSpPr/>
          <p:nvPr/>
        </p:nvSpPr>
        <p:spPr>
          <a:xfrm>
            <a:off x="8549640" y="822960"/>
            <a:ext cx="2926080" cy="2926080"/>
          </a:xfrm>
          <a:prstGeom prst="ellipse">
            <a:avLst/>
          </a:prstGeom>
          <a:gradFill rotWithShape="1">
            <a:gsLst>
              <a:gs pos="0">
                <a:srgbClr val="B3122B"/>
              </a:gs>
              <a:gs pos="100000">
                <a:srgbClr val="E4572E"/>
              </a:gs>
            </a:gsLst>
            <a:lin scaled="0" ang="18000000"/>
          </a:gradFill>
          <a:ln>
            <a:noFill/>
          </a:ln>
          <a:effectLst>
            <a:outerShdw blurRad="889000" dist="127000" dir="5400000" algn="ctr" rotWithShape="0">
              <a:srgbClr val="1A14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2834640" cy="426508"/>
          </a:xfrm>
          <a:prstGeom prst="rect">
            <a:avLst/>
          </a:prstGeom>
        </p:spPr>
      </p:pic>
      <p:sp>
        <p:nvSpPr>
          <p:cNvPr id="6" name="thanks"/>
          <p:cNvSpPr txBox="1"/>
          <p:nvPr/>
        </p:nvSpPr>
        <p:spPr>
          <a:xfrm>
            <a:off x="822960" y="2011680"/>
            <a:ext cx="73152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14161A"/>
                </a:solidFill>
                <a:latin typeface="Yu Mincho Demibold"/>
              </a:rPr>
              <a:t>ご清聴ありがとうございました</a:t>
            </a:r>
          </a:p>
        </p:txBody>
      </p:sp>
      <p:sp>
        <p:nvSpPr>
          <p:cNvPr id="7" name="tag"/>
          <p:cNvSpPr txBox="1"/>
          <p:nvPr/>
        </p:nvSpPr>
        <p:spPr>
          <a:xfrm>
            <a:off x="822960" y="2971800"/>
            <a:ext cx="7315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B3122B"/>
                </a:solidFill>
                <a:latin typeface="Yu Mincho Demibold"/>
              </a:rPr>
              <a:t>日本の朝を、モンゴルの毎日へ。</a:t>
            </a:r>
          </a:p>
        </p:txBody>
      </p:sp>
      <p:sp>
        <p:nvSpPr>
          <p:cNvPr id="8" name="tag-mn"/>
          <p:cNvSpPr txBox="1"/>
          <p:nvPr/>
        </p:nvSpPr>
        <p:spPr>
          <a:xfrm>
            <a:off x="822960" y="3611880"/>
            <a:ext cx="7315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Баярлалаа — Японы өглөөг Монголын өдөр бүрт.</a:t>
            </a:r>
          </a:p>
        </p:txBody>
      </p:sp>
      <p:sp>
        <p:nvSpPr>
          <p:cNvPr id="9" name="qr-tile"/>
          <p:cNvSpPr/>
          <p:nvPr/>
        </p:nvSpPr>
        <p:spPr>
          <a:xfrm>
            <a:off x="822960" y="4343400"/>
            <a:ext cx="16002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qr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453128"/>
            <a:ext cx="1380744" cy="1380744"/>
          </a:xfrm>
          <a:prstGeom prst="rect">
            <a:avLst/>
          </a:prstGeom>
        </p:spPr>
      </p:pic>
      <p:sp>
        <p:nvSpPr>
          <p:cNvPr id="11" name="qr-t"/>
          <p:cNvSpPr txBox="1"/>
          <p:nvPr/>
        </p:nvSpPr>
        <p:spPr>
          <a:xfrm>
            <a:off x="2606040" y="4480560"/>
            <a:ext cx="59436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4161A"/>
                </a:solidFill>
                <a:latin typeface="Yu Gothic UI"/>
              </a:rPr>
              <a:t>実際のサイトはこちら（日本語表示）</a:t>
            </a:r>
          </a:p>
          <a:p>
            <a:pPr algn="l">
              <a:spcAft>
                <a:spcPts val="300"/>
              </a:spcAft>
            </a:pPr>
            <a:r>
              <a:rPr sz="2000" b="1">
                <a:solidFill>
                  <a:srgbClr val="B3122B"/>
                </a:solidFill>
                <a:latin typeface="Segoe UI"/>
              </a:rPr>
              <a:t>sugi.karkaron.com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Батмагнай Мөнхтөвшин · SUGI ASAYAKE Mongolia · t.morius@gmail.com</a:t>
            </a:r>
          </a:p>
        </p:txBody>
      </p:sp>
      <p:sp>
        <p:nvSpPr>
          <p:cNvPr id="12" name="rule"/>
          <p:cNvSpPr/>
          <p:nvPr/>
        </p:nvSpPr>
        <p:spPr>
          <a:xfrm>
            <a:off x="0" y="6172200"/>
            <a:ext cx="12191695" cy="64008"/>
          </a:xfrm>
          <a:prstGeom prst="rect">
            <a:avLst/>
          </a:prstGeom>
          <a:gradFill rotWithShape="1">
            <a:gsLst>
              <a:gs pos="0">
                <a:srgbClr val="B3122B"/>
              </a:gs>
              <a:gs pos="100000">
                <a:srgbClr val="E8A82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vert"/>
          <p:cNvSpPr txBox="1"/>
          <p:nvPr/>
        </p:nvSpPr>
        <p:spPr>
          <a:xfrm>
            <a:off x="11475720" y="502920"/>
            <a:ext cx="502920" cy="4206240"/>
          </a:xfrm>
          <a:prstGeom prst="rect">
            <a:avLst/>
          </a:prstGeom>
          <a:noFill/>
        </p:spPr>
        <p:txBody>
          <a:bodyPr wrap="square" anchor="t" lIns="36576" rIns="36576" tIns="18288" bIns="18288" vert="eaVer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3122B"/>
                </a:solidFill>
                <a:latin typeface="Yu Mincho Demibold"/>
              </a:rPr>
              <a:t>朝焼けのように、毎日に新しい光を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4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