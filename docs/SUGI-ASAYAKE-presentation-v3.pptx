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png"/><Relationship Id="rId15" Type="http://schemas.openxmlformats.org/officeDocument/2006/relationships/image" Target="../media/image28.png"/><Relationship Id="rId16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png"/><Relationship Id="rId15" Type="http://schemas.openxmlformats.org/officeDocument/2006/relationships/image" Target="../media/image28.png"/><Relationship Id="rId1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png"/><Relationship Id="rId15" Type="http://schemas.openxmlformats.org/officeDocument/2006/relationships/image" Target="../media/image28.png"/><Relationship Id="rId16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png"/><Relationship Id="rId15" Type="http://schemas.openxmlformats.org/officeDocument/2006/relationships/image" Target="../media/image28.png"/><Relationship Id="rId16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png"/><Relationship Id="rId15" Type="http://schemas.openxmlformats.org/officeDocument/2006/relationships/image" Target="../media/image28.png"/><Relationship Id="rId16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1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10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png"/><Relationship Id="rId15" Type="http://schemas.openxmlformats.org/officeDocument/2006/relationships/image" Target="../media/image28.png"/><Relationship Id="rId16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9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19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9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Relationship Id="rId6" Type="http://schemas.openxmlformats.org/officeDocument/2006/relationships/image" Target="../media/image19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6.png"/><Relationship Id="rId15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6.png"/><Relationship Id="rId15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9.png"/><Relationship Id="rId7" Type="http://schemas.openxmlformats.org/officeDocument/2006/relationships/image" Target="../media/image2.png"/><Relationship Id="rId8" Type="http://schemas.openxmlformats.org/officeDocument/2006/relationships/image" Target="../media/image1.png"/><Relationship Id="rId9" Type="http://schemas.openxmlformats.org/officeDocument/2006/relationships/image" Target="../media/image5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6.png"/><Relationship Id="rId15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Relationship Id="rId8" Type="http://schemas.openxmlformats.org/officeDocument/2006/relationships/image" Target="../media/image8.png"/><Relationship Id="rId9" Type="http://schemas.openxmlformats.org/officeDocument/2006/relationships/image" Target="../media/image19.png"/><Relationship Id="rId10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2.png"/><Relationship Id="rId6" Type="http://schemas.openxmlformats.org/officeDocument/2006/relationships/image" Target="../media/image34.png"/><Relationship Id="rId7" Type="http://schemas.openxmlformats.org/officeDocument/2006/relationships/image" Target="../media/image24.png"/><Relationship Id="rId8" Type="http://schemas.openxmlformats.org/officeDocument/2006/relationships/image" Target="../media/image8.png"/><Relationship Id="rId9" Type="http://schemas.openxmlformats.org/officeDocument/2006/relationships/image" Target="../media/image19.png"/><Relationship Id="rId10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26.png"/><Relationship Id="rId8" Type="http://schemas.openxmlformats.org/officeDocument/2006/relationships/image" Target="../media/image13.png"/><Relationship Id="rId9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26.png"/><Relationship Id="rId8" Type="http://schemas.openxmlformats.org/officeDocument/2006/relationships/image" Target="../media/image13.png"/><Relationship Id="rId9" Type="http://schemas.openxmlformats.org/officeDocument/2006/relationships/image" Target="../media/image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Relationship Id="rId7" Type="http://schemas.openxmlformats.org/officeDocument/2006/relationships/image" Target="../media/image26.png"/><Relationship Id="rId8" Type="http://schemas.openxmlformats.org/officeDocument/2006/relationships/image" Target="../media/image13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4EEE6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"/>
          <p:cNvSpPr/>
          <p:nvPr/>
        </p:nvSpPr>
        <p:spPr>
          <a:xfrm>
            <a:off x="7726679" y="3703320"/>
            <a:ext cx="4389120" cy="4389120"/>
          </a:xfrm>
          <a:prstGeom prst="ellipse">
            <a:avLst/>
          </a:prstGeom>
          <a:solidFill>
            <a:srgbClr val="F7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"/>
          <p:cNvSpPr/>
          <p:nvPr/>
        </p:nvSpPr>
        <p:spPr>
          <a:xfrm>
            <a:off x="8275320" y="4206240"/>
            <a:ext cx="3291840" cy="3291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889000" dist="127000" dir="5400000" algn="ctr" rotWithShape="0">
              <a:srgbClr val="1A14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an0-tile"/>
          <p:cNvSpPr/>
          <p:nvPr/>
        </p:nvSpPr>
        <p:spPr>
          <a:xfrm rot="21060000">
            <a:off x="7635240" y="1147572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fan0-img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7763256" y="11603736"/>
            <a:ext cx="1344168" cy="1344168"/>
          </a:xfrm>
          <a:prstGeom prst="rect">
            <a:avLst/>
          </a:prstGeom>
        </p:spPr>
      </p:pic>
      <p:sp>
        <p:nvSpPr>
          <p:cNvPr id="7" name="fan1-tile"/>
          <p:cNvSpPr/>
          <p:nvPr/>
        </p:nvSpPr>
        <p:spPr>
          <a:xfrm rot="21420000">
            <a:off x="8915400" y="10927080"/>
            <a:ext cx="17830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an1-img" descr="s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9058046" y="11069726"/>
            <a:ext cx="1497788" cy="1497788"/>
          </a:xfrm>
          <a:prstGeom prst="rect">
            <a:avLst/>
          </a:prstGeom>
        </p:spPr>
      </p:pic>
      <p:sp>
        <p:nvSpPr>
          <p:cNvPr id="9" name="fan2-tile"/>
          <p:cNvSpPr/>
          <p:nvPr/>
        </p:nvSpPr>
        <p:spPr>
          <a:xfrm rot="420000">
            <a:off x="10378440" y="1133856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an2-img" descr="s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10506456" y="11466576"/>
            <a:ext cx="1344168" cy="1344168"/>
          </a:xfrm>
          <a:prstGeom prst="rect">
            <a:avLst/>
          </a:prstGeom>
        </p:spPr>
      </p:pic>
      <p:sp>
        <p:nvSpPr>
          <p:cNvPr id="11" name="fan3-tile"/>
          <p:cNvSpPr/>
          <p:nvPr/>
        </p:nvSpPr>
        <p:spPr>
          <a:xfrm rot="300000">
            <a:off x="8092440" y="12755880"/>
            <a:ext cx="14173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fan3-img" descr="s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8205825" y="12869265"/>
            <a:ext cx="1190550" cy="1190550"/>
          </a:xfrm>
          <a:prstGeom prst="rect">
            <a:avLst/>
          </a:prstGeom>
        </p:spPr>
      </p:pic>
      <p:sp>
        <p:nvSpPr>
          <p:cNvPr id="13" name="fan4-tile"/>
          <p:cNvSpPr/>
          <p:nvPr/>
        </p:nvSpPr>
        <p:spPr>
          <a:xfrm rot="21360000">
            <a:off x="9646920" y="12481560"/>
            <a:ext cx="16916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an4-img" descr="s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9782251" y="12616891"/>
            <a:ext cx="1420978" cy="1420978"/>
          </a:xfrm>
          <a:prstGeom prst="rect">
            <a:avLst/>
          </a:prstGeom>
        </p:spPr>
      </p:pic>
      <p:pic>
        <p:nvPicPr>
          <p:cNvPr id="15" name="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640080"/>
            <a:ext cx="2834640" cy="426508"/>
          </a:xfrm>
          <a:prstGeom prst="rect">
            <a:avLst/>
          </a:prstGeom>
        </p:spPr>
      </p:pic>
      <p:sp>
        <p:nvSpPr>
          <p:cNvPr id="16" name="rule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icker"/>
          <p:cNvSpPr txBox="1"/>
          <p:nvPr/>
        </p:nvSpPr>
        <p:spPr>
          <a:xfrm>
            <a:off x="-11978640" y="1874519"/>
            <a:ext cx="6949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102E"/>
                </a:solidFill>
                <a:latin typeface="Segoe UI"/>
              </a:rPr>
              <a:t>SUGI ASAYAKE ONLINE STORE</a:t>
            </a:r>
          </a:p>
        </p:txBody>
      </p:sp>
      <p:sp>
        <p:nvSpPr>
          <p:cNvPr id="18" name="title"/>
          <p:cNvSpPr txBox="1"/>
          <p:nvPr/>
        </p:nvSpPr>
        <p:spPr>
          <a:xfrm>
            <a:off x="-11978640" y="2286000"/>
            <a:ext cx="71323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61A"/>
                </a:solidFill>
                <a:latin typeface="Yu Gothic UI"/>
              </a:rPr>
              <a:t>日本品質を、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14161A"/>
                </a:solidFill>
                <a:latin typeface="Yu Gothic UI"/>
              </a:rPr>
              <a:t>モンゴルのすべての家庭へ。</a:t>
            </a:r>
          </a:p>
        </p:txBody>
      </p:sp>
      <p:sp>
        <p:nvSpPr>
          <p:cNvPr id="19" name="sub"/>
          <p:cNvSpPr txBox="1"/>
          <p:nvPr/>
        </p:nvSpPr>
        <p:spPr>
          <a:xfrm>
            <a:off x="-11978640" y="4160520"/>
            <a:ext cx="6766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6B7076"/>
                </a:solidFill>
                <a:latin typeface="Segoe UI"/>
              </a:rPr>
              <a:t>Япон чанарыг Монголын гэр бүл бүрт — онлайн дэлгүүрийн танилцуулга</a:t>
            </a:r>
          </a:p>
        </p:txBody>
      </p:sp>
      <p:sp>
        <p:nvSpPr>
          <p:cNvPr id="20" name="meta"/>
          <p:cNvSpPr txBox="1"/>
          <p:nvPr/>
        </p:nvSpPr>
        <p:spPr>
          <a:xfrm>
            <a:off x="-11978640" y="5074920"/>
            <a:ext cx="6766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Yu Gothic UI"/>
              </a:rPr>
              <a:t>2026年9月 · 事業説明資料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4EEE6"/>
              </a:gs>
            </a:gsLst>
            <a:lin scaled="0" ang="198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low"/>
          <p:cNvSpPr/>
          <p:nvPr/>
        </p:nvSpPr>
        <p:spPr>
          <a:xfrm>
            <a:off x="7726679" y="182880"/>
            <a:ext cx="4389120" cy="4389120"/>
          </a:xfrm>
          <a:prstGeom prst="ellipse">
            <a:avLst/>
          </a:prstGeom>
          <a:solidFill>
            <a:srgbClr val="F7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n"/>
          <p:cNvSpPr/>
          <p:nvPr/>
        </p:nvSpPr>
        <p:spPr>
          <a:xfrm>
            <a:off x="8275320" y="685800"/>
            <a:ext cx="3291840" cy="329184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889000" dist="127000" dir="5400000" algn="ctr" rotWithShape="0">
              <a:srgbClr val="1A14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an0-tile"/>
          <p:cNvSpPr/>
          <p:nvPr/>
        </p:nvSpPr>
        <p:spPr>
          <a:xfrm rot="21060000">
            <a:off x="7635240" y="324612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fan0-img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60000">
            <a:off x="7763256" y="3374136"/>
            <a:ext cx="1344168" cy="1344168"/>
          </a:xfrm>
          <a:prstGeom prst="rect">
            <a:avLst/>
          </a:prstGeom>
        </p:spPr>
      </p:pic>
      <p:sp>
        <p:nvSpPr>
          <p:cNvPr id="7" name="fan1-tile"/>
          <p:cNvSpPr/>
          <p:nvPr/>
        </p:nvSpPr>
        <p:spPr>
          <a:xfrm rot="21420000">
            <a:off x="8915400" y="2697480"/>
            <a:ext cx="17830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an1-img" descr="s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9058046" y="2840126"/>
            <a:ext cx="1497788" cy="1497788"/>
          </a:xfrm>
          <a:prstGeom prst="rect">
            <a:avLst/>
          </a:prstGeom>
        </p:spPr>
      </p:pic>
      <p:sp>
        <p:nvSpPr>
          <p:cNvPr id="9" name="fan2-tile"/>
          <p:cNvSpPr/>
          <p:nvPr/>
        </p:nvSpPr>
        <p:spPr>
          <a:xfrm rot="420000">
            <a:off x="10378440" y="3108960"/>
            <a:ext cx="1600200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fan2-img" descr="s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20000">
            <a:off x="10506456" y="3236976"/>
            <a:ext cx="1344168" cy="1344168"/>
          </a:xfrm>
          <a:prstGeom prst="rect">
            <a:avLst/>
          </a:prstGeom>
        </p:spPr>
      </p:pic>
      <p:sp>
        <p:nvSpPr>
          <p:cNvPr id="11" name="fan3-tile"/>
          <p:cNvSpPr/>
          <p:nvPr/>
        </p:nvSpPr>
        <p:spPr>
          <a:xfrm rot="300000">
            <a:off x="8092440" y="4526280"/>
            <a:ext cx="14173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fan3-img" descr="s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00000">
            <a:off x="8205825" y="4639665"/>
            <a:ext cx="1190550" cy="1190550"/>
          </a:xfrm>
          <a:prstGeom prst="rect">
            <a:avLst/>
          </a:prstGeom>
        </p:spPr>
      </p:pic>
      <p:sp>
        <p:nvSpPr>
          <p:cNvPr id="13" name="fan4-tile"/>
          <p:cNvSpPr/>
          <p:nvPr/>
        </p:nvSpPr>
        <p:spPr>
          <a:xfrm rot="21360000">
            <a:off x="9646920" y="4251960"/>
            <a:ext cx="169164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fan4-img" descr="s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9782251" y="4387291"/>
            <a:ext cx="1420978" cy="1420978"/>
          </a:xfrm>
          <a:prstGeom prst="rect">
            <a:avLst/>
          </a:prstGeom>
        </p:spPr>
      </p:pic>
      <p:pic>
        <p:nvPicPr>
          <p:cNvPr id="15" name="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640080"/>
            <a:ext cx="2834640" cy="426508"/>
          </a:xfrm>
          <a:prstGeom prst="rect">
            <a:avLst/>
          </a:prstGeom>
        </p:spPr>
      </p:pic>
      <p:sp>
        <p:nvSpPr>
          <p:cNvPr id="16" name="rule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icker"/>
          <p:cNvSpPr txBox="1"/>
          <p:nvPr/>
        </p:nvSpPr>
        <p:spPr>
          <a:xfrm>
            <a:off x="822960" y="1874519"/>
            <a:ext cx="69494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102E"/>
                </a:solidFill>
                <a:latin typeface="Segoe UI"/>
              </a:rPr>
              <a:t>SUGI ASAYAKE ONLINE STORE</a:t>
            </a:r>
          </a:p>
        </p:txBody>
      </p:sp>
      <p:sp>
        <p:nvSpPr>
          <p:cNvPr id="18" name="title"/>
          <p:cNvSpPr txBox="1"/>
          <p:nvPr/>
        </p:nvSpPr>
        <p:spPr>
          <a:xfrm>
            <a:off x="822960" y="2286000"/>
            <a:ext cx="71323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61A"/>
                </a:solidFill>
                <a:latin typeface="Yu Gothic UI"/>
              </a:rPr>
              <a:t>日本品質を、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14161A"/>
                </a:solidFill>
                <a:latin typeface="Yu Gothic UI"/>
              </a:rPr>
              <a:t>モンゴルのすべての家庭へ。</a:t>
            </a:r>
          </a:p>
        </p:txBody>
      </p:sp>
      <p:sp>
        <p:nvSpPr>
          <p:cNvPr id="19" name="sub"/>
          <p:cNvSpPr txBox="1"/>
          <p:nvPr/>
        </p:nvSpPr>
        <p:spPr>
          <a:xfrm>
            <a:off x="822960" y="4160520"/>
            <a:ext cx="67665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6B7076"/>
                </a:solidFill>
                <a:latin typeface="Segoe UI"/>
              </a:rPr>
              <a:t>Япон чанарыг Монголын гэр бүл бүрт — онлайн дэлгүүрийн танилцуулга</a:t>
            </a:r>
          </a:p>
        </p:txBody>
      </p:sp>
      <p:sp>
        <p:nvSpPr>
          <p:cNvPr id="20" name="meta"/>
          <p:cNvSpPr txBox="1"/>
          <p:nvPr/>
        </p:nvSpPr>
        <p:spPr>
          <a:xfrm>
            <a:off x="822960" y="5074920"/>
            <a:ext cx="6766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61A"/>
                </a:solidFill>
                <a:latin typeface="Yu Gothic UI"/>
              </a:rPr>
              <a:t>2026年9月 · 事業説明資料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076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02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1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6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7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8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0" name="card1-sheet"/>
          <p:cNvSpPr/>
          <p:nvPr/>
        </p:nvSpPr>
        <p:spPr>
          <a:xfrm>
            <a:off x="3236976" y="101041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1-tab"/>
          <p:cNvSpPr/>
          <p:nvPr/>
        </p:nvSpPr>
        <p:spPr>
          <a:xfrm>
            <a:off x="3236976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num"/>
          <p:cNvSpPr txBox="1"/>
          <p:nvPr/>
        </p:nvSpPr>
        <p:spPr>
          <a:xfrm>
            <a:off x="3236976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card1-icon-bg"/>
          <p:cNvSpPr/>
          <p:nvPr/>
        </p:nvSpPr>
        <p:spPr>
          <a:xfrm>
            <a:off x="4626864" y="103601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10533155"/>
            <a:ext cx="440376" cy="440376"/>
          </a:xfrm>
          <a:prstGeom prst="rect">
            <a:avLst/>
          </a:prstGeom>
        </p:spPr>
      </p:pic>
      <p:sp>
        <p:nvSpPr>
          <p:cNvPr id="25" name="card1-title"/>
          <p:cNvSpPr txBox="1"/>
          <p:nvPr/>
        </p:nvSpPr>
        <p:spPr>
          <a:xfrm>
            <a:off x="3511296" y="112928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6" name="card1-body"/>
          <p:cNvSpPr txBox="1"/>
          <p:nvPr/>
        </p:nvSpPr>
        <p:spPr>
          <a:xfrm>
            <a:off x="3511296" y="118871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7" name="card1-rule"/>
          <p:cNvSpPr/>
          <p:nvPr/>
        </p:nvSpPr>
        <p:spPr>
          <a:xfrm>
            <a:off x="3511296" y="133959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1-mn"/>
          <p:cNvSpPr txBox="1"/>
          <p:nvPr/>
        </p:nvSpPr>
        <p:spPr>
          <a:xfrm>
            <a:off x="3511296" y="134873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9" name="card2-sheet"/>
          <p:cNvSpPr/>
          <p:nvPr/>
        </p:nvSpPr>
        <p:spPr>
          <a:xfrm>
            <a:off x="5925312" y="101041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2-tab"/>
          <p:cNvSpPr/>
          <p:nvPr/>
        </p:nvSpPr>
        <p:spPr>
          <a:xfrm>
            <a:off x="5925312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num"/>
          <p:cNvSpPr txBox="1"/>
          <p:nvPr/>
        </p:nvSpPr>
        <p:spPr>
          <a:xfrm>
            <a:off x="5925312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card2-icon-bg"/>
          <p:cNvSpPr/>
          <p:nvPr/>
        </p:nvSpPr>
        <p:spPr>
          <a:xfrm>
            <a:off x="7315200" y="103601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10533155"/>
            <a:ext cx="440376" cy="440376"/>
          </a:xfrm>
          <a:prstGeom prst="rect">
            <a:avLst/>
          </a:prstGeom>
        </p:spPr>
      </p:pic>
      <p:sp>
        <p:nvSpPr>
          <p:cNvPr id="34" name="card2-title"/>
          <p:cNvSpPr txBox="1"/>
          <p:nvPr/>
        </p:nvSpPr>
        <p:spPr>
          <a:xfrm>
            <a:off x="6199632" y="112928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5" name="card2-body"/>
          <p:cNvSpPr txBox="1"/>
          <p:nvPr/>
        </p:nvSpPr>
        <p:spPr>
          <a:xfrm>
            <a:off x="6199632" y="118871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6" name="card2-rule"/>
          <p:cNvSpPr/>
          <p:nvPr/>
        </p:nvSpPr>
        <p:spPr>
          <a:xfrm>
            <a:off x="6199632" y="133959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2-mn"/>
          <p:cNvSpPr txBox="1"/>
          <p:nvPr/>
        </p:nvSpPr>
        <p:spPr>
          <a:xfrm>
            <a:off x="6199632" y="134873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8" name="mo0-tile"/>
          <p:cNvSpPr/>
          <p:nvPr/>
        </p:nvSpPr>
        <p:spPr>
          <a:xfrm>
            <a:off x="8732520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0203605"/>
            <a:ext cx="1044612" cy="1044612"/>
          </a:xfrm>
          <a:prstGeom prst="rect">
            <a:avLst/>
          </a:prstGeom>
        </p:spPr>
      </p:pic>
      <p:sp>
        <p:nvSpPr>
          <p:cNvPr id="40" name="mo1-tile"/>
          <p:cNvSpPr/>
          <p:nvPr/>
        </p:nvSpPr>
        <p:spPr>
          <a:xfrm>
            <a:off x="10094976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0203605"/>
            <a:ext cx="1044612" cy="1044612"/>
          </a:xfrm>
          <a:prstGeom prst="rect">
            <a:avLst/>
          </a:prstGeom>
        </p:spPr>
      </p:pic>
      <p:sp>
        <p:nvSpPr>
          <p:cNvPr id="42" name="mo2-tile"/>
          <p:cNvSpPr/>
          <p:nvPr/>
        </p:nvSpPr>
        <p:spPr>
          <a:xfrm>
            <a:off x="8732520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11566061"/>
            <a:ext cx="1044612" cy="1044612"/>
          </a:xfrm>
          <a:prstGeom prst="rect">
            <a:avLst/>
          </a:prstGeom>
        </p:spPr>
      </p:pic>
      <p:sp>
        <p:nvSpPr>
          <p:cNvPr id="44" name="mo3-tile"/>
          <p:cNvSpPr/>
          <p:nvPr/>
        </p:nvSpPr>
        <p:spPr>
          <a:xfrm>
            <a:off x="10094976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11566061"/>
            <a:ext cx="1044612" cy="1044612"/>
          </a:xfrm>
          <a:prstGeom prst="rect">
            <a:avLst/>
          </a:prstGeom>
        </p:spPr>
      </p:pic>
      <p:sp>
        <p:nvSpPr>
          <p:cNvPr id="46" name="mo4-tile"/>
          <p:cNvSpPr/>
          <p:nvPr/>
        </p:nvSpPr>
        <p:spPr>
          <a:xfrm>
            <a:off x="8732520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12928517"/>
            <a:ext cx="1044612" cy="1044612"/>
          </a:xfrm>
          <a:prstGeom prst="rect">
            <a:avLst/>
          </a:prstGeom>
        </p:spPr>
      </p:pic>
      <p:sp>
        <p:nvSpPr>
          <p:cNvPr id="48" name="mo5-tile"/>
          <p:cNvSpPr/>
          <p:nvPr/>
        </p:nvSpPr>
        <p:spPr>
          <a:xfrm>
            <a:off x="10094976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12928517"/>
            <a:ext cx="1044612" cy="1044612"/>
          </a:xfrm>
          <a:prstGeom prst="rect">
            <a:avLst/>
          </a:prstGeom>
        </p:spPr>
      </p:pic>
      <p:sp>
        <p:nvSpPr>
          <p:cNvPr id="50" name="mo-cap"/>
          <p:cNvSpPr txBox="1"/>
          <p:nvPr/>
        </p:nvSpPr>
        <p:spPr>
          <a:xfrm>
            <a:off x="8732520" y="141732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02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1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6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7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8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0" name="card1-sheet"/>
          <p:cNvSpPr/>
          <p:nvPr/>
        </p:nvSpPr>
        <p:spPr>
          <a:xfrm>
            <a:off x="3236976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1-tab"/>
          <p:cNvSpPr/>
          <p:nvPr/>
        </p:nvSpPr>
        <p:spPr>
          <a:xfrm>
            <a:off x="323697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num"/>
          <p:cNvSpPr txBox="1"/>
          <p:nvPr/>
        </p:nvSpPr>
        <p:spPr>
          <a:xfrm>
            <a:off x="323697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card1-icon-bg"/>
          <p:cNvSpPr/>
          <p:nvPr/>
        </p:nvSpPr>
        <p:spPr>
          <a:xfrm>
            <a:off x="4626864" y="21305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2303555"/>
            <a:ext cx="440376" cy="440376"/>
          </a:xfrm>
          <a:prstGeom prst="rect">
            <a:avLst/>
          </a:prstGeom>
        </p:spPr>
      </p:pic>
      <p:sp>
        <p:nvSpPr>
          <p:cNvPr id="25" name="card1-title"/>
          <p:cNvSpPr txBox="1"/>
          <p:nvPr/>
        </p:nvSpPr>
        <p:spPr>
          <a:xfrm>
            <a:off x="3511296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6" name="card1-body"/>
          <p:cNvSpPr txBox="1"/>
          <p:nvPr/>
        </p:nvSpPr>
        <p:spPr>
          <a:xfrm>
            <a:off x="3511296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7" name="card1-rule"/>
          <p:cNvSpPr/>
          <p:nvPr/>
        </p:nvSpPr>
        <p:spPr>
          <a:xfrm>
            <a:off x="3511296" y="51663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1-mn"/>
          <p:cNvSpPr txBox="1"/>
          <p:nvPr/>
        </p:nvSpPr>
        <p:spPr>
          <a:xfrm>
            <a:off x="3511296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9" name="card2-sheet"/>
          <p:cNvSpPr/>
          <p:nvPr/>
        </p:nvSpPr>
        <p:spPr>
          <a:xfrm>
            <a:off x="5925312" y="101041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2-tab"/>
          <p:cNvSpPr/>
          <p:nvPr/>
        </p:nvSpPr>
        <p:spPr>
          <a:xfrm>
            <a:off x="5925312" y="101041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num"/>
          <p:cNvSpPr txBox="1"/>
          <p:nvPr/>
        </p:nvSpPr>
        <p:spPr>
          <a:xfrm>
            <a:off x="5925312" y="102138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card2-icon-bg"/>
          <p:cNvSpPr/>
          <p:nvPr/>
        </p:nvSpPr>
        <p:spPr>
          <a:xfrm>
            <a:off x="7315200" y="103601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10533155"/>
            <a:ext cx="440376" cy="440376"/>
          </a:xfrm>
          <a:prstGeom prst="rect">
            <a:avLst/>
          </a:prstGeom>
        </p:spPr>
      </p:pic>
      <p:sp>
        <p:nvSpPr>
          <p:cNvPr id="34" name="card2-title"/>
          <p:cNvSpPr txBox="1"/>
          <p:nvPr/>
        </p:nvSpPr>
        <p:spPr>
          <a:xfrm>
            <a:off x="6199632" y="112928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5" name="card2-body"/>
          <p:cNvSpPr txBox="1"/>
          <p:nvPr/>
        </p:nvSpPr>
        <p:spPr>
          <a:xfrm>
            <a:off x="6199632" y="118871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6" name="card2-rule"/>
          <p:cNvSpPr/>
          <p:nvPr/>
        </p:nvSpPr>
        <p:spPr>
          <a:xfrm>
            <a:off x="6199632" y="133959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2-mn"/>
          <p:cNvSpPr txBox="1"/>
          <p:nvPr/>
        </p:nvSpPr>
        <p:spPr>
          <a:xfrm>
            <a:off x="6199632" y="134873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8" name="mo0-tile"/>
          <p:cNvSpPr/>
          <p:nvPr/>
        </p:nvSpPr>
        <p:spPr>
          <a:xfrm>
            <a:off x="8732520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0203605"/>
            <a:ext cx="1044612" cy="1044612"/>
          </a:xfrm>
          <a:prstGeom prst="rect">
            <a:avLst/>
          </a:prstGeom>
        </p:spPr>
      </p:pic>
      <p:sp>
        <p:nvSpPr>
          <p:cNvPr id="40" name="mo1-tile"/>
          <p:cNvSpPr/>
          <p:nvPr/>
        </p:nvSpPr>
        <p:spPr>
          <a:xfrm>
            <a:off x="10094976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0203605"/>
            <a:ext cx="1044612" cy="1044612"/>
          </a:xfrm>
          <a:prstGeom prst="rect">
            <a:avLst/>
          </a:prstGeom>
        </p:spPr>
      </p:pic>
      <p:sp>
        <p:nvSpPr>
          <p:cNvPr id="42" name="mo2-tile"/>
          <p:cNvSpPr/>
          <p:nvPr/>
        </p:nvSpPr>
        <p:spPr>
          <a:xfrm>
            <a:off x="8732520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11566061"/>
            <a:ext cx="1044612" cy="1044612"/>
          </a:xfrm>
          <a:prstGeom prst="rect">
            <a:avLst/>
          </a:prstGeom>
        </p:spPr>
      </p:pic>
      <p:sp>
        <p:nvSpPr>
          <p:cNvPr id="44" name="mo3-tile"/>
          <p:cNvSpPr/>
          <p:nvPr/>
        </p:nvSpPr>
        <p:spPr>
          <a:xfrm>
            <a:off x="10094976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11566061"/>
            <a:ext cx="1044612" cy="1044612"/>
          </a:xfrm>
          <a:prstGeom prst="rect">
            <a:avLst/>
          </a:prstGeom>
        </p:spPr>
      </p:pic>
      <p:sp>
        <p:nvSpPr>
          <p:cNvPr id="46" name="mo4-tile"/>
          <p:cNvSpPr/>
          <p:nvPr/>
        </p:nvSpPr>
        <p:spPr>
          <a:xfrm>
            <a:off x="8732520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12928517"/>
            <a:ext cx="1044612" cy="1044612"/>
          </a:xfrm>
          <a:prstGeom prst="rect">
            <a:avLst/>
          </a:prstGeom>
        </p:spPr>
      </p:pic>
      <p:sp>
        <p:nvSpPr>
          <p:cNvPr id="48" name="mo5-tile"/>
          <p:cNvSpPr/>
          <p:nvPr/>
        </p:nvSpPr>
        <p:spPr>
          <a:xfrm>
            <a:off x="10094976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12928517"/>
            <a:ext cx="1044612" cy="1044612"/>
          </a:xfrm>
          <a:prstGeom prst="rect">
            <a:avLst/>
          </a:prstGeom>
        </p:spPr>
      </p:pic>
      <p:sp>
        <p:nvSpPr>
          <p:cNvPr id="50" name="mo-cap"/>
          <p:cNvSpPr txBox="1"/>
          <p:nvPr/>
        </p:nvSpPr>
        <p:spPr>
          <a:xfrm>
            <a:off x="8732520" y="141732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02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1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6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7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8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0" name="card1-sheet"/>
          <p:cNvSpPr/>
          <p:nvPr/>
        </p:nvSpPr>
        <p:spPr>
          <a:xfrm>
            <a:off x="3236976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1-tab"/>
          <p:cNvSpPr/>
          <p:nvPr/>
        </p:nvSpPr>
        <p:spPr>
          <a:xfrm>
            <a:off x="323697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num"/>
          <p:cNvSpPr txBox="1"/>
          <p:nvPr/>
        </p:nvSpPr>
        <p:spPr>
          <a:xfrm>
            <a:off x="323697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card1-icon-bg"/>
          <p:cNvSpPr/>
          <p:nvPr/>
        </p:nvSpPr>
        <p:spPr>
          <a:xfrm>
            <a:off x="4626864" y="21305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2303555"/>
            <a:ext cx="440376" cy="440376"/>
          </a:xfrm>
          <a:prstGeom prst="rect">
            <a:avLst/>
          </a:prstGeom>
        </p:spPr>
      </p:pic>
      <p:sp>
        <p:nvSpPr>
          <p:cNvPr id="25" name="card1-title"/>
          <p:cNvSpPr txBox="1"/>
          <p:nvPr/>
        </p:nvSpPr>
        <p:spPr>
          <a:xfrm>
            <a:off x="3511296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6" name="card1-body"/>
          <p:cNvSpPr txBox="1"/>
          <p:nvPr/>
        </p:nvSpPr>
        <p:spPr>
          <a:xfrm>
            <a:off x="3511296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7" name="card1-rule"/>
          <p:cNvSpPr/>
          <p:nvPr/>
        </p:nvSpPr>
        <p:spPr>
          <a:xfrm>
            <a:off x="3511296" y="51663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1-mn"/>
          <p:cNvSpPr txBox="1"/>
          <p:nvPr/>
        </p:nvSpPr>
        <p:spPr>
          <a:xfrm>
            <a:off x="3511296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9" name="card2-sheet"/>
          <p:cNvSpPr/>
          <p:nvPr/>
        </p:nvSpPr>
        <p:spPr>
          <a:xfrm>
            <a:off x="5925312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2-tab"/>
          <p:cNvSpPr/>
          <p:nvPr/>
        </p:nvSpPr>
        <p:spPr>
          <a:xfrm>
            <a:off x="5925312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num"/>
          <p:cNvSpPr txBox="1"/>
          <p:nvPr/>
        </p:nvSpPr>
        <p:spPr>
          <a:xfrm>
            <a:off x="5925312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card2-icon-bg"/>
          <p:cNvSpPr/>
          <p:nvPr/>
        </p:nvSpPr>
        <p:spPr>
          <a:xfrm>
            <a:off x="7315200" y="21305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2303555"/>
            <a:ext cx="440376" cy="440376"/>
          </a:xfrm>
          <a:prstGeom prst="rect">
            <a:avLst/>
          </a:prstGeom>
        </p:spPr>
      </p:pic>
      <p:sp>
        <p:nvSpPr>
          <p:cNvPr id="34" name="card2-title"/>
          <p:cNvSpPr txBox="1"/>
          <p:nvPr/>
        </p:nvSpPr>
        <p:spPr>
          <a:xfrm>
            <a:off x="6199632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5" name="card2-body"/>
          <p:cNvSpPr txBox="1"/>
          <p:nvPr/>
        </p:nvSpPr>
        <p:spPr>
          <a:xfrm>
            <a:off x="6199632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6" name="card2-rule"/>
          <p:cNvSpPr/>
          <p:nvPr/>
        </p:nvSpPr>
        <p:spPr>
          <a:xfrm>
            <a:off x="6199632" y="51663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2-mn"/>
          <p:cNvSpPr txBox="1"/>
          <p:nvPr/>
        </p:nvSpPr>
        <p:spPr>
          <a:xfrm>
            <a:off x="6199632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8" name="mo0-tile"/>
          <p:cNvSpPr/>
          <p:nvPr/>
        </p:nvSpPr>
        <p:spPr>
          <a:xfrm>
            <a:off x="8732520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0203605"/>
            <a:ext cx="1044612" cy="1044612"/>
          </a:xfrm>
          <a:prstGeom prst="rect">
            <a:avLst/>
          </a:prstGeom>
        </p:spPr>
      </p:pic>
      <p:sp>
        <p:nvSpPr>
          <p:cNvPr id="40" name="mo1-tile"/>
          <p:cNvSpPr/>
          <p:nvPr/>
        </p:nvSpPr>
        <p:spPr>
          <a:xfrm>
            <a:off x="10094976" y="101041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0203605"/>
            <a:ext cx="1044612" cy="1044612"/>
          </a:xfrm>
          <a:prstGeom prst="rect">
            <a:avLst/>
          </a:prstGeom>
        </p:spPr>
      </p:pic>
      <p:sp>
        <p:nvSpPr>
          <p:cNvPr id="42" name="mo2-tile"/>
          <p:cNvSpPr/>
          <p:nvPr/>
        </p:nvSpPr>
        <p:spPr>
          <a:xfrm>
            <a:off x="8732520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11566061"/>
            <a:ext cx="1044612" cy="1044612"/>
          </a:xfrm>
          <a:prstGeom prst="rect">
            <a:avLst/>
          </a:prstGeom>
        </p:spPr>
      </p:pic>
      <p:sp>
        <p:nvSpPr>
          <p:cNvPr id="44" name="mo3-tile"/>
          <p:cNvSpPr/>
          <p:nvPr/>
        </p:nvSpPr>
        <p:spPr>
          <a:xfrm>
            <a:off x="10094976" y="114665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11566061"/>
            <a:ext cx="1044612" cy="1044612"/>
          </a:xfrm>
          <a:prstGeom prst="rect">
            <a:avLst/>
          </a:prstGeom>
        </p:spPr>
      </p:pic>
      <p:sp>
        <p:nvSpPr>
          <p:cNvPr id="46" name="mo4-tile"/>
          <p:cNvSpPr/>
          <p:nvPr/>
        </p:nvSpPr>
        <p:spPr>
          <a:xfrm>
            <a:off x="8732520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12928517"/>
            <a:ext cx="1044612" cy="1044612"/>
          </a:xfrm>
          <a:prstGeom prst="rect">
            <a:avLst/>
          </a:prstGeom>
        </p:spPr>
      </p:pic>
      <p:sp>
        <p:nvSpPr>
          <p:cNvPr id="48" name="mo5-tile"/>
          <p:cNvSpPr/>
          <p:nvPr/>
        </p:nvSpPr>
        <p:spPr>
          <a:xfrm>
            <a:off x="10094976" y="128290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12928517"/>
            <a:ext cx="1044612" cy="1044612"/>
          </a:xfrm>
          <a:prstGeom prst="rect">
            <a:avLst/>
          </a:prstGeom>
        </p:spPr>
      </p:pic>
      <p:sp>
        <p:nvSpPr>
          <p:cNvPr id="50" name="mo-cap"/>
          <p:cNvSpPr txBox="1"/>
          <p:nvPr/>
        </p:nvSpPr>
        <p:spPr>
          <a:xfrm>
            <a:off x="8732520" y="141732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Компани ба боломж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02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SUGI ASAYAKE は「日本の日常品質」をモンゴルに届けるブランド。ECはその次の成長段階。</a:t>
            </a:r>
          </a:p>
        </p:txBody>
      </p:sp>
      <p:sp>
        <p:nvSpPr>
          <p:cNvPr id="11" name="card0-sheet"/>
          <p:cNvSpPr/>
          <p:nvPr/>
        </p:nvSpPr>
        <p:spPr>
          <a:xfrm>
            <a:off x="548640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0-tab"/>
          <p:cNvSpPr/>
          <p:nvPr/>
        </p:nvSpPr>
        <p:spPr>
          <a:xfrm>
            <a:off x="548640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0-num"/>
          <p:cNvSpPr txBox="1"/>
          <p:nvPr/>
        </p:nvSpPr>
        <p:spPr>
          <a:xfrm>
            <a:off x="548640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card0-icon-bg"/>
          <p:cNvSpPr/>
          <p:nvPr/>
        </p:nvSpPr>
        <p:spPr>
          <a:xfrm>
            <a:off x="1938528" y="2130551"/>
            <a:ext cx="786384" cy="78638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card0-icon-ic" descr="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532" y="2303555"/>
            <a:ext cx="440376" cy="440376"/>
          </a:xfrm>
          <a:prstGeom prst="rect">
            <a:avLst/>
          </a:prstGeom>
        </p:spPr>
      </p:pic>
      <p:sp>
        <p:nvSpPr>
          <p:cNvPr id="16" name="card0-title"/>
          <p:cNvSpPr txBox="1"/>
          <p:nvPr/>
        </p:nvSpPr>
        <p:spPr>
          <a:xfrm>
            <a:off x="822960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日本のドラッグストアの正規子会社</a:t>
            </a:r>
          </a:p>
        </p:txBody>
      </p:sp>
      <p:sp>
        <p:nvSpPr>
          <p:cNvPr id="17" name="card0-body"/>
          <p:cNvSpPr txBox="1"/>
          <p:nvPr/>
        </p:nvSpPr>
        <p:spPr>
          <a:xfrm>
            <a:off x="822960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SUGI Drug Store Japan のモンゴル子会社。ウランバートル市内に4店舗を展開し、化粧品・医薬部外品・日用品・食品を正規ルートで輸入販売。</a:t>
            </a:r>
          </a:p>
        </p:txBody>
      </p:sp>
      <p:sp>
        <p:nvSpPr>
          <p:cNvPr id="18" name="card0-rule"/>
          <p:cNvSpPr/>
          <p:nvPr/>
        </p:nvSpPr>
        <p:spPr>
          <a:xfrm>
            <a:off x="822960" y="5166359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0-mn"/>
          <p:cNvSpPr txBox="1"/>
          <p:nvPr/>
        </p:nvSpPr>
        <p:spPr>
          <a:xfrm>
            <a:off x="822960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SUGI Drug Store Japan-ийн охин компани, УБ-д 4 салбар, албан ёсны импорт.</a:t>
            </a:r>
          </a:p>
        </p:txBody>
      </p:sp>
      <p:sp>
        <p:nvSpPr>
          <p:cNvPr id="20" name="card1-sheet"/>
          <p:cNvSpPr/>
          <p:nvPr/>
        </p:nvSpPr>
        <p:spPr>
          <a:xfrm>
            <a:off x="3236976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1-tab"/>
          <p:cNvSpPr/>
          <p:nvPr/>
        </p:nvSpPr>
        <p:spPr>
          <a:xfrm>
            <a:off x="3236976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1-num"/>
          <p:cNvSpPr txBox="1"/>
          <p:nvPr/>
        </p:nvSpPr>
        <p:spPr>
          <a:xfrm>
            <a:off x="3236976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card1-icon-bg"/>
          <p:cNvSpPr/>
          <p:nvPr/>
        </p:nvSpPr>
        <p:spPr>
          <a:xfrm>
            <a:off x="4626864" y="2130551"/>
            <a:ext cx="786384" cy="78638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card1-icon-ic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68" y="2303555"/>
            <a:ext cx="440376" cy="440376"/>
          </a:xfrm>
          <a:prstGeom prst="rect">
            <a:avLst/>
          </a:prstGeom>
        </p:spPr>
      </p:pic>
      <p:sp>
        <p:nvSpPr>
          <p:cNvPr id="25" name="card1-title"/>
          <p:cNvSpPr txBox="1"/>
          <p:nvPr/>
        </p:nvSpPr>
        <p:spPr>
          <a:xfrm>
            <a:off x="3511296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9万人超の既存顧客基盤</a:t>
            </a:r>
          </a:p>
        </p:txBody>
      </p:sp>
      <p:sp>
        <p:nvSpPr>
          <p:cNvPr id="26" name="card1-body"/>
          <p:cNvSpPr txBox="1"/>
          <p:nvPr/>
        </p:nvSpPr>
        <p:spPr>
          <a:xfrm>
            <a:off x="3511296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Facebook で 93,000 人以上のフォロワー。店舗で築いた信頼を、オンラインの購買に直接つなげる土台がすでにある。</a:t>
            </a:r>
          </a:p>
        </p:txBody>
      </p:sp>
      <p:sp>
        <p:nvSpPr>
          <p:cNvPr id="27" name="card1-rule"/>
          <p:cNvSpPr/>
          <p:nvPr/>
        </p:nvSpPr>
        <p:spPr>
          <a:xfrm>
            <a:off x="3511296" y="5166359"/>
            <a:ext cx="457200" cy="36576"/>
          </a:xfrm>
          <a:prstGeom prst="rect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1-mn"/>
          <p:cNvSpPr txBox="1"/>
          <p:nvPr/>
        </p:nvSpPr>
        <p:spPr>
          <a:xfrm>
            <a:off x="3511296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Facebook-т 93,000+ дагагч — бэлэн харилцагчийн суурь.</a:t>
            </a:r>
          </a:p>
        </p:txBody>
      </p:sp>
      <p:sp>
        <p:nvSpPr>
          <p:cNvPr id="29" name="card2-sheet"/>
          <p:cNvSpPr/>
          <p:nvPr/>
        </p:nvSpPr>
        <p:spPr>
          <a:xfrm>
            <a:off x="5925312" y="1874519"/>
            <a:ext cx="248716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431800" dist="1270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2-tab"/>
          <p:cNvSpPr/>
          <p:nvPr/>
        </p:nvSpPr>
        <p:spPr>
          <a:xfrm>
            <a:off x="5925312" y="1874519"/>
            <a:ext cx="960120" cy="868680"/>
          </a:xfrm>
          <a:prstGeom prst="snip2DiagRect">
            <a:avLst>
              <a:gd name="adj1" fmla="val 0"/>
              <a:gd name="adj2" fmla="val 42000"/>
            </a:avLst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rd2-num"/>
          <p:cNvSpPr txBox="1"/>
          <p:nvPr/>
        </p:nvSpPr>
        <p:spPr>
          <a:xfrm>
            <a:off x="5925312" y="1984247"/>
            <a:ext cx="9601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2" name="card2-icon-bg"/>
          <p:cNvSpPr/>
          <p:nvPr/>
        </p:nvSpPr>
        <p:spPr>
          <a:xfrm>
            <a:off x="7315200" y="2130551"/>
            <a:ext cx="786384" cy="78638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card2-icon-ic" descr="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204" y="2303555"/>
            <a:ext cx="440376" cy="440376"/>
          </a:xfrm>
          <a:prstGeom prst="rect">
            <a:avLst/>
          </a:prstGeom>
        </p:spPr>
      </p:pic>
      <p:sp>
        <p:nvSpPr>
          <p:cNvPr id="34" name="card2-title"/>
          <p:cNvSpPr txBox="1"/>
          <p:nvPr/>
        </p:nvSpPr>
        <p:spPr>
          <a:xfrm>
            <a:off x="6199632" y="3063239"/>
            <a:ext cx="1938528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61A"/>
                </a:solidFill>
                <a:latin typeface="Yu Gothic UI"/>
              </a:rPr>
              <a:t>自社ECで時間と場所の制約をなくす</a:t>
            </a:r>
          </a:p>
        </p:txBody>
      </p:sp>
      <p:sp>
        <p:nvSpPr>
          <p:cNvPr id="35" name="card2-body"/>
          <p:cNvSpPr txBox="1"/>
          <p:nvPr/>
        </p:nvSpPr>
        <p:spPr>
          <a:xfrm>
            <a:off x="6199632" y="3657599"/>
            <a:ext cx="1938528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2A2E35"/>
                </a:solidFill>
                <a:latin typeface="Yu Gothic UI"/>
              </a:rPr>
              <a:t>店舗の営業時間・立地に縛られない販売チャネル。在庫・注文・顧客データを一元化し、日本本社との連携を容易にする。</a:t>
            </a:r>
          </a:p>
        </p:txBody>
      </p:sp>
      <p:sp>
        <p:nvSpPr>
          <p:cNvPr id="36" name="card2-rule"/>
          <p:cNvSpPr/>
          <p:nvPr/>
        </p:nvSpPr>
        <p:spPr>
          <a:xfrm>
            <a:off x="6199632" y="5166359"/>
            <a:ext cx="457200" cy="36576"/>
          </a:xfrm>
          <a:prstGeom prst="rect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rd2-mn"/>
          <p:cNvSpPr txBox="1"/>
          <p:nvPr/>
        </p:nvSpPr>
        <p:spPr>
          <a:xfrm>
            <a:off x="6199632" y="5257799"/>
            <a:ext cx="1938528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Дэлгүүрийн цаг, байршлаас хамаарахгүй өөрийн суваг; нэг системд бүх өгөгдөл.</a:t>
            </a:r>
          </a:p>
        </p:txBody>
      </p:sp>
      <p:sp>
        <p:nvSpPr>
          <p:cNvPr id="38" name="mo0-tile"/>
          <p:cNvSpPr/>
          <p:nvPr/>
        </p:nvSpPr>
        <p:spPr>
          <a:xfrm>
            <a:off x="8732520" y="18745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mo0-img" descr="s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006" y="1974005"/>
            <a:ext cx="1044612" cy="1044612"/>
          </a:xfrm>
          <a:prstGeom prst="rect">
            <a:avLst/>
          </a:prstGeom>
        </p:spPr>
      </p:pic>
      <p:sp>
        <p:nvSpPr>
          <p:cNvPr id="40" name="mo1-tile"/>
          <p:cNvSpPr/>
          <p:nvPr/>
        </p:nvSpPr>
        <p:spPr>
          <a:xfrm>
            <a:off x="10094976" y="1874519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mo1-img" descr="s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462" y="1974005"/>
            <a:ext cx="1044612" cy="1044612"/>
          </a:xfrm>
          <a:prstGeom prst="rect">
            <a:avLst/>
          </a:prstGeom>
        </p:spPr>
      </p:pic>
      <p:sp>
        <p:nvSpPr>
          <p:cNvPr id="42" name="mo2-tile"/>
          <p:cNvSpPr/>
          <p:nvPr/>
        </p:nvSpPr>
        <p:spPr>
          <a:xfrm>
            <a:off x="8732520" y="32369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mo2-img" descr="s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2006" y="3336461"/>
            <a:ext cx="1044612" cy="1044612"/>
          </a:xfrm>
          <a:prstGeom prst="rect">
            <a:avLst/>
          </a:prstGeom>
        </p:spPr>
      </p:pic>
      <p:sp>
        <p:nvSpPr>
          <p:cNvPr id="44" name="mo3-tile"/>
          <p:cNvSpPr/>
          <p:nvPr/>
        </p:nvSpPr>
        <p:spPr>
          <a:xfrm>
            <a:off x="10094976" y="3236975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mo3-img" descr="s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4462" y="3336461"/>
            <a:ext cx="1044612" cy="1044612"/>
          </a:xfrm>
          <a:prstGeom prst="rect">
            <a:avLst/>
          </a:prstGeom>
        </p:spPr>
      </p:pic>
      <p:sp>
        <p:nvSpPr>
          <p:cNvPr id="46" name="mo4-tile"/>
          <p:cNvSpPr/>
          <p:nvPr/>
        </p:nvSpPr>
        <p:spPr>
          <a:xfrm>
            <a:off x="8732520" y="45994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mo4-img" descr="s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2006" y="4698917"/>
            <a:ext cx="1044612" cy="1044612"/>
          </a:xfrm>
          <a:prstGeom prst="rect">
            <a:avLst/>
          </a:prstGeom>
        </p:spPr>
      </p:pic>
      <p:sp>
        <p:nvSpPr>
          <p:cNvPr id="48" name="mo5-tile"/>
          <p:cNvSpPr/>
          <p:nvPr/>
        </p:nvSpPr>
        <p:spPr>
          <a:xfrm>
            <a:off x="10094976" y="4599431"/>
            <a:ext cx="1243584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mo5-img" descr="s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94462" y="4698917"/>
            <a:ext cx="1044612" cy="1044612"/>
          </a:xfrm>
          <a:prstGeom prst="rect">
            <a:avLst/>
          </a:prstGeom>
        </p:spPr>
      </p:pic>
      <p:sp>
        <p:nvSpPr>
          <p:cNvPr id="50" name="mo-cap"/>
          <p:cNvSpPr txBox="1"/>
          <p:nvPr/>
        </p:nvSpPr>
        <p:spPr>
          <a:xfrm>
            <a:off x="8732520" y="5943600"/>
            <a:ext cx="29260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980点の日本製品を掲載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サイト概要 — ドラッグストアの体験をオンラインに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Сайтын ерөнхий дүр зураг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03 / 10</a:t>
            </a:r>
          </a:p>
        </p:txBody>
      </p:sp>
      <p:sp>
        <p:nvSpPr>
          <p:cNvPr id="10" name="home-frame"/>
          <p:cNvSpPr/>
          <p:nvPr/>
        </p:nvSpPr>
        <p:spPr>
          <a:xfrm>
            <a:off x="548640" y="100126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home-img" descr="slid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0158984"/>
            <a:ext cx="6656832" cy="4016044"/>
          </a:xfrm>
          <a:prstGeom prst="rect">
            <a:avLst/>
          </a:prstGeom>
        </p:spPr>
      </p:pic>
      <p:sp>
        <p:nvSpPr>
          <p:cNvPr id="12" name="home-base"/>
          <p:cNvSpPr/>
          <p:nvPr/>
        </p:nvSpPr>
        <p:spPr>
          <a:xfrm>
            <a:off x="228600" y="143213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0"/>
          <p:cNvSpPr/>
          <p:nvPr/>
        </p:nvSpPr>
        <p:spPr>
          <a:xfrm>
            <a:off x="7818120" y="100126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ll0-bg"/>
          <p:cNvSpPr/>
          <p:nvPr/>
        </p:nvSpPr>
        <p:spPr>
          <a:xfrm>
            <a:off x="7955279" y="101315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ll0-ic" descr="langu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10244206"/>
            <a:ext cx="286756" cy="286756"/>
          </a:xfrm>
          <a:prstGeom prst="rect">
            <a:avLst/>
          </a:prstGeom>
        </p:spPr>
      </p:pic>
      <p:sp>
        <p:nvSpPr>
          <p:cNvPr id="16" name="pill0-t"/>
          <p:cNvSpPr txBox="1"/>
          <p:nvPr/>
        </p:nvSpPr>
        <p:spPr>
          <a:xfrm>
            <a:off x="8595360" y="100858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3言語表示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Монгол / English / 日本語</a:t>
            </a:r>
          </a:p>
        </p:txBody>
      </p:sp>
      <p:sp>
        <p:nvSpPr>
          <p:cNvPr id="17" name="pill1"/>
          <p:cNvSpPr/>
          <p:nvPr/>
        </p:nvSpPr>
        <p:spPr>
          <a:xfrm>
            <a:off x="7818120" y="109087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ill1-bg"/>
          <p:cNvSpPr/>
          <p:nvPr/>
        </p:nvSpPr>
        <p:spPr>
          <a:xfrm>
            <a:off x="7955279" y="11027664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ll1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11140318"/>
            <a:ext cx="286756" cy="286756"/>
          </a:xfrm>
          <a:prstGeom prst="rect">
            <a:avLst/>
          </a:prstGeom>
        </p:spPr>
      </p:pic>
      <p:sp>
        <p:nvSpPr>
          <p:cNvPr id="20" name="pill1-t"/>
          <p:cNvSpPr txBox="1"/>
          <p:nvPr/>
        </p:nvSpPr>
        <p:spPr>
          <a:xfrm>
            <a:off x="8595360" y="109819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スマホ優先・PWA・ダークモード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Утсанд, PWA, харанхуй горим</a:t>
            </a:r>
          </a:p>
        </p:txBody>
      </p:sp>
      <p:sp>
        <p:nvSpPr>
          <p:cNvPr id="21" name="pill2"/>
          <p:cNvSpPr/>
          <p:nvPr/>
        </p:nvSpPr>
        <p:spPr>
          <a:xfrm>
            <a:off x="7818120" y="118049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ill2-bg"/>
          <p:cNvSpPr/>
          <p:nvPr/>
        </p:nvSpPr>
        <p:spPr>
          <a:xfrm>
            <a:off x="7955279" y="11923776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ll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12036430"/>
            <a:ext cx="286756" cy="286756"/>
          </a:xfrm>
          <a:prstGeom prst="rect">
            <a:avLst/>
          </a:prstGeom>
        </p:spPr>
      </p:pic>
      <p:sp>
        <p:nvSpPr>
          <p:cNvPr id="24" name="pill2-t"/>
          <p:cNvSpPr txBox="1"/>
          <p:nvPr/>
        </p:nvSpPr>
        <p:spPr>
          <a:xfrm>
            <a:off x="8595360" y="118780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ブランド・カテゴリーを管理画面から編集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Брэнд, ангилал бүгд админаас</a:t>
            </a:r>
          </a:p>
        </p:txBody>
      </p:sp>
      <p:sp>
        <p:nvSpPr>
          <p:cNvPr id="25" name="pill3"/>
          <p:cNvSpPr/>
          <p:nvPr/>
        </p:nvSpPr>
        <p:spPr>
          <a:xfrm>
            <a:off x="7818120" y="127010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ll3-bg"/>
          <p:cNvSpPr/>
          <p:nvPr/>
        </p:nvSpPr>
        <p:spPr>
          <a:xfrm>
            <a:off x="7955279" y="12819888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ll3-ic" descr="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12932542"/>
            <a:ext cx="286756" cy="286756"/>
          </a:xfrm>
          <a:prstGeom prst="rect">
            <a:avLst/>
          </a:prstGeom>
        </p:spPr>
      </p:pic>
      <p:sp>
        <p:nvSpPr>
          <p:cNvPr id="28" name="pill3-t"/>
          <p:cNvSpPr txBox="1"/>
          <p:nvPr/>
        </p:nvSpPr>
        <p:spPr>
          <a:xfrm>
            <a:off x="8595360" y="127741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肌質・髪質プロフィールに基づく提案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Профайлд суурилсан санал</a:t>
            </a:r>
          </a:p>
        </p:txBody>
      </p:sp>
      <p:sp>
        <p:nvSpPr>
          <p:cNvPr id="29" name="pill4"/>
          <p:cNvSpPr/>
          <p:nvPr/>
        </p:nvSpPr>
        <p:spPr>
          <a:xfrm>
            <a:off x="7818120" y="135971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ll4-bg"/>
          <p:cNvSpPr/>
          <p:nvPr/>
        </p:nvSpPr>
        <p:spPr>
          <a:xfrm>
            <a:off x="7955279" y="13716000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ll4-ic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3" y="13828654"/>
            <a:ext cx="286756" cy="286756"/>
          </a:xfrm>
          <a:prstGeom prst="rect">
            <a:avLst/>
          </a:prstGeom>
        </p:spPr>
      </p:pic>
      <p:sp>
        <p:nvSpPr>
          <p:cNvPr id="32" name="pill4-t"/>
          <p:cNvSpPr txBox="1"/>
          <p:nvPr/>
        </p:nvSpPr>
        <p:spPr>
          <a:xfrm>
            <a:off x="8595360" y="136702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Cookie同意・WCAG 2.2 AA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Күкийн зөвшөөрөл, хүртээмж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サイト概要 — ドラッグストアの体験をオンラインに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Сайтын ерөнхий дүр зураг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03 / 10</a:t>
            </a:r>
          </a:p>
        </p:txBody>
      </p:sp>
      <p:sp>
        <p:nvSpPr>
          <p:cNvPr id="10" name="home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home-img" descr="slide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2" name="home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0"/>
          <p:cNvSpPr/>
          <p:nvPr/>
        </p:nvSpPr>
        <p:spPr>
          <a:xfrm>
            <a:off x="7818120" y="17830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ll0-bg"/>
          <p:cNvSpPr/>
          <p:nvPr/>
        </p:nvSpPr>
        <p:spPr>
          <a:xfrm>
            <a:off x="7955279" y="19019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ll0-ic" descr="langu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2014606"/>
            <a:ext cx="286756" cy="286756"/>
          </a:xfrm>
          <a:prstGeom prst="rect">
            <a:avLst/>
          </a:prstGeom>
        </p:spPr>
      </p:pic>
      <p:sp>
        <p:nvSpPr>
          <p:cNvPr id="16" name="pill0-t"/>
          <p:cNvSpPr txBox="1"/>
          <p:nvPr/>
        </p:nvSpPr>
        <p:spPr>
          <a:xfrm>
            <a:off x="8595360" y="18562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3言語表示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Монгол / English / 日本語</a:t>
            </a:r>
          </a:p>
        </p:txBody>
      </p:sp>
      <p:sp>
        <p:nvSpPr>
          <p:cNvPr id="17" name="pill1"/>
          <p:cNvSpPr/>
          <p:nvPr/>
        </p:nvSpPr>
        <p:spPr>
          <a:xfrm>
            <a:off x="7818120" y="26791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ill1-bg"/>
          <p:cNvSpPr/>
          <p:nvPr/>
        </p:nvSpPr>
        <p:spPr>
          <a:xfrm>
            <a:off x="7955279" y="2798064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ll1-ic" descr="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2910718"/>
            <a:ext cx="286756" cy="286756"/>
          </a:xfrm>
          <a:prstGeom prst="rect">
            <a:avLst/>
          </a:prstGeom>
        </p:spPr>
      </p:pic>
      <p:sp>
        <p:nvSpPr>
          <p:cNvPr id="20" name="pill1-t"/>
          <p:cNvSpPr txBox="1"/>
          <p:nvPr/>
        </p:nvSpPr>
        <p:spPr>
          <a:xfrm>
            <a:off x="8595360" y="27523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スマホ優先・PWA・ダークモード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Утсанд, PWA, харанхуй горим</a:t>
            </a:r>
          </a:p>
        </p:txBody>
      </p:sp>
      <p:sp>
        <p:nvSpPr>
          <p:cNvPr id="21" name="pill2"/>
          <p:cNvSpPr/>
          <p:nvPr/>
        </p:nvSpPr>
        <p:spPr>
          <a:xfrm>
            <a:off x="7818120" y="35753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ill2-bg"/>
          <p:cNvSpPr/>
          <p:nvPr/>
        </p:nvSpPr>
        <p:spPr>
          <a:xfrm>
            <a:off x="7955279" y="3694176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ll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3806830"/>
            <a:ext cx="286756" cy="286756"/>
          </a:xfrm>
          <a:prstGeom prst="rect">
            <a:avLst/>
          </a:prstGeom>
        </p:spPr>
      </p:pic>
      <p:sp>
        <p:nvSpPr>
          <p:cNvPr id="24" name="pill2-t"/>
          <p:cNvSpPr txBox="1"/>
          <p:nvPr/>
        </p:nvSpPr>
        <p:spPr>
          <a:xfrm>
            <a:off x="8595360" y="36484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ブランド・カテゴリーを管理画面から編集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Брэнд, ангилал бүгд админаас</a:t>
            </a:r>
          </a:p>
        </p:txBody>
      </p:sp>
      <p:sp>
        <p:nvSpPr>
          <p:cNvPr id="25" name="pill3"/>
          <p:cNvSpPr/>
          <p:nvPr/>
        </p:nvSpPr>
        <p:spPr>
          <a:xfrm>
            <a:off x="7818120" y="44714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ll3-bg"/>
          <p:cNvSpPr/>
          <p:nvPr/>
        </p:nvSpPr>
        <p:spPr>
          <a:xfrm>
            <a:off x="7955279" y="4590288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ll3-ic" descr="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4702942"/>
            <a:ext cx="286756" cy="286756"/>
          </a:xfrm>
          <a:prstGeom prst="rect">
            <a:avLst/>
          </a:prstGeom>
        </p:spPr>
      </p:pic>
      <p:sp>
        <p:nvSpPr>
          <p:cNvPr id="28" name="pill3-t"/>
          <p:cNvSpPr txBox="1"/>
          <p:nvPr/>
        </p:nvSpPr>
        <p:spPr>
          <a:xfrm>
            <a:off x="8595360" y="45445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肌質・髪質プロフィールに基づく提案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Профайлд суурилсан санал</a:t>
            </a:r>
          </a:p>
        </p:txBody>
      </p:sp>
      <p:sp>
        <p:nvSpPr>
          <p:cNvPr id="29" name="pill4"/>
          <p:cNvSpPr/>
          <p:nvPr/>
        </p:nvSpPr>
        <p:spPr>
          <a:xfrm>
            <a:off x="7818120" y="53675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ll4-bg"/>
          <p:cNvSpPr/>
          <p:nvPr/>
        </p:nvSpPr>
        <p:spPr>
          <a:xfrm>
            <a:off x="7955279" y="5486400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ll4-ic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3" y="5599054"/>
            <a:ext cx="286756" cy="286756"/>
          </a:xfrm>
          <a:prstGeom prst="rect">
            <a:avLst/>
          </a:prstGeom>
        </p:spPr>
      </p:pic>
      <p:sp>
        <p:nvSpPr>
          <p:cNvPr id="32" name="pill4-t"/>
          <p:cNvSpPr txBox="1"/>
          <p:nvPr/>
        </p:nvSpPr>
        <p:spPr>
          <a:xfrm>
            <a:off x="8595360" y="54406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Cookie同意・WCAG 2.2 AA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Күкийн зөвшөөрөл, хүртээмж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Барааны хуудас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04 / 10</a:t>
            </a:r>
          </a:p>
        </p:txBody>
      </p:sp>
      <p:sp>
        <p:nvSpPr>
          <p:cNvPr id="10" name="pdp-frame"/>
          <p:cNvSpPr/>
          <p:nvPr/>
        </p:nvSpPr>
        <p:spPr>
          <a:xfrm>
            <a:off x="548640" y="1600200"/>
            <a:ext cx="5760720" cy="357164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dp-img" descr="sli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5468112" cy="3279038"/>
          </a:xfrm>
          <a:prstGeom prst="rect">
            <a:avLst/>
          </a:prstGeom>
        </p:spPr>
      </p:pic>
      <p:sp>
        <p:nvSpPr>
          <p:cNvPr id="12" name="pdp-base"/>
          <p:cNvSpPr/>
          <p:nvPr/>
        </p:nvSpPr>
        <p:spPr>
          <a:xfrm>
            <a:off x="228600" y="5171846"/>
            <a:ext cx="640080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p0"/>
          <p:cNvSpPr/>
          <p:nvPr/>
        </p:nvSpPr>
        <p:spPr>
          <a:xfrm>
            <a:off x="6675120" y="9829800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p0-bg"/>
          <p:cNvSpPr/>
          <p:nvPr/>
        </p:nvSpPr>
        <p:spPr>
          <a:xfrm>
            <a:off x="6812280" y="9966960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p0-ic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0" y="10087660"/>
            <a:ext cx="307240" cy="307240"/>
          </a:xfrm>
          <a:prstGeom prst="rect">
            <a:avLst/>
          </a:prstGeom>
        </p:spPr>
      </p:pic>
      <p:sp>
        <p:nvSpPr>
          <p:cNvPr id="16" name="pp0-t"/>
          <p:cNvSpPr txBox="1"/>
          <p:nvPr/>
        </p:nvSpPr>
        <p:spPr>
          <a:xfrm>
            <a:off x="7498079" y="9875520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JANコードで検索される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構造化データ・サイトマップ・バーコード先頭の説明文で Google に見つかる。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JAN кодоор Google-д олдох SEO</a:t>
            </a:r>
          </a:p>
        </p:txBody>
      </p:sp>
      <p:sp>
        <p:nvSpPr>
          <p:cNvPr id="17" name="pp1"/>
          <p:cNvSpPr/>
          <p:nvPr/>
        </p:nvSpPr>
        <p:spPr>
          <a:xfrm>
            <a:off x="6675120" y="10762488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p1-bg"/>
          <p:cNvSpPr/>
          <p:nvPr/>
        </p:nvSpPr>
        <p:spPr>
          <a:xfrm>
            <a:off x="6812280" y="10899648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p1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80" y="11020348"/>
            <a:ext cx="307240" cy="307240"/>
          </a:xfrm>
          <a:prstGeom prst="rect">
            <a:avLst/>
          </a:prstGeom>
        </p:spPr>
      </p:pic>
      <p:sp>
        <p:nvSpPr>
          <p:cNvPr id="20" name="pp1-t"/>
          <p:cNvSpPr txBox="1"/>
          <p:nvPr/>
        </p:nvSpPr>
        <p:spPr>
          <a:xfrm>
            <a:off x="7498079" y="10808208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写真の上に内容量・成分・原産国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内容量、成分表示、原産国、使用期限を商品写真の上にカードで表示。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Хэмжээ, найрлага, гарал, хугацаа зурган дээр</a:t>
            </a:r>
          </a:p>
        </p:txBody>
      </p:sp>
      <p:sp>
        <p:nvSpPr>
          <p:cNvPr id="21" name="pp2"/>
          <p:cNvSpPr/>
          <p:nvPr/>
        </p:nvSpPr>
        <p:spPr>
          <a:xfrm>
            <a:off x="6675120" y="11695176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p2-bg"/>
          <p:cNvSpPr/>
          <p:nvPr/>
        </p:nvSpPr>
        <p:spPr>
          <a:xfrm>
            <a:off x="6812280" y="11832336"/>
            <a:ext cx="548640" cy="54864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p2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0" y="11953036"/>
            <a:ext cx="307240" cy="307240"/>
          </a:xfrm>
          <a:prstGeom prst="rect">
            <a:avLst/>
          </a:prstGeom>
        </p:spPr>
      </p:pic>
      <p:sp>
        <p:nvSpPr>
          <p:cNvPr id="24" name="pp2-t"/>
          <p:cNvSpPr txBox="1"/>
          <p:nvPr/>
        </p:nvSpPr>
        <p:spPr>
          <a:xfrm>
            <a:off x="7498079" y="11740896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レビュー・Q&amp;A・共有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購入者だけがレビュー。返信・いいね・Q&amp;A、投稿特典、SNS共有。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Сэтгэгдэл, Q&amp;A, урамшуулал, хуваалцах</a:t>
            </a:r>
          </a:p>
        </p:txBody>
      </p:sp>
      <p:sp>
        <p:nvSpPr>
          <p:cNvPr id="25" name="pp3"/>
          <p:cNvSpPr/>
          <p:nvPr/>
        </p:nvSpPr>
        <p:spPr>
          <a:xfrm>
            <a:off x="6675120" y="12627864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p3-bg"/>
          <p:cNvSpPr/>
          <p:nvPr/>
        </p:nvSpPr>
        <p:spPr>
          <a:xfrm>
            <a:off x="6812280" y="12765024"/>
            <a:ext cx="548640" cy="54864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p3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980" y="12885724"/>
            <a:ext cx="307240" cy="307240"/>
          </a:xfrm>
          <a:prstGeom prst="rect">
            <a:avLst/>
          </a:prstGeom>
        </p:spPr>
      </p:pic>
      <p:sp>
        <p:nvSpPr>
          <p:cNvPr id="28" name="pp3-t"/>
          <p:cNvSpPr txBox="1"/>
          <p:nvPr/>
        </p:nvSpPr>
        <p:spPr>
          <a:xfrm>
            <a:off x="7498079" y="12673584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ギフトカードとバリエーション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デジタルギフトカードを即時発行。サイズ・色のバリエーション、関連商品。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Бэлгийн карт, variant, холбоотой бараа</a:t>
            </a:r>
          </a:p>
        </p:txBody>
      </p:sp>
      <p:sp>
        <p:nvSpPr>
          <p:cNvPr id="29" name="ps0-tile"/>
          <p:cNvSpPr/>
          <p:nvPr/>
        </p:nvSpPr>
        <p:spPr>
          <a:xfrm>
            <a:off x="667512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s0-img" descr="s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13686739"/>
            <a:ext cx="652882" cy="652882"/>
          </a:xfrm>
          <a:prstGeom prst="rect">
            <a:avLst/>
          </a:prstGeom>
        </p:spPr>
      </p:pic>
      <p:sp>
        <p:nvSpPr>
          <p:cNvPr id="31" name="ps1-tile"/>
          <p:cNvSpPr/>
          <p:nvPr/>
        </p:nvSpPr>
        <p:spPr>
          <a:xfrm>
            <a:off x="7516368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s1-img" descr="s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13686739"/>
            <a:ext cx="652882" cy="652882"/>
          </a:xfrm>
          <a:prstGeom prst="rect">
            <a:avLst/>
          </a:prstGeom>
        </p:spPr>
      </p:pic>
      <p:sp>
        <p:nvSpPr>
          <p:cNvPr id="33" name="ps2-tile"/>
          <p:cNvSpPr/>
          <p:nvPr/>
        </p:nvSpPr>
        <p:spPr>
          <a:xfrm>
            <a:off x="8357616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s2-img" descr="s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9795" y="13686739"/>
            <a:ext cx="652882" cy="652882"/>
          </a:xfrm>
          <a:prstGeom prst="rect">
            <a:avLst/>
          </a:prstGeom>
        </p:spPr>
      </p:pic>
      <p:sp>
        <p:nvSpPr>
          <p:cNvPr id="35" name="ps3-tile"/>
          <p:cNvSpPr/>
          <p:nvPr/>
        </p:nvSpPr>
        <p:spPr>
          <a:xfrm>
            <a:off x="9198864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s3-img" descr="s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043" y="13686739"/>
            <a:ext cx="652882" cy="652882"/>
          </a:xfrm>
          <a:prstGeom prst="rect">
            <a:avLst/>
          </a:prstGeom>
        </p:spPr>
      </p:pic>
      <p:sp>
        <p:nvSpPr>
          <p:cNvPr id="37" name="ps4-tile"/>
          <p:cNvSpPr/>
          <p:nvPr/>
        </p:nvSpPr>
        <p:spPr>
          <a:xfrm>
            <a:off x="10040112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s4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2291" y="13686739"/>
            <a:ext cx="652882" cy="652882"/>
          </a:xfrm>
          <a:prstGeom prst="rect">
            <a:avLst/>
          </a:prstGeom>
        </p:spPr>
      </p:pic>
      <p:sp>
        <p:nvSpPr>
          <p:cNvPr id="39" name="ps5-tile"/>
          <p:cNvSpPr/>
          <p:nvPr/>
        </p:nvSpPr>
        <p:spPr>
          <a:xfrm>
            <a:off x="1088136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s5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3539" y="13686739"/>
            <a:ext cx="652882" cy="652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Барааны хуудас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04 / 10</a:t>
            </a:r>
          </a:p>
        </p:txBody>
      </p:sp>
      <p:sp>
        <p:nvSpPr>
          <p:cNvPr id="10" name="pdp-frame"/>
          <p:cNvSpPr/>
          <p:nvPr/>
        </p:nvSpPr>
        <p:spPr>
          <a:xfrm>
            <a:off x="548640" y="1600200"/>
            <a:ext cx="5760720" cy="357164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dp-img" descr="sli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5468112" cy="3279038"/>
          </a:xfrm>
          <a:prstGeom prst="rect">
            <a:avLst/>
          </a:prstGeom>
        </p:spPr>
      </p:pic>
      <p:sp>
        <p:nvSpPr>
          <p:cNvPr id="12" name="pdp-base"/>
          <p:cNvSpPr/>
          <p:nvPr/>
        </p:nvSpPr>
        <p:spPr>
          <a:xfrm>
            <a:off x="228600" y="5171846"/>
            <a:ext cx="640080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p0"/>
          <p:cNvSpPr/>
          <p:nvPr/>
        </p:nvSpPr>
        <p:spPr>
          <a:xfrm>
            <a:off x="6675120" y="1600200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p0-bg"/>
          <p:cNvSpPr/>
          <p:nvPr/>
        </p:nvSpPr>
        <p:spPr>
          <a:xfrm>
            <a:off x="6812280" y="1737360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p0-ic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0" y="1858060"/>
            <a:ext cx="307240" cy="307240"/>
          </a:xfrm>
          <a:prstGeom prst="rect">
            <a:avLst/>
          </a:prstGeom>
        </p:spPr>
      </p:pic>
      <p:sp>
        <p:nvSpPr>
          <p:cNvPr id="16" name="pp0-t"/>
          <p:cNvSpPr txBox="1"/>
          <p:nvPr/>
        </p:nvSpPr>
        <p:spPr>
          <a:xfrm>
            <a:off x="7498079" y="1645920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JANコードで検索される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構造化データ・サイトマップ・バーコード先頭の説明文で Google に見つかる。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JAN кодоор Google-д олдох SEO</a:t>
            </a:r>
          </a:p>
        </p:txBody>
      </p:sp>
      <p:sp>
        <p:nvSpPr>
          <p:cNvPr id="17" name="pp1"/>
          <p:cNvSpPr/>
          <p:nvPr/>
        </p:nvSpPr>
        <p:spPr>
          <a:xfrm>
            <a:off x="6675120" y="2532888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p1-bg"/>
          <p:cNvSpPr/>
          <p:nvPr/>
        </p:nvSpPr>
        <p:spPr>
          <a:xfrm>
            <a:off x="6812280" y="2670048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p1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80" y="2790748"/>
            <a:ext cx="307240" cy="307240"/>
          </a:xfrm>
          <a:prstGeom prst="rect">
            <a:avLst/>
          </a:prstGeom>
        </p:spPr>
      </p:pic>
      <p:sp>
        <p:nvSpPr>
          <p:cNvPr id="20" name="pp1-t"/>
          <p:cNvSpPr txBox="1"/>
          <p:nvPr/>
        </p:nvSpPr>
        <p:spPr>
          <a:xfrm>
            <a:off x="7498079" y="2578608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写真の上に内容量・成分・原産国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内容量、成分表示、原産国、使用期限を商品写真の上にカードで表示。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Хэмжээ, найрлага, гарал, хугацаа зурган дээр</a:t>
            </a:r>
          </a:p>
        </p:txBody>
      </p:sp>
      <p:sp>
        <p:nvSpPr>
          <p:cNvPr id="21" name="pp2"/>
          <p:cNvSpPr/>
          <p:nvPr/>
        </p:nvSpPr>
        <p:spPr>
          <a:xfrm>
            <a:off x="6675120" y="3465576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p2-bg"/>
          <p:cNvSpPr/>
          <p:nvPr/>
        </p:nvSpPr>
        <p:spPr>
          <a:xfrm>
            <a:off x="6812280" y="3602736"/>
            <a:ext cx="548640" cy="54864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p2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0" y="3723436"/>
            <a:ext cx="307240" cy="307240"/>
          </a:xfrm>
          <a:prstGeom prst="rect">
            <a:avLst/>
          </a:prstGeom>
        </p:spPr>
      </p:pic>
      <p:sp>
        <p:nvSpPr>
          <p:cNvPr id="24" name="pp2-t"/>
          <p:cNvSpPr txBox="1"/>
          <p:nvPr/>
        </p:nvSpPr>
        <p:spPr>
          <a:xfrm>
            <a:off x="7498079" y="3511296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レビュー・Q&amp;A・共有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購入者だけがレビュー。返信・いいね・Q&amp;A、投稿特典、SNS共有。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Сэтгэгдэл, Q&amp;A, урамшуулал, хуваалцах</a:t>
            </a:r>
          </a:p>
        </p:txBody>
      </p:sp>
      <p:sp>
        <p:nvSpPr>
          <p:cNvPr id="25" name="pp3"/>
          <p:cNvSpPr/>
          <p:nvPr/>
        </p:nvSpPr>
        <p:spPr>
          <a:xfrm>
            <a:off x="6675120" y="4398264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p3-bg"/>
          <p:cNvSpPr/>
          <p:nvPr/>
        </p:nvSpPr>
        <p:spPr>
          <a:xfrm>
            <a:off x="6812280" y="4535424"/>
            <a:ext cx="548640" cy="54864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p3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980" y="4656124"/>
            <a:ext cx="307240" cy="307240"/>
          </a:xfrm>
          <a:prstGeom prst="rect">
            <a:avLst/>
          </a:prstGeom>
        </p:spPr>
      </p:pic>
      <p:sp>
        <p:nvSpPr>
          <p:cNvPr id="28" name="pp3-t"/>
          <p:cNvSpPr txBox="1"/>
          <p:nvPr/>
        </p:nvSpPr>
        <p:spPr>
          <a:xfrm>
            <a:off x="7498079" y="4443984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ギフトカードとバリエーション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デジタルギフトカードを即時発行。サイズ・色のバリエーション、関連商品。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Бэлгийн карт, variant, холбоотой бараа</a:t>
            </a:r>
          </a:p>
        </p:txBody>
      </p:sp>
      <p:sp>
        <p:nvSpPr>
          <p:cNvPr id="29" name="ps0-tile"/>
          <p:cNvSpPr/>
          <p:nvPr/>
        </p:nvSpPr>
        <p:spPr>
          <a:xfrm>
            <a:off x="667512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s0-img" descr="s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13686739"/>
            <a:ext cx="652882" cy="652882"/>
          </a:xfrm>
          <a:prstGeom prst="rect">
            <a:avLst/>
          </a:prstGeom>
        </p:spPr>
      </p:pic>
      <p:sp>
        <p:nvSpPr>
          <p:cNvPr id="31" name="ps1-tile"/>
          <p:cNvSpPr/>
          <p:nvPr/>
        </p:nvSpPr>
        <p:spPr>
          <a:xfrm>
            <a:off x="7516368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s1-img" descr="s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13686739"/>
            <a:ext cx="652882" cy="652882"/>
          </a:xfrm>
          <a:prstGeom prst="rect">
            <a:avLst/>
          </a:prstGeom>
        </p:spPr>
      </p:pic>
      <p:sp>
        <p:nvSpPr>
          <p:cNvPr id="33" name="ps2-tile"/>
          <p:cNvSpPr/>
          <p:nvPr/>
        </p:nvSpPr>
        <p:spPr>
          <a:xfrm>
            <a:off x="8357616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s2-img" descr="s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9795" y="13686739"/>
            <a:ext cx="652882" cy="652882"/>
          </a:xfrm>
          <a:prstGeom prst="rect">
            <a:avLst/>
          </a:prstGeom>
        </p:spPr>
      </p:pic>
      <p:sp>
        <p:nvSpPr>
          <p:cNvPr id="35" name="ps3-tile"/>
          <p:cNvSpPr/>
          <p:nvPr/>
        </p:nvSpPr>
        <p:spPr>
          <a:xfrm>
            <a:off x="9198864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s3-img" descr="s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043" y="13686739"/>
            <a:ext cx="652882" cy="652882"/>
          </a:xfrm>
          <a:prstGeom prst="rect">
            <a:avLst/>
          </a:prstGeom>
        </p:spPr>
      </p:pic>
      <p:sp>
        <p:nvSpPr>
          <p:cNvPr id="37" name="ps4-tile"/>
          <p:cNvSpPr/>
          <p:nvPr/>
        </p:nvSpPr>
        <p:spPr>
          <a:xfrm>
            <a:off x="10040112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s4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2291" y="13686739"/>
            <a:ext cx="652882" cy="652882"/>
          </a:xfrm>
          <a:prstGeom prst="rect">
            <a:avLst/>
          </a:prstGeom>
        </p:spPr>
      </p:pic>
      <p:sp>
        <p:nvSpPr>
          <p:cNvPr id="39" name="ps5-tile"/>
          <p:cNvSpPr/>
          <p:nvPr/>
        </p:nvSpPr>
        <p:spPr>
          <a:xfrm>
            <a:off x="10881360" y="136245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s5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3539" y="13686739"/>
            <a:ext cx="652882" cy="652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Барааны хуудас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04 / 10</a:t>
            </a:r>
          </a:p>
        </p:txBody>
      </p:sp>
      <p:sp>
        <p:nvSpPr>
          <p:cNvPr id="10" name="pdp-frame"/>
          <p:cNvSpPr/>
          <p:nvPr/>
        </p:nvSpPr>
        <p:spPr>
          <a:xfrm>
            <a:off x="548640" y="1600200"/>
            <a:ext cx="5760720" cy="3571646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dp-img" descr="slide-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746504"/>
            <a:ext cx="5468112" cy="3279038"/>
          </a:xfrm>
          <a:prstGeom prst="rect">
            <a:avLst/>
          </a:prstGeom>
        </p:spPr>
      </p:pic>
      <p:sp>
        <p:nvSpPr>
          <p:cNvPr id="12" name="pdp-base"/>
          <p:cNvSpPr/>
          <p:nvPr/>
        </p:nvSpPr>
        <p:spPr>
          <a:xfrm>
            <a:off x="228600" y="5171846"/>
            <a:ext cx="640080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p0"/>
          <p:cNvSpPr/>
          <p:nvPr/>
        </p:nvSpPr>
        <p:spPr>
          <a:xfrm>
            <a:off x="6675120" y="1600200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p0-bg"/>
          <p:cNvSpPr/>
          <p:nvPr/>
        </p:nvSpPr>
        <p:spPr>
          <a:xfrm>
            <a:off x="6812280" y="1737360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p0-ic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80" y="1858060"/>
            <a:ext cx="307240" cy="307240"/>
          </a:xfrm>
          <a:prstGeom prst="rect">
            <a:avLst/>
          </a:prstGeom>
        </p:spPr>
      </p:pic>
      <p:sp>
        <p:nvSpPr>
          <p:cNvPr id="16" name="pp0-t"/>
          <p:cNvSpPr txBox="1"/>
          <p:nvPr/>
        </p:nvSpPr>
        <p:spPr>
          <a:xfrm>
            <a:off x="7498079" y="1645920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JANコードで検索される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構造化データ・サイトマップ・バーコード先頭の説明文で Google に見つかる。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JAN кодоор Google-д олдох SEO</a:t>
            </a:r>
          </a:p>
        </p:txBody>
      </p:sp>
      <p:sp>
        <p:nvSpPr>
          <p:cNvPr id="17" name="pp1"/>
          <p:cNvSpPr/>
          <p:nvPr/>
        </p:nvSpPr>
        <p:spPr>
          <a:xfrm>
            <a:off x="6675120" y="2532888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p1-bg"/>
          <p:cNvSpPr/>
          <p:nvPr/>
        </p:nvSpPr>
        <p:spPr>
          <a:xfrm>
            <a:off x="6812280" y="2670048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p1-ic" descr="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80" y="2790748"/>
            <a:ext cx="307240" cy="307240"/>
          </a:xfrm>
          <a:prstGeom prst="rect">
            <a:avLst/>
          </a:prstGeom>
        </p:spPr>
      </p:pic>
      <p:sp>
        <p:nvSpPr>
          <p:cNvPr id="20" name="pp1-t"/>
          <p:cNvSpPr txBox="1"/>
          <p:nvPr/>
        </p:nvSpPr>
        <p:spPr>
          <a:xfrm>
            <a:off x="7498079" y="2578608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写真の上に内容量・成分・原産国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内容量、成分表示、原産国、使用期限を商品写真の上にカードで表示。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Хэмжээ, найрлага, гарал, хугацаа зурган дээр</a:t>
            </a:r>
          </a:p>
        </p:txBody>
      </p:sp>
      <p:sp>
        <p:nvSpPr>
          <p:cNvPr id="21" name="pp2"/>
          <p:cNvSpPr/>
          <p:nvPr/>
        </p:nvSpPr>
        <p:spPr>
          <a:xfrm>
            <a:off x="6675120" y="3465576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p2-bg"/>
          <p:cNvSpPr/>
          <p:nvPr/>
        </p:nvSpPr>
        <p:spPr>
          <a:xfrm>
            <a:off x="6812280" y="3602736"/>
            <a:ext cx="548640" cy="54864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p2-ic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0" y="3723436"/>
            <a:ext cx="307240" cy="307240"/>
          </a:xfrm>
          <a:prstGeom prst="rect">
            <a:avLst/>
          </a:prstGeom>
        </p:spPr>
      </p:pic>
      <p:sp>
        <p:nvSpPr>
          <p:cNvPr id="24" name="pp2-t"/>
          <p:cNvSpPr txBox="1"/>
          <p:nvPr/>
        </p:nvSpPr>
        <p:spPr>
          <a:xfrm>
            <a:off x="7498079" y="3511296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レビュー・Q&amp;A・共有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購入者だけがレビュー。返信・いいね・Q&amp;A、投稿特典、SNS共有。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Сэтгэгдэл, Q&amp;A, урамшуулал, хуваалцах</a:t>
            </a:r>
          </a:p>
        </p:txBody>
      </p:sp>
      <p:sp>
        <p:nvSpPr>
          <p:cNvPr id="25" name="pp3"/>
          <p:cNvSpPr/>
          <p:nvPr/>
        </p:nvSpPr>
        <p:spPr>
          <a:xfrm>
            <a:off x="6675120" y="4398264"/>
            <a:ext cx="4983480" cy="8229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p3-bg"/>
          <p:cNvSpPr/>
          <p:nvPr/>
        </p:nvSpPr>
        <p:spPr>
          <a:xfrm>
            <a:off x="6812280" y="4535424"/>
            <a:ext cx="548640" cy="54864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p3-ic" descr="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980" y="4656124"/>
            <a:ext cx="307240" cy="307240"/>
          </a:xfrm>
          <a:prstGeom prst="rect">
            <a:avLst/>
          </a:prstGeom>
        </p:spPr>
      </p:pic>
      <p:sp>
        <p:nvSpPr>
          <p:cNvPr id="28" name="pp3-t"/>
          <p:cNvSpPr txBox="1"/>
          <p:nvPr/>
        </p:nvSpPr>
        <p:spPr>
          <a:xfrm>
            <a:off x="7498079" y="4443984"/>
            <a:ext cx="411480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ギフトカードとバリエーション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2A2E35"/>
                </a:solidFill>
                <a:latin typeface="Yu Gothic UI"/>
              </a:rPr>
              <a:t>デジタルギフトカードを即時発行。サイズ・色のバリエーション、関連商品。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6B7076"/>
                </a:solidFill>
                <a:latin typeface="Segoe UI"/>
              </a:rPr>
              <a:t>Бэлгийн карт, variant, холбоотой бараа</a:t>
            </a:r>
          </a:p>
        </p:txBody>
      </p:sp>
      <p:sp>
        <p:nvSpPr>
          <p:cNvPr id="29" name="ps0-tile"/>
          <p:cNvSpPr/>
          <p:nvPr/>
        </p:nvSpPr>
        <p:spPr>
          <a:xfrm>
            <a:off x="6675120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s0-img" descr="s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7299" y="5457139"/>
            <a:ext cx="652882" cy="652882"/>
          </a:xfrm>
          <a:prstGeom prst="rect">
            <a:avLst/>
          </a:prstGeom>
        </p:spPr>
      </p:pic>
      <p:sp>
        <p:nvSpPr>
          <p:cNvPr id="31" name="ps1-tile"/>
          <p:cNvSpPr/>
          <p:nvPr/>
        </p:nvSpPr>
        <p:spPr>
          <a:xfrm>
            <a:off x="7516368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s1-img" descr="s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5457139"/>
            <a:ext cx="652882" cy="652882"/>
          </a:xfrm>
          <a:prstGeom prst="rect">
            <a:avLst/>
          </a:prstGeom>
        </p:spPr>
      </p:pic>
      <p:sp>
        <p:nvSpPr>
          <p:cNvPr id="33" name="ps2-tile"/>
          <p:cNvSpPr/>
          <p:nvPr/>
        </p:nvSpPr>
        <p:spPr>
          <a:xfrm>
            <a:off x="8357616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s2-img" descr="s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9795" y="5457139"/>
            <a:ext cx="652882" cy="652882"/>
          </a:xfrm>
          <a:prstGeom prst="rect">
            <a:avLst/>
          </a:prstGeom>
        </p:spPr>
      </p:pic>
      <p:sp>
        <p:nvSpPr>
          <p:cNvPr id="35" name="ps3-tile"/>
          <p:cNvSpPr/>
          <p:nvPr/>
        </p:nvSpPr>
        <p:spPr>
          <a:xfrm>
            <a:off x="9198864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s3-img" descr="s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1043" y="5457139"/>
            <a:ext cx="652882" cy="652882"/>
          </a:xfrm>
          <a:prstGeom prst="rect">
            <a:avLst/>
          </a:prstGeom>
        </p:spPr>
      </p:pic>
      <p:sp>
        <p:nvSpPr>
          <p:cNvPr id="37" name="ps4-tile"/>
          <p:cNvSpPr/>
          <p:nvPr/>
        </p:nvSpPr>
        <p:spPr>
          <a:xfrm>
            <a:off x="10040112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s4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2291" y="5457139"/>
            <a:ext cx="652882" cy="652882"/>
          </a:xfrm>
          <a:prstGeom prst="rect">
            <a:avLst/>
          </a:prstGeom>
        </p:spPr>
      </p:pic>
      <p:sp>
        <p:nvSpPr>
          <p:cNvPr id="39" name="ps5-tile"/>
          <p:cNvSpPr/>
          <p:nvPr/>
        </p:nvSpPr>
        <p:spPr>
          <a:xfrm>
            <a:off x="10881360" y="5394960"/>
            <a:ext cx="777240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s5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3539" y="5457139"/>
            <a:ext cx="652882" cy="652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05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1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5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6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7" name="step1-ring"/>
          <p:cNvSpPr/>
          <p:nvPr/>
        </p:nvSpPr>
        <p:spPr>
          <a:xfrm>
            <a:off x="3383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1-bg"/>
          <p:cNvSpPr/>
          <p:nvPr/>
        </p:nvSpPr>
        <p:spPr>
          <a:xfrm>
            <a:off x="3474720" y="106344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10895990"/>
            <a:ext cx="665684" cy="665684"/>
          </a:xfrm>
          <a:prstGeom prst="rect">
            <a:avLst/>
          </a:prstGeom>
        </p:spPr>
      </p:pic>
      <p:sp>
        <p:nvSpPr>
          <p:cNvPr id="20" name="step1-n"/>
          <p:cNvSpPr txBox="1"/>
          <p:nvPr/>
        </p:nvSpPr>
        <p:spPr>
          <a:xfrm>
            <a:off x="2926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1" name="step1-t"/>
          <p:cNvSpPr txBox="1"/>
          <p:nvPr/>
        </p:nvSpPr>
        <p:spPr>
          <a:xfrm>
            <a:off x="2926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2" name="step2-ring"/>
          <p:cNvSpPr/>
          <p:nvPr/>
        </p:nvSpPr>
        <p:spPr>
          <a:xfrm>
            <a:off x="5669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2-bg"/>
          <p:cNvSpPr/>
          <p:nvPr/>
        </p:nvSpPr>
        <p:spPr>
          <a:xfrm>
            <a:off x="5760720" y="106344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10895990"/>
            <a:ext cx="665684" cy="665684"/>
          </a:xfrm>
          <a:prstGeom prst="rect">
            <a:avLst/>
          </a:prstGeom>
        </p:spPr>
      </p:pic>
      <p:sp>
        <p:nvSpPr>
          <p:cNvPr id="25" name="step2-n"/>
          <p:cNvSpPr txBox="1"/>
          <p:nvPr/>
        </p:nvSpPr>
        <p:spPr>
          <a:xfrm>
            <a:off x="5212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6" name="step2-t"/>
          <p:cNvSpPr txBox="1"/>
          <p:nvPr/>
        </p:nvSpPr>
        <p:spPr>
          <a:xfrm>
            <a:off x="5212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7" name="step3-ring"/>
          <p:cNvSpPr/>
          <p:nvPr/>
        </p:nvSpPr>
        <p:spPr>
          <a:xfrm>
            <a:off x="7955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3-bg"/>
          <p:cNvSpPr/>
          <p:nvPr/>
        </p:nvSpPr>
        <p:spPr>
          <a:xfrm>
            <a:off x="8046720" y="10634472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10895990"/>
            <a:ext cx="665684" cy="665684"/>
          </a:xfrm>
          <a:prstGeom prst="rect">
            <a:avLst/>
          </a:prstGeom>
        </p:spPr>
      </p:pic>
      <p:sp>
        <p:nvSpPr>
          <p:cNvPr id="30" name="step3-n"/>
          <p:cNvSpPr txBox="1"/>
          <p:nvPr/>
        </p:nvSpPr>
        <p:spPr>
          <a:xfrm>
            <a:off x="7498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31" name="step3-t"/>
          <p:cNvSpPr txBox="1"/>
          <p:nvPr/>
        </p:nvSpPr>
        <p:spPr>
          <a:xfrm>
            <a:off x="7498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2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5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6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7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9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1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3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5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7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9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1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3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05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1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5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6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7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0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1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2" name="step2-ring"/>
          <p:cNvSpPr/>
          <p:nvPr/>
        </p:nvSpPr>
        <p:spPr>
          <a:xfrm>
            <a:off x="5669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2-bg"/>
          <p:cNvSpPr/>
          <p:nvPr/>
        </p:nvSpPr>
        <p:spPr>
          <a:xfrm>
            <a:off x="5760720" y="106344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10895990"/>
            <a:ext cx="665684" cy="665684"/>
          </a:xfrm>
          <a:prstGeom prst="rect">
            <a:avLst/>
          </a:prstGeom>
        </p:spPr>
      </p:pic>
      <p:sp>
        <p:nvSpPr>
          <p:cNvPr id="25" name="step2-n"/>
          <p:cNvSpPr txBox="1"/>
          <p:nvPr/>
        </p:nvSpPr>
        <p:spPr>
          <a:xfrm>
            <a:off x="5212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6" name="step2-t"/>
          <p:cNvSpPr txBox="1"/>
          <p:nvPr/>
        </p:nvSpPr>
        <p:spPr>
          <a:xfrm>
            <a:off x="5212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7" name="step3-ring"/>
          <p:cNvSpPr/>
          <p:nvPr/>
        </p:nvSpPr>
        <p:spPr>
          <a:xfrm>
            <a:off x="7955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3-bg"/>
          <p:cNvSpPr/>
          <p:nvPr/>
        </p:nvSpPr>
        <p:spPr>
          <a:xfrm>
            <a:off x="8046720" y="10634472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10895990"/>
            <a:ext cx="665684" cy="665684"/>
          </a:xfrm>
          <a:prstGeom prst="rect">
            <a:avLst/>
          </a:prstGeom>
        </p:spPr>
      </p:pic>
      <p:sp>
        <p:nvSpPr>
          <p:cNvPr id="30" name="step3-n"/>
          <p:cNvSpPr txBox="1"/>
          <p:nvPr/>
        </p:nvSpPr>
        <p:spPr>
          <a:xfrm>
            <a:off x="7498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31" name="step3-t"/>
          <p:cNvSpPr txBox="1"/>
          <p:nvPr/>
        </p:nvSpPr>
        <p:spPr>
          <a:xfrm>
            <a:off x="7498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2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5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6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7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9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1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3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5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7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9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1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3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05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1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5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6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7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0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1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2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5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6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7" name="step3-ring"/>
          <p:cNvSpPr/>
          <p:nvPr/>
        </p:nvSpPr>
        <p:spPr>
          <a:xfrm>
            <a:off x="7955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3-bg"/>
          <p:cNvSpPr/>
          <p:nvPr/>
        </p:nvSpPr>
        <p:spPr>
          <a:xfrm>
            <a:off x="8046720" y="10634472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10895990"/>
            <a:ext cx="665684" cy="665684"/>
          </a:xfrm>
          <a:prstGeom prst="rect">
            <a:avLst/>
          </a:prstGeom>
        </p:spPr>
      </p:pic>
      <p:sp>
        <p:nvSpPr>
          <p:cNvPr id="30" name="step3-n"/>
          <p:cNvSpPr txBox="1"/>
          <p:nvPr/>
        </p:nvSpPr>
        <p:spPr>
          <a:xfrm>
            <a:off x="7498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31" name="step3-t"/>
          <p:cNvSpPr txBox="1"/>
          <p:nvPr/>
        </p:nvSpPr>
        <p:spPr>
          <a:xfrm>
            <a:off x="7498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2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5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6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7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9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1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3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5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7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9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1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3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05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1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5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6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7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0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1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2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5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6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7" name="step3-ring"/>
          <p:cNvSpPr/>
          <p:nvPr/>
        </p:nvSpPr>
        <p:spPr>
          <a:xfrm>
            <a:off x="7955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3-bg"/>
          <p:cNvSpPr/>
          <p:nvPr/>
        </p:nvSpPr>
        <p:spPr>
          <a:xfrm>
            <a:off x="8046720" y="2404872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2666390"/>
            <a:ext cx="665684" cy="665684"/>
          </a:xfrm>
          <a:prstGeom prst="rect">
            <a:avLst/>
          </a:prstGeom>
        </p:spPr>
      </p:pic>
      <p:sp>
        <p:nvSpPr>
          <p:cNvPr id="30" name="step3-n"/>
          <p:cNvSpPr txBox="1"/>
          <p:nvPr/>
        </p:nvSpPr>
        <p:spPr>
          <a:xfrm>
            <a:off x="7498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31" name="step3-t"/>
          <p:cNvSpPr txBox="1"/>
          <p:nvPr/>
        </p:nvSpPr>
        <p:spPr>
          <a:xfrm>
            <a:off x="7498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2" name="step4-ring"/>
          <p:cNvSpPr/>
          <p:nvPr/>
        </p:nvSpPr>
        <p:spPr>
          <a:xfrm>
            <a:off x="10241280" y="105430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4-bg"/>
          <p:cNvSpPr/>
          <p:nvPr/>
        </p:nvSpPr>
        <p:spPr>
          <a:xfrm>
            <a:off x="10332720" y="106344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10895990"/>
            <a:ext cx="665684" cy="665684"/>
          </a:xfrm>
          <a:prstGeom prst="rect">
            <a:avLst/>
          </a:prstGeom>
        </p:spPr>
      </p:pic>
      <p:sp>
        <p:nvSpPr>
          <p:cNvPr id="35" name="step4-n"/>
          <p:cNvSpPr txBox="1"/>
          <p:nvPr/>
        </p:nvSpPr>
        <p:spPr>
          <a:xfrm>
            <a:off x="9784080" y="100401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6" name="step4-t"/>
          <p:cNvSpPr txBox="1"/>
          <p:nvPr/>
        </p:nvSpPr>
        <p:spPr>
          <a:xfrm>
            <a:off x="9784080" y="120243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7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9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1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3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5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7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9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1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3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05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1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5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6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7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0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1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2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5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6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7" name="step3-ring"/>
          <p:cNvSpPr/>
          <p:nvPr/>
        </p:nvSpPr>
        <p:spPr>
          <a:xfrm>
            <a:off x="7955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3-bg"/>
          <p:cNvSpPr/>
          <p:nvPr/>
        </p:nvSpPr>
        <p:spPr>
          <a:xfrm>
            <a:off x="8046720" y="2404872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2666390"/>
            <a:ext cx="665684" cy="665684"/>
          </a:xfrm>
          <a:prstGeom prst="rect">
            <a:avLst/>
          </a:prstGeom>
        </p:spPr>
      </p:pic>
      <p:sp>
        <p:nvSpPr>
          <p:cNvPr id="30" name="step3-n"/>
          <p:cNvSpPr txBox="1"/>
          <p:nvPr/>
        </p:nvSpPr>
        <p:spPr>
          <a:xfrm>
            <a:off x="7498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31" name="step3-t"/>
          <p:cNvSpPr txBox="1"/>
          <p:nvPr/>
        </p:nvSpPr>
        <p:spPr>
          <a:xfrm>
            <a:off x="7498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2" name="step4-ring"/>
          <p:cNvSpPr/>
          <p:nvPr/>
        </p:nvSpPr>
        <p:spPr>
          <a:xfrm>
            <a:off x="10241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4-bg"/>
          <p:cNvSpPr/>
          <p:nvPr/>
        </p:nvSpPr>
        <p:spPr>
          <a:xfrm>
            <a:off x="10332720" y="24048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2666390"/>
            <a:ext cx="665684" cy="665684"/>
          </a:xfrm>
          <a:prstGeom prst="rect">
            <a:avLst/>
          </a:prstGeom>
        </p:spPr>
      </p:pic>
      <p:sp>
        <p:nvSpPr>
          <p:cNvPr id="35" name="step4-n"/>
          <p:cNvSpPr txBox="1"/>
          <p:nvPr/>
        </p:nvSpPr>
        <p:spPr>
          <a:xfrm>
            <a:off x="9784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6" name="step4-t"/>
          <p:cNvSpPr txBox="1"/>
          <p:nvPr/>
        </p:nvSpPr>
        <p:spPr>
          <a:xfrm>
            <a:off x="9784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7" name="f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9" name="f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41" name="f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3" name="f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5" name="f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7" name="f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9" name="f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51" name="f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3" name="f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Худалдан авах урсгал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05 / 10</a:t>
            </a:r>
          </a:p>
        </p:txBody>
      </p:sp>
      <p:sp>
        <p:nvSpPr>
          <p:cNvPr id="10" name="intro"/>
          <p:cNvSpPr txBox="1"/>
          <p:nvPr/>
        </p:nvSpPr>
        <p:spPr>
          <a:xfrm>
            <a:off x="777240" y="1417320"/>
            <a:ext cx="10515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7076"/>
                </a:solidFill>
                <a:latin typeface="Yu Gothic UI"/>
              </a:rPr>
              <a:t>ゲスト購入。SMS確認で不正注文を防ぎ、クーポン・会員割引・ストアクレジット・ギフトカードを同じ画面で使える。</a:t>
            </a:r>
          </a:p>
        </p:txBody>
      </p:sp>
      <p:sp>
        <p:nvSpPr>
          <p:cNvPr id="11" name="line"/>
          <p:cNvSpPr/>
          <p:nvPr/>
        </p:nvSpPr>
        <p:spPr>
          <a:xfrm>
            <a:off x="1097280" y="2971800"/>
            <a:ext cx="996696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0-ring"/>
          <p:cNvSpPr/>
          <p:nvPr/>
        </p:nvSpPr>
        <p:spPr>
          <a:xfrm>
            <a:off x="1097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0-bg"/>
          <p:cNvSpPr/>
          <p:nvPr/>
        </p:nvSpPr>
        <p:spPr>
          <a:xfrm>
            <a:off x="1188720" y="2404872"/>
            <a:ext cx="1188720" cy="11887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tep0-ic" descr="b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38" y="2666390"/>
            <a:ext cx="665684" cy="665684"/>
          </a:xfrm>
          <a:prstGeom prst="rect">
            <a:avLst/>
          </a:prstGeom>
        </p:spPr>
      </p:pic>
      <p:sp>
        <p:nvSpPr>
          <p:cNvPr id="15" name="step0-n"/>
          <p:cNvSpPr txBox="1"/>
          <p:nvPr/>
        </p:nvSpPr>
        <p:spPr>
          <a:xfrm>
            <a:off x="640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STEP 1</a:t>
            </a:r>
          </a:p>
        </p:txBody>
      </p:sp>
      <p:sp>
        <p:nvSpPr>
          <p:cNvPr id="16" name="step0-t"/>
          <p:cNvSpPr txBox="1"/>
          <p:nvPr/>
        </p:nvSpPr>
        <p:spPr>
          <a:xfrm>
            <a:off x="640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商品を選ぶ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Бараа сонгох</a:t>
            </a:r>
          </a:p>
        </p:txBody>
      </p:sp>
      <p:sp>
        <p:nvSpPr>
          <p:cNvPr id="17" name="step1-ring"/>
          <p:cNvSpPr/>
          <p:nvPr/>
        </p:nvSpPr>
        <p:spPr>
          <a:xfrm>
            <a:off x="3383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1-bg"/>
          <p:cNvSpPr/>
          <p:nvPr/>
        </p:nvSpPr>
        <p:spPr>
          <a:xfrm>
            <a:off x="3474720" y="2404872"/>
            <a:ext cx="1188720" cy="11887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step1-ic" descr="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238" y="2666390"/>
            <a:ext cx="665684" cy="665684"/>
          </a:xfrm>
          <a:prstGeom prst="rect">
            <a:avLst/>
          </a:prstGeom>
        </p:spPr>
      </p:pic>
      <p:sp>
        <p:nvSpPr>
          <p:cNvPr id="20" name="step1-n"/>
          <p:cNvSpPr txBox="1"/>
          <p:nvPr/>
        </p:nvSpPr>
        <p:spPr>
          <a:xfrm>
            <a:off x="2926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STEP 2</a:t>
            </a:r>
          </a:p>
        </p:txBody>
      </p:sp>
      <p:sp>
        <p:nvSpPr>
          <p:cNvPr id="21" name="step1-t"/>
          <p:cNvSpPr txBox="1"/>
          <p:nvPr/>
        </p:nvSpPr>
        <p:spPr>
          <a:xfrm>
            <a:off x="2926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電話番号をSMS確認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Утас SMS-ээр баталгаажуулах</a:t>
            </a:r>
          </a:p>
        </p:txBody>
      </p:sp>
      <p:sp>
        <p:nvSpPr>
          <p:cNvPr id="22" name="step2-ring"/>
          <p:cNvSpPr/>
          <p:nvPr/>
        </p:nvSpPr>
        <p:spPr>
          <a:xfrm>
            <a:off x="5669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ep2-bg"/>
          <p:cNvSpPr/>
          <p:nvPr/>
        </p:nvSpPr>
        <p:spPr>
          <a:xfrm>
            <a:off x="5760720" y="2404872"/>
            <a:ext cx="1188720" cy="11887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tep2-ic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238" y="2666390"/>
            <a:ext cx="665684" cy="665684"/>
          </a:xfrm>
          <a:prstGeom prst="rect">
            <a:avLst/>
          </a:prstGeom>
        </p:spPr>
      </p:pic>
      <p:sp>
        <p:nvSpPr>
          <p:cNvPr id="25" name="step2-n"/>
          <p:cNvSpPr txBox="1"/>
          <p:nvPr/>
        </p:nvSpPr>
        <p:spPr>
          <a:xfrm>
            <a:off x="5212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STEP 3</a:t>
            </a:r>
          </a:p>
        </p:txBody>
      </p:sp>
      <p:sp>
        <p:nvSpPr>
          <p:cNvPr id="26" name="step2-t"/>
          <p:cNvSpPr txBox="1"/>
          <p:nvPr/>
        </p:nvSpPr>
        <p:spPr>
          <a:xfrm>
            <a:off x="5212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配送か店舗受取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Хүргэлт / салбар</a:t>
            </a:r>
          </a:p>
        </p:txBody>
      </p:sp>
      <p:sp>
        <p:nvSpPr>
          <p:cNvPr id="27" name="step3-ring"/>
          <p:cNvSpPr/>
          <p:nvPr/>
        </p:nvSpPr>
        <p:spPr>
          <a:xfrm>
            <a:off x="7955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ep3-bg"/>
          <p:cNvSpPr/>
          <p:nvPr/>
        </p:nvSpPr>
        <p:spPr>
          <a:xfrm>
            <a:off x="8046720" y="2404872"/>
            <a:ext cx="1188720" cy="11887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step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8238" y="2666390"/>
            <a:ext cx="665684" cy="665684"/>
          </a:xfrm>
          <a:prstGeom prst="rect">
            <a:avLst/>
          </a:prstGeom>
        </p:spPr>
      </p:pic>
      <p:sp>
        <p:nvSpPr>
          <p:cNvPr id="30" name="step3-n"/>
          <p:cNvSpPr txBox="1"/>
          <p:nvPr/>
        </p:nvSpPr>
        <p:spPr>
          <a:xfrm>
            <a:off x="7498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STEP 4</a:t>
            </a:r>
          </a:p>
        </p:txBody>
      </p:sp>
      <p:sp>
        <p:nvSpPr>
          <p:cNvPr id="31" name="step3-t"/>
          <p:cNvSpPr txBox="1"/>
          <p:nvPr/>
        </p:nvSpPr>
        <p:spPr>
          <a:xfrm>
            <a:off x="7498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現金・QPay・StorePay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Бэлэн, QPay, StorePay</a:t>
            </a:r>
          </a:p>
        </p:txBody>
      </p:sp>
      <p:sp>
        <p:nvSpPr>
          <p:cNvPr id="32" name="step4-ring"/>
          <p:cNvSpPr/>
          <p:nvPr/>
        </p:nvSpPr>
        <p:spPr>
          <a:xfrm>
            <a:off x="10241280" y="2313432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254000" dist="635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ep4-bg"/>
          <p:cNvSpPr/>
          <p:nvPr/>
        </p:nvSpPr>
        <p:spPr>
          <a:xfrm>
            <a:off x="10332720" y="2404872"/>
            <a:ext cx="1188720" cy="1188720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step4-ic" descr="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94238" y="2666390"/>
            <a:ext cx="665684" cy="665684"/>
          </a:xfrm>
          <a:prstGeom prst="rect">
            <a:avLst/>
          </a:prstGeom>
        </p:spPr>
      </p:pic>
      <p:sp>
        <p:nvSpPr>
          <p:cNvPr id="35" name="step4-n"/>
          <p:cNvSpPr txBox="1"/>
          <p:nvPr/>
        </p:nvSpPr>
        <p:spPr>
          <a:xfrm>
            <a:off x="9784080" y="1810512"/>
            <a:ext cx="22860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7B4FC9"/>
                </a:solidFill>
                <a:latin typeface="Segoe UI"/>
              </a:rPr>
              <a:t>STEP 5</a:t>
            </a:r>
          </a:p>
        </p:txBody>
      </p:sp>
      <p:sp>
        <p:nvSpPr>
          <p:cNvPr id="36" name="step4-t"/>
          <p:cNvSpPr txBox="1"/>
          <p:nvPr/>
        </p:nvSpPr>
        <p:spPr>
          <a:xfrm>
            <a:off x="9784080" y="3794760"/>
            <a:ext cx="22860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4161A"/>
                </a:solidFill>
                <a:latin typeface="Yu Gothic UI"/>
              </a:rPr>
              <a:t>通知・PDF領収書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Segoe UI"/>
              </a:rPr>
              <a:t>Мэдэгдэл, PDF баримт</a:t>
            </a:r>
          </a:p>
        </p:txBody>
      </p:sp>
      <p:sp>
        <p:nvSpPr>
          <p:cNvPr id="37" name="fs0-tile"/>
          <p:cNvSpPr/>
          <p:nvPr/>
        </p:nvSpPr>
        <p:spPr>
          <a:xfrm>
            <a:off x="68580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fs0-img" descr="s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582" y="5162702"/>
            <a:ext cx="921716" cy="921716"/>
          </a:xfrm>
          <a:prstGeom prst="rect">
            <a:avLst/>
          </a:prstGeom>
        </p:spPr>
      </p:pic>
      <p:sp>
        <p:nvSpPr>
          <p:cNvPr id="39" name="fs1-tile"/>
          <p:cNvSpPr/>
          <p:nvPr/>
        </p:nvSpPr>
        <p:spPr>
          <a:xfrm>
            <a:off x="189280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fs1-img" descr="s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0590" y="5162702"/>
            <a:ext cx="921716" cy="921716"/>
          </a:xfrm>
          <a:prstGeom prst="rect">
            <a:avLst/>
          </a:prstGeom>
        </p:spPr>
      </p:pic>
      <p:sp>
        <p:nvSpPr>
          <p:cNvPr id="41" name="fs2-tile"/>
          <p:cNvSpPr/>
          <p:nvPr/>
        </p:nvSpPr>
        <p:spPr>
          <a:xfrm>
            <a:off x="309981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fs2-img" descr="s1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598" y="5162702"/>
            <a:ext cx="921716" cy="921716"/>
          </a:xfrm>
          <a:prstGeom prst="rect">
            <a:avLst/>
          </a:prstGeom>
        </p:spPr>
      </p:pic>
      <p:sp>
        <p:nvSpPr>
          <p:cNvPr id="43" name="fs3-tile"/>
          <p:cNvSpPr/>
          <p:nvPr/>
        </p:nvSpPr>
        <p:spPr>
          <a:xfrm>
            <a:off x="430682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fs3-img" descr="s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4606" y="5162702"/>
            <a:ext cx="921716" cy="921716"/>
          </a:xfrm>
          <a:prstGeom prst="rect">
            <a:avLst/>
          </a:prstGeom>
        </p:spPr>
      </p:pic>
      <p:sp>
        <p:nvSpPr>
          <p:cNvPr id="45" name="fs4-tile"/>
          <p:cNvSpPr/>
          <p:nvPr/>
        </p:nvSpPr>
        <p:spPr>
          <a:xfrm>
            <a:off x="5513832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fs4-img" descr="s0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1614" y="5162702"/>
            <a:ext cx="921716" cy="921716"/>
          </a:xfrm>
          <a:prstGeom prst="rect">
            <a:avLst/>
          </a:prstGeom>
        </p:spPr>
      </p:pic>
      <p:sp>
        <p:nvSpPr>
          <p:cNvPr id="47" name="fs5-tile"/>
          <p:cNvSpPr/>
          <p:nvPr/>
        </p:nvSpPr>
        <p:spPr>
          <a:xfrm>
            <a:off x="672084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fs5-img" descr="s0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8622" y="5162702"/>
            <a:ext cx="921716" cy="921716"/>
          </a:xfrm>
          <a:prstGeom prst="rect">
            <a:avLst/>
          </a:prstGeom>
        </p:spPr>
      </p:pic>
      <p:sp>
        <p:nvSpPr>
          <p:cNvPr id="49" name="fs6-tile"/>
          <p:cNvSpPr/>
          <p:nvPr/>
        </p:nvSpPr>
        <p:spPr>
          <a:xfrm>
            <a:off x="792784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fs6-img" descr="s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15630" y="5162702"/>
            <a:ext cx="921716" cy="921716"/>
          </a:xfrm>
          <a:prstGeom prst="rect">
            <a:avLst/>
          </a:prstGeom>
        </p:spPr>
      </p:pic>
      <p:sp>
        <p:nvSpPr>
          <p:cNvPr id="51" name="fs7-tile"/>
          <p:cNvSpPr/>
          <p:nvPr/>
        </p:nvSpPr>
        <p:spPr>
          <a:xfrm>
            <a:off x="913485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fs7-img" descr="s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22638" y="5162702"/>
            <a:ext cx="921716" cy="921716"/>
          </a:xfrm>
          <a:prstGeom prst="rect">
            <a:avLst/>
          </a:prstGeom>
        </p:spPr>
      </p:pic>
      <p:sp>
        <p:nvSpPr>
          <p:cNvPr id="53" name="fs8-tile"/>
          <p:cNvSpPr/>
          <p:nvPr/>
        </p:nvSpPr>
        <p:spPr>
          <a:xfrm>
            <a:off x="1034186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fs8-img" descr="s1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9646" y="51627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店舗運営 — 1つの管理画面で4店舗と倉庫を運営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Дэлгүүрийн удирдлага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06 / 10</a:t>
            </a:r>
          </a:p>
        </p:txBody>
      </p:sp>
      <p:sp>
        <p:nvSpPr>
          <p:cNvPr id="10" name="admin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admin-img" descr="slide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2" name="admin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p0"/>
          <p:cNvSpPr/>
          <p:nvPr/>
        </p:nvSpPr>
        <p:spPr>
          <a:xfrm>
            <a:off x="7818120" y="100126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0-bg"/>
          <p:cNvSpPr/>
          <p:nvPr/>
        </p:nvSpPr>
        <p:spPr>
          <a:xfrm>
            <a:off x="7955279" y="101315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op0-ic" descr="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10244206"/>
            <a:ext cx="286756" cy="286756"/>
          </a:xfrm>
          <a:prstGeom prst="rect">
            <a:avLst/>
          </a:prstGeom>
        </p:spPr>
      </p:pic>
      <p:sp>
        <p:nvSpPr>
          <p:cNvPr id="16" name="op0-t"/>
          <p:cNvSpPr txBox="1"/>
          <p:nvPr/>
        </p:nvSpPr>
        <p:spPr>
          <a:xfrm>
            <a:off x="8595360" y="100858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注文ワークフロー・手入力注文・ピッキング印刷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Захиалгын урсгал, гар захиалга, бэлтгэх хуудас</a:t>
            </a:r>
          </a:p>
        </p:txBody>
      </p:sp>
      <p:sp>
        <p:nvSpPr>
          <p:cNvPr id="17" name="op1"/>
          <p:cNvSpPr/>
          <p:nvPr/>
        </p:nvSpPr>
        <p:spPr>
          <a:xfrm>
            <a:off x="7818120" y="109087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p1-bg"/>
          <p:cNvSpPr/>
          <p:nvPr/>
        </p:nvSpPr>
        <p:spPr>
          <a:xfrm>
            <a:off x="7955279" y="11027664"/>
            <a:ext cx="512064" cy="51206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op1-ic" descr="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11140318"/>
            <a:ext cx="286756" cy="286756"/>
          </a:xfrm>
          <a:prstGeom prst="rect">
            <a:avLst/>
          </a:prstGeom>
        </p:spPr>
      </p:pic>
      <p:sp>
        <p:nvSpPr>
          <p:cNvPr id="20" name="op1-t"/>
          <p:cNvSpPr txBox="1"/>
          <p:nvPr/>
        </p:nvSpPr>
        <p:spPr>
          <a:xfrm>
            <a:off x="8595360" y="109819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在庫台帳・バーコード入荷・棚卸・店舗間移動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Нөөцийн ledger, сканнер, шилжүүлэг</a:t>
            </a:r>
          </a:p>
        </p:txBody>
      </p:sp>
      <p:sp>
        <p:nvSpPr>
          <p:cNvPr id="21" name="op2"/>
          <p:cNvSpPr/>
          <p:nvPr/>
        </p:nvSpPr>
        <p:spPr>
          <a:xfrm>
            <a:off x="7818120" y="118049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p2-bg"/>
          <p:cNvSpPr/>
          <p:nvPr/>
        </p:nvSpPr>
        <p:spPr>
          <a:xfrm>
            <a:off x="7955279" y="11923776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op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12036430"/>
            <a:ext cx="286756" cy="286756"/>
          </a:xfrm>
          <a:prstGeom prst="rect">
            <a:avLst/>
          </a:prstGeom>
        </p:spPr>
      </p:pic>
      <p:sp>
        <p:nvSpPr>
          <p:cNvPr id="24" name="op2-t"/>
          <p:cNvSpPr txBox="1"/>
          <p:nvPr/>
        </p:nvSpPr>
        <p:spPr>
          <a:xfrm>
            <a:off x="8595360" y="118780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Smart POS（店舗レジ）と在庫同期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Smart POS-той нөөц синк</a:t>
            </a:r>
          </a:p>
        </p:txBody>
      </p:sp>
      <p:sp>
        <p:nvSpPr>
          <p:cNvPr id="25" name="op3"/>
          <p:cNvSpPr/>
          <p:nvPr/>
        </p:nvSpPr>
        <p:spPr>
          <a:xfrm>
            <a:off x="7818120" y="127010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p3-bg"/>
          <p:cNvSpPr/>
          <p:nvPr/>
        </p:nvSpPr>
        <p:spPr>
          <a:xfrm>
            <a:off x="7955279" y="12819888"/>
            <a:ext cx="512064" cy="51206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op3-ic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12932542"/>
            <a:ext cx="286756" cy="286756"/>
          </a:xfrm>
          <a:prstGeom prst="rect">
            <a:avLst/>
          </a:prstGeom>
        </p:spPr>
      </p:pic>
      <p:sp>
        <p:nvSpPr>
          <p:cNvPr id="28" name="op3-t"/>
          <p:cNvSpPr txBox="1"/>
          <p:nvPr/>
        </p:nvSpPr>
        <p:spPr>
          <a:xfrm>
            <a:off x="8595360" y="127741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売上・利益・転換率・返品率の分析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Аналитик самбар</a:t>
            </a:r>
          </a:p>
        </p:txBody>
      </p:sp>
      <p:sp>
        <p:nvSpPr>
          <p:cNvPr id="29" name="op4"/>
          <p:cNvSpPr/>
          <p:nvPr/>
        </p:nvSpPr>
        <p:spPr>
          <a:xfrm>
            <a:off x="7818120" y="135971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p4-bg"/>
          <p:cNvSpPr/>
          <p:nvPr/>
        </p:nvSpPr>
        <p:spPr>
          <a:xfrm>
            <a:off x="7955279" y="13716000"/>
            <a:ext cx="512064" cy="51206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op4-ic" descr="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3" y="13828654"/>
            <a:ext cx="286756" cy="286756"/>
          </a:xfrm>
          <a:prstGeom prst="rect">
            <a:avLst/>
          </a:prstGeom>
        </p:spPr>
      </p:pic>
      <p:sp>
        <p:nvSpPr>
          <p:cNvPr id="32" name="op4-t"/>
          <p:cNvSpPr txBox="1"/>
          <p:nvPr/>
        </p:nvSpPr>
        <p:spPr>
          <a:xfrm>
            <a:off x="8595360" y="136702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権限5段階・顔認証・スマホ通知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5 эрх, царай таних, push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店舗運営 — 1つの管理画面で4店舗と倉庫を運営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Дэлгүүрийн удирдлага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06 / 10</a:t>
            </a:r>
          </a:p>
        </p:txBody>
      </p:sp>
      <p:sp>
        <p:nvSpPr>
          <p:cNvPr id="10" name="admin-frame"/>
          <p:cNvSpPr/>
          <p:nvPr/>
        </p:nvSpPr>
        <p:spPr>
          <a:xfrm>
            <a:off x="548640" y="1783080"/>
            <a:ext cx="6949440" cy="4308652"/>
          </a:xfrm>
          <a:prstGeom prst="roundRect">
            <a:avLst>
              <a:gd name="adj" fmla="val 3000"/>
            </a:avLst>
          </a:prstGeom>
          <a:solidFill>
            <a:srgbClr val="2A2E35"/>
          </a:solidFill>
          <a:ln>
            <a:noFill/>
          </a:ln>
          <a:effectLst>
            <a:outerShdw blurRad="508000" dist="177800" dir="5400000" algn="ctr" rotWithShape="0">
              <a:srgbClr val="1A14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admin-img" descr="slide-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929384"/>
            <a:ext cx="6656832" cy="4016044"/>
          </a:xfrm>
          <a:prstGeom prst="rect">
            <a:avLst/>
          </a:prstGeom>
        </p:spPr>
      </p:pic>
      <p:sp>
        <p:nvSpPr>
          <p:cNvPr id="12" name="admin-base"/>
          <p:cNvSpPr/>
          <p:nvPr/>
        </p:nvSpPr>
        <p:spPr>
          <a:xfrm>
            <a:off x="228600" y="6091732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p0"/>
          <p:cNvSpPr/>
          <p:nvPr/>
        </p:nvSpPr>
        <p:spPr>
          <a:xfrm>
            <a:off x="7818120" y="1783080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0-bg"/>
          <p:cNvSpPr/>
          <p:nvPr/>
        </p:nvSpPr>
        <p:spPr>
          <a:xfrm>
            <a:off x="7955279" y="1901952"/>
            <a:ext cx="512064" cy="51206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op0-ic" descr="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933" y="2014606"/>
            <a:ext cx="286756" cy="286756"/>
          </a:xfrm>
          <a:prstGeom prst="rect">
            <a:avLst/>
          </a:prstGeom>
        </p:spPr>
      </p:pic>
      <p:sp>
        <p:nvSpPr>
          <p:cNvPr id="16" name="op0-t"/>
          <p:cNvSpPr txBox="1"/>
          <p:nvPr/>
        </p:nvSpPr>
        <p:spPr>
          <a:xfrm>
            <a:off x="8595360" y="1856232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注文ワークフロー・手入力注文・ピッキング印刷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Захиалгын урсгал, гар захиалга, бэлтгэх хуудас</a:t>
            </a:r>
          </a:p>
        </p:txBody>
      </p:sp>
      <p:sp>
        <p:nvSpPr>
          <p:cNvPr id="17" name="op1"/>
          <p:cNvSpPr/>
          <p:nvPr/>
        </p:nvSpPr>
        <p:spPr>
          <a:xfrm>
            <a:off x="7818120" y="2679192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p1-bg"/>
          <p:cNvSpPr/>
          <p:nvPr/>
        </p:nvSpPr>
        <p:spPr>
          <a:xfrm>
            <a:off x="7955279" y="2798064"/>
            <a:ext cx="512064" cy="512064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op1-ic" descr="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933" y="2910718"/>
            <a:ext cx="286756" cy="286756"/>
          </a:xfrm>
          <a:prstGeom prst="rect">
            <a:avLst/>
          </a:prstGeom>
        </p:spPr>
      </p:pic>
      <p:sp>
        <p:nvSpPr>
          <p:cNvPr id="20" name="op1-t"/>
          <p:cNvSpPr txBox="1"/>
          <p:nvPr/>
        </p:nvSpPr>
        <p:spPr>
          <a:xfrm>
            <a:off x="8595360" y="2752344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在庫台帳・バーコード入荷・棚卸・店舗間移動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Нөөцийн ledger, сканнер, шилжүүлэг</a:t>
            </a:r>
          </a:p>
        </p:txBody>
      </p:sp>
      <p:sp>
        <p:nvSpPr>
          <p:cNvPr id="21" name="op2"/>
          <p:cNvSpPr/>
          <p:nvPr/>
        </p:nvSpPr>
        <p:spPr>
          <a:xfrm>
            <a:off x="7818120" y="3575304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p2-bg"/>
          <p:cNvSpPr/>
          <p:nvPr/>
        </p:nvSpPr>
        <p:spPr>
          <a:xfrm>
            <a:off x="7955279" y="3694176"/>
            <a:ext cx="512064" cy="512064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op2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933" y="3806830"/>
            <a:ext cx="286756" cy="286756"/>
          </a:xfrm>
          <a:prstGeom prst="rect">
            <a:avLst/>
          </a:prstGeom>
        </p:spPr>
      </p:pic>
      <p:sp>
        <p:nvSpPr>
          <p:cNvPr id="24" name="op2-t"/>
          <p:cNvSpPr txBox="1"/>
          <p:nvPr/>
        </p:nvSpPr>
        <p:spPr>
          <a:xfrm>
            <a:off x="8595360" y="3648456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Smart POS（店舗レジ）と在庫同期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Smart POS-той нөөц синк</a:t>
            </a:r>
          </a:p>
        </p:txBody>
      </p:sp>
      <p:sp>
        <p:nvSpPr>
          <p:cNvPr id="25" name="op3"/>
          <p:cNvSpPr/>
          <p:nvPr/>
        </p:nvSpPr>
        <p:spPr>
          <a:xfrm>
            <a:off x="7818120" y="4471416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p3-bg"/>
          <p:cNvSpPr/>
          <p:nvPr/>
        </p:nvSpPr>
        <p:spPr>
          <a:xfrm>
            <a:off x="7955279" y="4590288"/>
            <a:ext cx="512064" cy="51206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op3-ic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933" y="4702942"/>
            <a:ext cx="286756" cy="286756"/>
          </a:xfrm>
          <a:prstGeom prst="rect">
            <a:avLst/>
          </a:prstGeom>
        </p:spPr>
      </p:pic>
      <p:sp>
        <p:nvSpPr>
          <p:cNvPr id="28" name="op3-t"/>
          <p:cNvSpPr txBox="1"/>
          <p:nvPr/>
        </p:nvSpPr>
        <p:spPr>
          <a:xfrm>
            <a:off x="8595360" y="4544568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売上・利益・転換率・返品率の分析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Аналитик самбар</a:t>
            </a:r>
          </a:p>
        </p:txBody>
      </p:sp>
      <p:sp>
        <p:nvSpPr>
          <p:cNvPr id="29" name="op4"/>
          <p:cNvSpPr/>
          <p:nvPr/>
        </p:nvSpPr>
        <p:spPr>
          <a:xfrm>
            <a:off x="7818120" y="5367528"/>
            <a:ext cx="3840480" cy="74980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228600" dist="50800" dir="5400000" algn="ctr" rotWithShape="0">
              <a:srgbClr val="1A14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p4-bg"/>
          <p:cNvSpPr/>
          <p:nvPr/>
        </p:nvSpPr>
        <p:spPr>
          <a:xfrm>
            <a:off x="7955279" y="5486400"/>
            <a:ext cx="512064" cy="51206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op4-ic" descr="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933" y="5599054"/>
            <a:ext cx="286756" cy="286756"/>
          </a:xfrm>
          <a:prstGeom prst="rect">
            <a:avLst/>
          </a:prstGeom>
        </p:spPr>
      </p:pic>
      <p:sp>
        <p:nvSpPr>
          <p:cNvPr id="32" name="op4-t"/>
          <p:cNvSpPr txBox="1"/>
          <p:nvPr/>
        </p:nvSpPr>
        <p:spPr>
          <a:xfrm>
            <a:off x="8595360" y="5440680"/>
            <a:ext cx="301752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61A"/>
                </a:solidFill>
                <a:latin typeface="Yu Gothic UI"/>
              </a:rPr>
              <a:t>権限5段階・顔認証・スマホ通知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6B7076"/>
                </a:solidFill>
                <a:latin typeface="Segoe UI"/>
              </a:rPr>
              <a:t>5 эрх, царай таних, push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Техникийн суурь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07 / 10</a:t>
            </a:r>
          </a:p>
        </p:txBody>
      </p:sp>
      <p:sp>
        <p:nvSpPr>
          <p:cNvPr id="10" name="tile0"/>
          <p:cNvSpPr/>
          <p:nvPr/>
        </p:nvSpPr>
        <p:spPr>
          <a:xfrm>
            <a:off x="54864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0-bg"/>
          <p:cNvSpPr/>
          <p:nvPr/>
        </p:nvSpPr>
        <p:spPr>
          <a:xfrm>
            <a:off x="777240" y="10104119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tile0-ic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10265053"/>
            <a:ext cx="409652" cy="409652"/>
          </a:xfrm>
          <a:prstGeom prst="rect">
            <a:avLst/>
          </a:prstGeom>
        </p:spPr>
      </p:pic>
      <p:sp>
        <p:nvSpPr>
          <p:cNvPr id="13" name="tile0-t"/>
          <p:cNvSpPr txBox="1"/>
          <p:nvPr/>
        </p:nvSpPr>
        <p:spPr>
          <a:xfrm>
            <a:off x="77724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4" name="tile1"/>
          <p:cNvSpPr/>
          <p:nvPr/>
        </p:nvSpPr>
        <p:spPr>
          <a:xfrm>
            <a:off x="338328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le1-bg"/>
          <p:cNvSpPr/>
          <p:nvPr/>
        </p:nvSpPr>
        <p:spPr>
          <a:xfrm>
            <a:off x="3611880" y="10104119"/>
            <a:ext cx="731520" cy="7315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tile1-ic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14" y="10265053"/>
            <a:ext cx="409652" cy="409652"/>
          </a:xfrm>
          <a:prstGeom prst="rect">
            <a:avLst/>
          </a:prstGeom>
        </p:spPr>
      </p:pic>
      <p:sp>
        <p:nvSpPr>
          <p:cNvPr id="17" name="tile1-t"/>
          <p:cNvSpPr txBox="1"/>
          <p:nvPr/>
        </p:nvSpPr>
        <p:spPr>
          <a:xfrm>
            <a:off x="361188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8" name="tile2"/>
          <p:cNvSpPr/>
          <p:nvPr/>
        </p:nvSpPr>
        <p:spPr>
          <a:xfrm>
            <a:off x="621792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le2-bg"/>
          <p:cNvSpPr/>
          <p:nvPr/>
        </p:nvSpPr>
        <p:spPr>
          <a:xfrm>
            <a:off x="6446520" y="10104119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ile2-ic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10265053"/>
            <a:ext cx="409652" cy="409652"/>
          </a:xfrm>
          <a:prstGeom prst="rect">
            <a:avLst/>
          </a:prstGeom>
        </p:spPr>
      </p:pic>
      <p:sp>
        <p:nvSpPr>
          <p:cNvPr id="21" name="tile2-t"/>
          <p:cNvSpPr txBox="1"/>
          <p:nvPr/>
        </p:nvSpPr>
        <p:spPr>
          <a:xfrm>
            <a:off x="644652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2" name="tile3"/>
          <p:cNvSpPr/>
          <p:nvPr/>
        </p:nvSpPr>
        <p:spPr>
          <a:xfrm>
            <a:off x="9052560" y="99212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le3-bg"/>
          <p:cNvSpPr/>
          <p:nvPr/>
        </p:nvSpPr>
        <p:spPr>
          <a:xfrm>
            <a:off x="9281160" y="10104119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ile3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10265053"/>
            <a:ext cx="409652" cy="409652"/>
          </a:xfrm>
          <a:prstGeom prst="rect">
            <a:avLst/>
          </a:prstGeom>
        </p:spPr>
      </p:pic>
      <p:sp>
        <p:nvSpPr>
          <p:cNvPr id="25" name="tile3-t"/>
          <p:cNvSpPr txBox="1"/>
          <p:nvPr/>
        </p:nvSpPr>
        <p:spPr>
          <a:xfrm>
            <a:off x="9281160" y="109270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6" name="fact0-bar"/>
          <p:cNvSpPr/>
          <p:nvPr/>
        </p:nvSpPr>
        <p:spPr>
          <a:xfrm>
            <a:off x="54864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0"/>
          <p:cNvSpPr txBox="1"/>
          <p:nvPr/>
        </p:nvSpPr>
        <p:spPr>
          <a:xfrm>
            <a:off x="73152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8" name="fact1-bar"/>
          <p:cNvSpPr/>
          <p:nvPr/>
        </p:nvSpPr>
        <p:spPr>
          <a:xfrm>
            <a:off x="338328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t1"/>
          <p:cNvSpPr txBox="1"/>
          <p:nvPr/>
        </p:nvSpPr>
        <p:spPr>
          <a:xfrm>
            <a:off x="356616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30" name="fact2-bar"/>
          <p:cNvSpPr/>
          <p:nvPr/>
        </p:nvSpPr>
        <p:spPr>
          <a:xfrm>
            <a:off x="621792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act2"/>
          <p:cNvSpPr txBox="1"/>
          <p:nvPr/>
        </p:nvSpPr>
        <p:spPr>
          <a:xfrm>
            <a:off x="640080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2" name="fact3-bar"/>
          <p:cNvSpPr/>
          <p:nvPr/>
        </p:nvSpPr>
        <p:spPr>
          <a:xfrm>
            <a:off x="905256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act3"/>
          <p:cNvSpPr txBox="1"/>
          <p:nvPr/>
        </p:nvSpPr>
        <p:spPr>
          <a:xfrm>
            <a:off x="923544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暗号化バックアップ30日保持</a:t>
            </a:r>
          </a:p>
        </p:txBody>
      </p:sp>
      <p:sp>
        <p:nvSpPr>
          <p:cNvPr id="34" name="t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ts0-img" descr="s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6" name="t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ts1-img" descr="s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38" name="t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ts2-img" descr="s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0" name="t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ts3-img" descr="s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2" name="t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ts4-img" descr="s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4" name="t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ts5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6" name="t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ts6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48" name="t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ts7-img" descr="s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0" name="t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ts8-img" descr="s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Техникийн суурь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07 / 10</a:t>
            </a:r>
          </a:p>
        </p:txBody>
      </p:sp>
      <p:sp>
        <p:nvSpPr>
          <p:cNvPr id="10" name="tile0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0-bg"/>
          <p:cNvSpPr/>
          <p:nvPr/>
        </p:nvSpPr>
        <p:spPr>
          <a:xfrm>
            <a:off x="777240" y="1874519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tile0-ic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35453"/>
            <a:ext cx="409652" cy="409652"/>
          </a:xfrm>
          <a:prstGeom prst="rect">
            <a:avLst/>
          </a:prstGeom>
        </p:spPr>
      </p:pic>
      <p:sp>
        <p:nvSpPr>
          <p:cNvPr id="13" name="tile0-t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4" name="tile1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le1-bg"/>
          <p:cNvSpPr/>
          <p:nvPr/>
        </p:nvSpPr>
        <p:spPr>
          <a:xfrm>
            <a:off x="3611880" y="1874519"/>
            <a:ext cx="731520" cy="7315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tile1-ic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14" y="2035453"/>
            <a:ext cx="409652" cy="409652"/>
          </a:xfrm>
          <a:prstGeom prst="rect">
            <a:avLst/>
          </a:prstGeom>
        </p:spPr>
      </p:pic>
      <p:sp>
        <p:nvSpPr>
          <p:cNvPr id="17" name="tile1-t"/>
          <p:cNvSpPr txBox="1"/>
          <p:nvPr/>
        </p:nvSpPr>
        <p:spPr>
          <a:xfrm>
            <a:off x="361188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8" name="tile2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le2-bg"/>
          <p:cNvSpPr/>
          <p:nvPr/>
        </p:nvSpPr>
        <p:spPr>
          <a:xfrm>
            <a:off x="6446520" y="1874519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ile2-ic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2035453"/>
            <a:ext cx="409652" cy="409652"/>
          </a:xfrm>
          <a:prstGeom prst="rect">
            <a:avLst/>
          </a:prstGeom>
        </p:spPr>
      </p:pic>
      <p:sp>
        <p:nvSpPr>
          <p:cNvPr id="21" name="tile2-t"/>
          <p:cNvSpPr txBox="1"/>
          <p:nvPr/>
        </p:nvSpPr>
        <p:spPr>
          <a:xfrm>
            <a:off x="644652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2" name="tile3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le3-bg"/>
          <p:cNvSpPr/>
          <p:nvPr/>
        </p:nvSpPr>
        <p:spPr>
          <a:xfrm>
            <a:off x="9281160" y="1874519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ile3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2035453"/>
            <a:ext cx="409652" cy="409652"/>
          </a:xfrm>
          <a:prstGeom prst="rect">
            <a:avLst/>
          </a:prstGeom>
        </p:spPr>
      </p:pic>
      <p:sp>
        <p:nvSpPr>
          <p:cNvPr id="25" name="tile3-t"/>
          <p:cNvSpPr txBox="1"/>
          <p:nvPr/>
        </p:nvSpPr>
        <p:spPr>
          <a:xfrm>
            <a:off x="928116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6" name="fact0-bar"/>
          <p:cNvSpPr/>
          <p:nvPr/>
        </p:nvSpPr>
        <p:spPr>
          <a:xfrm>
            <a:off x="54864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0"/>
          <p:cNvSpPr txBox="1"/>
          <p:nvPr/>
        </p:nvSpPr>
        <p:spPr>
          <a:xfrm>
            <a:off x="73152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8" name="fact1-bar"/>
          <p:cNvSpPr/>
          <p:nvPr/>
        </p:nvSpPr>
        <p:spPr>
          <a:xfrm>
            <a:off x="338328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t1"/>
          <p:cNvSpPr txBox="1"/>
          <p:nvPr/>
        </p:nvSpPr>
        <p:spPr>
          <a:xfrm>
            <a:off x="356616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30" name="fact2-bar"/>
          <p:cNvSpPr/>
          <p:nvPr/>
        </p:nvSpPr>
        <p:spPr>
          <a:xfrm>
            <a:off x="621792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act2"/>
          <p:cNvSpPr txBox="1"/>
          <p:nvPr/>
        </p:nvSpPr>
        <p:spPr>
          <a:xfrm>
            <a:off x="640080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2" name="fact3-bar"/>
          <p:cNvSpPr/>
          <p:nvPr/>
        </p:nvSpPr>
        <p:spPr>
          <a:xfrm>
            <a:off x="9052560" y="119329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act3"/>
          <p:cNvSpPr txBox="1"/>
          <p:nvPr/>
        </p:nvSpPr>
        <p:spPr>
          <a:xfrm>
            <a:off x="9235440" y="118872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暗号化バックアップ30日保持</a:t>
            </a:r>
          </a:p>
        </p:txBody>
      </p:sp>
      <p:sp>
        <p:nvSpPr>
          <p:cNvPr id="34" name="ts0-tile"/>
          <p:cNvSpPr/>
          <p:nvPr/>
        </p:nvSpPr>
        <p:spPr>
          <a:xfrm>
            <a:off x="68580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ts0-img" descr="s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13392302"/>
            <a:ext cx="921716" cy="921716"/>
          </a:xfrm>
          <a:prstGeom prst="rect">
            <a:avLst/>
          </a:prstGeom>
        </p:spPr>
      </p:pic>
      <p:sp>
        <p:nvSpPr>
          <p:cNvPr id="36" name="ts1-tile"/>
          <p:cNvSpPr/>
          <p:nvPr/>
        </p:nvSpPr>
        <p:spPr>
          <a:xfrm>
            <a:off x="189280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ts1-img" descr="s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13392302"/>
            <a:ext cx="921716" cy="921716"/>
          </a:xfrm>
          <a:prstGeom prst="rect">
            <a:avLst/>
          </a:prstGeom>
        </p:spPr>
      </p:pic>
      <p:sp>
        <p:nvSpPr>
          <p:cNvPr id="38" name="ts2-tile"/>
          <p:cNvSpPr/>
          <p:nvPr/>
        </p:nvSpPr>
        <p:spPr>
          <a:xfrm>
            <a:off x="309981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ts2-img" descr="s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598" y="13392302"/>
            <a:ext cx="921716" cy="921716"/>
          </a:xfrm>
          <a:prstGeom prst="rect">
            <a:avLst/>
          </a:prstGeom>
        </p:spPr>
      </p:pic>
      <p:sp>
        <p:nvSpPr>
          <p:cNvPr id="40" name="ts3-tile"/>
          <p:cNvSpPr/>
          <p:nvPr/>
        </p:nvSpPr>
        <p:spPr>
          <a:xfrm>
            <a:off x="430682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ts3-img" descr="s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606" y="13392302"/>
            <a:ext cx="921716" cy="921716"/>
          </a:xfrm>
          <a:prstGeom prst="rect">
            <a:avLst/>
          </a:prstGeom>
        </p:spPr>
      </p:pic>
      <p:sp>
        <p:nvSpPr>
          <p:cNvPr id="42" name="ts4-tile"/>
          <p:cNvSpPr/>
          <p:nvPr/>
        </p:nvSpPr>
        <p:spPr>
          <a:xfrm>
            <a:off x="5513832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ts4-img" descr="s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1614" y="13392302"/>
            <a:ext cx="921716" cy="921716"/>
          </a:xfrm>
          <a:prstGeom prst="rect">
            <a:avLst/>
          </a:prstGeom>
        </p:spPr>
      </p:pic>
      <p:sp>
        <p:nvSpPr>
          <p:cNvPr id="44" name="ts5-tile"/>
          <p:cNvSpPr/>
          <p:nvPr/>
        </p:nvSpPr>
        <p:spPr>
          <a:xfrm>
            <a:off x="6720840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ts5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8622" y="13392302"/>
            <a:ext cx="921716" cy="921716"/>
          </a:xfrm>
          <a:prstGeom prst="rect">
            <a:avLst/>
          </a:prstGeom>
        </p:spPr>
      </p:pic>
      <p:sp>
        <p:nvSpPr>
          <p:cNvPr id="46" name="ts6-tile"/>
          <p:cNvSpPr/>
          <p:nvPr/>
        </p:nvSpPr>
        <p:spPr>
          <a:xfrm>
            <a:off x="7927848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ts6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630" y="13392302"/>
            <a:ext cx="921716" cy="921716"/>
          </a:xfrm>
          <a:prstGeom prst="rect">
            <a:avLst/>
          </a:prstGeom>
        </p:spPr>
      </p:pic>
      <p:sp>
        <p:nvSpPr>
          <p:cNvPr id="48" name="ts7-tile"/>
          <p:cNvSpPr/>
          <p:nvPr/>
        </p:nvSpPr>
        <p:spPr>
          <a:xfrm>
            <a:off x="9134856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ts7-img" descr="s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638" y="13392302"/>
            <a:ext cx="921716" cy="921716"/>
          </a:xfrm>
          <a:prstGeom prst="rect">
            <a:avLst/>
          </a:prstGeom>
        </p:spPr>
      </p:pic>
      <p:sp>
        <p:nvSpPr>
          <p:cNvPr id="50" name="ts8-tile"/>
          <p:cNvSpPr/>
          <p:nvPr/>
        </p:nvSpPr>
        <p:spPr>
          <a:xfrm>
            <a:off x="10341864" y="133045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ts8-img" descr="s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9646" y="133923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Техникийн суурь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07 / 10</a:t>
            </a:r>
          </a:p>
        </p:txBody>
      </p:sp>
      <p:sp>
        <p:nvSpPr>
          <p:cNvPr id="10" name="tile0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0-bg"/>
          <p:cNvSpPr/>
          <p:nvPr/>
        </p:nvSpPr>
        <p:spPr>
          <a:xfrm>
            <a:off x="777240" y="1874519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tile0-ic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35453"/>
            <a:ext cx="409652" cy="409652"/>
          </a:xfrm>
          <a:prstGeom prst="rect">
            <a:avLst/>
          </a:prstGeom>
        </p:spPr>
      </p:pic>
      <p:sp>
        <p:nvSpPr>
          <p:cNvPr id="13" name="tile0-t"/>
          <p:cNvSpPr txBox="1"/>
          <p:nvPr/>
        </p:nvSpPr>
        <p:spPr>
          <a:xfrm>
            <a:off x="77724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4" name="tile1"/>
          <p:cNvSpPr/>
          <p:nvPr/>
        </p:nvSpPr>
        <p:spPr>
          <a:xfrm>
            <a:off x="338328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le1-bg"/>
          <p:cNvSpPr/>
          <p:nvPr/>
        </p:nvSpPr>
        <p:spPr>
          <a:xfrm>
            <a:off x="3611880" y="1874519"/>
            <a:ext cx="731520" cy="73152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tile1-ic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814" y="2035453"/>
            <a:ext cx="409652" cy="409652"/>
          </a:xfrm>
          <a:prstGeom prst="rect">
            <a:avLst/>
          </a:prstGeom>
        </p:spPr>
      </p:pic>
      <p:sp>
        <p:nvSpPr>
          <p:cNvPr id="17" name="tile1-t"/>
          <p:cNvSpPr txBox="1"/>
          <p:nvPr/>
        </p:nvSpPr>
        <p:spPr>
          <a:xfrm>
            <a:off x="361188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Oracle Cloud 東京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本番＋ステージング</a:t>
            </a:r>
          </a:p>
        </p:txBody>
      </p:sp>
      <p:sp>
        <p:nvSpPr>
          <p:cNvPr id="18" name="tile2"/>
          <p:cNvSpPr/>
          <p:nvPr/>
        </p:nvSpPr>
        <p:spPr>
          <a:xfrm>
            <a:off x="621792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le2-bg"/>
          <p:cNvSpPr/>
          <p:nvPr/>
        </p:nvSpPr>
        <p:spPr>
          <a:xfrm>
            <a:off x="6446520" y="1874519"/>
            <a:ext cx="731520" cy="73152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ile2-ic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454" y="2035453"/>
            <a:ext cx="409652" cy="409652"/>
          </a:xfrm>
          <a:prstGeom prst="rect">
            <a:avLst/>
          </a:prstGeom>
        </p:spPr>
      </p:pic>
      <p:sp>
        <p:nvSpPr>
          <p:cNvPr id="21" name="tile2-t"/>
          <p:cNvSpPr txBox="1"/>
          <p:nvPr/>
        </p:nvSpPr>
        <p:spPr>
          <a:xfrm>
            <a:off x="644652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MySQL HeatWave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TLS暗号化・日次暗号化バックアップ</a:t>
            </a:r>
          </a:p>
        </p:txBody>
      </p:sp>
      <p:sp>
        <p:nvSpPr>
          <p:cNvPr id="22" name="tile3"/>
          <p:cNvSpPr/>
          <p:nvPr/>
        </p:nvSpPr>
        <p:spPr>
          <a:xfrm>
            <a:off x="9052560" y="169164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le3-bg"/>
          <p:cNvSpPr/>
          <p:nvPr/>
        </p:nvSpPr>
        <p:spPr>
          <a:xfrm>
            <a:off x="9281160" y="1874519"/>
            <a:ext cx="731520" cy="7315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ile3-ic" descr="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94" y="2035453"/>
            <a:ext cx="409652" cy="409652"/>
          </a:xfrm>
          <a:prstGeom prst="rect">
            <a:avLst/>
          </a:prstGeom>
        </p:spPr>
      </p:pic>
      <p:sp>
        <p:nvSpPr>
          <p:cNvPr id="25" name="tile3-t"/>
          <p:cNvSpPr txBox="1"/>
          <p:nvPr/>
        </p:nvSpPr>
        <p:spPr>
          <a:xfrm>
            <a:off x="9281160" y="2697480"/>
            <a:ext cx="21945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4161A"/>
                </a:solidFill>
                <a:latin typeface="Segoe UI"/>
              </a:rPr>
              <a:t>Cloudflare R2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26" name="fact0-bar"/>
          <p:cNvSpPr/>
          <p:nvPr/>
        </p:nvSpPr>
        <p:spPr>
          <a:xfrm>
            <a:off x="548640" y="37033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act0"/>
          <p:cNvSpPr txBox="1"/>
          <p:nvPr/>
        </p:nvSpPr>
        <p:spPr>
          <a:xfrm>
            <a:off x="73152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TypeScript / React / tRPC / Drizzle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自社保有のソースコード・1リポジトリ</a:t>
            </a:r>
          </a:p>
        </p:txBody>
      </p:sp>
      <p:sp>
        <p:nvSpPr>
          <p:cNvPr id="28" name="fact1-bar"/>
          <p:cNvSpPr/>
          <p:nvPr/>
        </p:nvSpPr>
        <p:spPr>
          <a:xfrm>
            <a:off x="3383280" y="37033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act1"/>
          <p:cNvSpPr txBox="1"/>
          <p:nvPr/>
        </p:nvSpPr>
        <p:spPr>
          <a:xfrm>
            <a:off x="356616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自動テスト 935件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実DBの統合テスト、CIで毎回</a:t>
            </a:r>
          </a:p>
        </p:txBody>
      </p:sp>
      <p:sp>
        <p:nvSpPr>
          <p:cNvPr id="30" name="fact2-bar"/>
          <p:cNvSpPr/>
          <p:nvPr/>
        </p:nvSpPr>
        <p:spPr>
          <a:xfrm>
            <a:off x="6217920" y="37033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act2"/>
          <p:cNvSpPr txBox="1"/>
          <p:nvPr/>
        </p:nvSpPr>
        <p:spPr>
          <a:xfrm>
            <a:off x="640080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ワンコマンド・デプロイ（約3分）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独立したステージング環境</a:t>
            </a:r>
          </a:p>
        </p:txBody>
      </p:sp>
      <p:sp>
        <p:nvSpPr>
          <p:cNvPr id="32" name="fact3-bar"/>
          <p:cNvSpPr/>
          <p:nvPr/>
        </p:nvSpPr>
        <p:spPr>
          <a:xfrm>
            <a:off x="9052560" y="3703320"/>
            <a:ext cx="54864" cy="1143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act3"/>
          <p:cNvSpPr txBox="1"/>
          <p:nvPr/>
        </p:nvSpPr>
        <p:spPr>
          <a:xfrm>
            <a:off x="9235440" y="3657600"/>
            <a:ext cx="24231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161A"/>
                </a:solidFill>
                <a:latin typeface="Segoe UI"/>
              </a:rPr>
              <a:t>稼働監視・エラートラッキング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B7076"/>
                </a:solidFill>
                <a:latin typeface="Yu Gothic UI"/>
              </a:rPr>
              <a:t>暗号化バックアップ30日保持</a:t>
            </a:r>
          </a:p>
        </p:txBody>
      </p:sp>
      <p:sp>
        <p:nvSpPr>
          <p:cNvPr id="34" name="ts0-tile"/>
          <p:cNvSpPr/>
          <p:nvPr/>
        </p:nvSpPr>
        <p:spPr>
          <a:xfrm>
            <a:off x="68580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ts0-img" descr="s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5162702"/>
            <a:ext cx="921716" cy="921716"/>
          </a:xfrm>
          <a:prstGeom prst="rect">
            <a:avLst/>
          </a:prstGeom>
        </p:spPr>
      </p:pic>
      <p:sp>
        <p:nvSpPr>
          <p:cNvPr id="36" name="ts1-tile"/>
          <p:cNvSpPr/>
          <p:nvPr/>
        </p:nvSpPr>
        <p:spPr>
          <a:xfrm>
            <a:off x="189280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ts1-img" descr="s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5162702"/>
            <a:ext cx="921716" cy="921716"/>
          </a:xfrm>
          <a:prstGeom prst="rect">
            <a:avLst/>
          </a:prstGeom>
        </p:spPr>
      </p:pic>
      <p:sp>
        <p:nvSpPr>
          <p:cNvPr id="38" name="ts2-tile"/>
          <p:cNvSpPr/>
          <p:nvPr/>
        </p:nvSpPr>
        <p:spPr>
          <a:xfrm>
            <a:off x="309981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ts2-img" descr="s0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7598" y="5162702"/>
            <a:ext cx="921716" cy="921716"/>
          </a:xfrm>
          <a:prstGeom prst="rect">
            <a:avLst/>
          </a:prstGeom>
        </p:spPr>
      </p:pic>
      <p:sp>
        <p:nvSpPr>
          <p:cNvPr id="40" name="ts3-tile"/>
          <p:cNvSpPr/>
          <p:nvPr/>
        </p:nvSpPr>
        <p:spPr>
          <a:xfrm>
            <a:off x="430682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ts3-img" descr="s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4606" y="5162702"/>
            <a:ext cx="921716" cy="921716"/>
          </a:xfrm>
          <a:prstGeom prst="rect">
            <a:avLst/>
          </a:prstGeom>
        </p:spPr>
      </p:pic>
      <p:sp>
        <p:nvSpPr>
          <p:cNvPr id="42" name="ts4-tile"/>
          <p:cNvSpPr/>
          <p:nvPr/>
        </p:nvSpPr>
        <p:spPr>
          <a:xfrm>
            <a:off x="5513832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ts4-img" descr="s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1614" y="5162702"/>
            <a:ext cx="921716" cy="921716"/>
          </a:xfrm>
          <a:prstGeom prst="rect">
            <a:avLst/>
          </a:prstGeom>
        </p:spPr>
      </p:pic>
      <p:sp>
        <p:nvSpPr>
          <p:cNvPr id="44" name="ts5-tile"/>
          <p:cNvSpPr/>
          <p:nvPr/>
        </p:nvSpPr>
        <p:spPr>
          <a:xfrm>
            <a:off x="6720840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ts5-img" descr="s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8622" y="5162702"/>
            <a:ext cx="921716" cy="921716"/>
          </a:xfrm>
          <a:prstGeom prst="rect">
            <a:avLst/>
          </a:prstGeom>
        </p:spPr>
      </p:pic>
      <p:sp>
        <p:nvSpPr>
          <p:cNvPr id="46" name="ts6-tile"/>
          <p:cNvSpPr/>
          <p:nvPr/>
        </p:nvSpPr>
        <p:spPr>
          <a:xfrm>
            <a:off x="7927848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ts6-img" descr="s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630" y="5162702"/>
            <a:ext cx="921716" cy="921716"/>
          </a:xfrm>
          <a:prstGeom prst="rect">
            <a:avLst/>
          </a:prstGeom>
        </p:spPr>
      </p:pic>
      <p:sp>
        <p:nvSpPr>
          <p:cNvPr id="48" name="ts7-tile"/>
          <p:cNvSpPr/>
          <p:nvPr/>
        </p:nvSpPr>
        <p:spPr>
          <a:xfrm>
            <a:off x="9134856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ts7-img" descr="s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2638" y="5162702"/>
            <a:ext cx="921716" cy="921716"/>
          </a:xfrm>
          <a:prstGeom prst="rect">
            <a:avLst/>
          </a:prstGeom>
        </p:spPr>
      </p:pic>
      <p:sp>
        <p:nvSpPr>
          <p:cNvPr id="50" name="ts8-tile"/>
          <p:cNvSpPr/>
          <p:nvPr/>
        </p:nvSpPr>
        <p:spPr>
          <a:xfrm>
            <a:off x="10341864" y="5074920"/>
            <a:ext cx="1097280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ts8-img" descr="s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9646" y="5162702"/>
            <a:ext cx="921716" cy="9217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セキュリティと法令対応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Аюулгүй байдал, хуулийн нийцэл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08 / 10</a:t>
            </a:r>
          </a:p>
        </p:txBody>
      </p:sp>
      <p:sp>
        <p:nvSpPr>
          <p:cNvPr id="10" name="sec0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c0-bg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ec0-ic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" y="2152497"/>
            <a:ext cx="358446" cy="358446"/>
          </a:xfrm>
          <a:prstGeom prst="rect">
            <a:avLst/>
          </a:prstGeom>
        </p:spPr>
      </p:pic>
      <p:sp>
        <p:nvSpPr>
          <p:cNvPr id="13" name="sec0-t"/>
          <p:cNvSpPr txBox="1"/>
          <p:nvPr/>
        </p:nvSpPr>
        <p:spPr>
          <a:xfrm>
            <a:off x="77724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SQLインジェクション不可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全クエリをバインド、sqlmapで検証済み</a:t>
            </a:r>
          </a:p>
        </p:txBody>
      </p:sp>
      <p:sp>
        <p:nvSpPr>
          <p:cNvPr id="14" name="sec1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c1-bg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ec1-ic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97" y="2152497"/>
            <a:ext cx="358446" cy="358446"/>
          </a:xfrm>
          <a:prstGeom prst="rect">
            <a:avLst/>
          </a:prstGeom>
        </p:spPr>
      </p:pic>
      <p:sp>
        <p:nvSpPr>
          <p:cNvPr id="17" name="sec1-t"/>
          <p:cNvSpPr txBox="1"/>
          <p:nvPr/>
        </p:nvSpPr>
        <p:spPr>
          <a:xfrm>
            <a:off x="361188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CSRF・CSP・レート制限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スキャナーボットは自動遮断</a:t>
            </a:r>
          </a:p>
        </p:txBody>
      </p:sp>
      <p:sp>
        <p:nvSpPr>
          <p:cNvPr id="18" name="sec2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c2-bg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ec2-ic" descr="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337" y="2152497"/>
            <a:ext cx="358446" cy="358446"/>
          </a:xfrm>
          <a:prstGeom prst="rect">
            <a:avLst/>
          </a:prstGeom>
        </p:spPr>
      </p:pic>
      <p:sp>
        <p:nvSpPr>
          <p:cNvPr id="21" name="sec2-t"/>
          <p:cNvSpPr txBox="1"/>
          <p:nvPr/>
        </p:nvSpPr>
        <p:spPr>
          <a:xfrm>
            <a:off x="644652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管理画面は OTP＋顔認証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25分無操作で自動ロック</a:t>
            </a:r>
          </a:p>
        </p:txBody>
      </p:sp>
      <p:sp>
        <p:nvSpPr>
          <p:cNvPr id="22" name="sec3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c3-bg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ec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977" y="2152497"/>
            <a:ext cx="358446" cy="358446"/>
          </a:xfrm>
          <a:prstGeom prst="rect">
            <a:avLst/>
          </a:prstGeom>
        </p:spPr>
      </p:pic>
      <p:sp>
        <p:nvSpPr>
          <p:cNvPr id="25" name="sec3-t"/>
          <p:cNvSpPr txBox="1"/>
          <p:nvPr/>
        </p:nvSpPr>
        <p:spPr>
          <a:xfrm>
            <a:off x="928116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決済は必ず再照会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二重支払い・過少支払いを排除</a:t>
            </a:r>
          </a:p>
        </p:txBody>
      </p:sp>
      <p:sp>
        <p:nvSpPr>
          <p:cNvPr id="26" name="sec4"/>
          <p:cNvSpPr/>
          <p:nvPr/>
        </p:nvSpPr>
        <p:spPr>
          <a:xfrm>
            <a:off x="54864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c4-bg"/>
          <p:cNvSpPr/>
          <p:nvPr/>
        </p:nvSpPr>
        <p:spPr>
          <a:xfrm>
            <a:off x="777240" y="1248156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sec4-ic" descr="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7" y="12622377"/>
            <a:ext cx="358446" cy="358446"/>
          </a:xfrm>
          <a:prstGeom prst="rect">
            <a:avLst/>
          </a:prstGeom>
        </p:spPr>
      </p:pic>
      <p:sp>
        <p:nvSpPr>
          <p:cNvPr id="29" name="sec4-t"/>
          <p:cNvSpPr txBox="1"/>
          <p:nvPr/>
        </p:nvSpPr>
        <p:spPr>
          <a:xfrm>
            <a:off x="77724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個人情報保護法に準拠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退会・データ削除・Cookie同意</a:t>
            </a:r>
          </a:p>
        </p:txBody>
      </p:sp>
      <p:sp>
        <p:nvSpPr>
          <p:cNvPr id="30" name="sec5"/>
          <p:cNvSpPr/>
          <p:nvPr/>
        </p:nvSpPr>
        <p:spPr>
          <a:xfrm>
            <a:off x="338328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ec5-bg"/>
          <p:cNvSpPr/>
          <p:nvPr/>
        </p:nvSpPr>
        <p:spPr>
          <a:xfrm>
            <a:off x="3611880" y="1248156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sec5-ic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697" y="12622377"/>
            <a:ext cx="358446" cy="358446"/>
          </a:xfrm>
          <a:prstGeom prst="rect">
            <a:avLst/>
          </a:prstGeom>
        </p:spPr>
      </p:pic>
      <p:sp>
        <p:nvSpPr>
          <p:cNvPr id="33" name="sec5-t"/>
          <p:cNvSpPr txBox="1"/>
          <p:nvPr/>
        </p:nvSpPr>
        <p:spPr>
          <a:xfrm>
            <a:off x="361188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不適切コメントを自動排除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多言語フィルター＋画像チェック</a:t>
            </a:r>
          </a:p>
        </p:txBody>
      </p:sp>
      <p:sp>
        <p:nvSpPr>
          <p:cNvPr id="34" name="sec6"/>
          <p:cNvSpPr/>
          <p:nvPr/>
        </p:nvSpPr>
        <p:spPr>
          <a:xfrm>
            <a:off x="621792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ec6-bg"/>
          <p:cNvSpPr/>
          <p:nvPr/>
        </p:nvSpPr>
        <p:spPr>
          <a:xfrm>
            <a:off x="6446520" y="1248156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ec6-ic" descr="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37" y="12622377"/>
            <a:ext cx="358446" cy="358446"/>
          </a:xfrm>
          <a:prstGeom prst="rect">
            <a:avLst/>
          </a:prstGeom>
        </p:spPr>
      </p:pic>
      <p:sp>
        <p:nvSpPr>
          <p:cNvPr id="37" name="sec6-t"/>
          <p:cNvSpPr txBox="1"/>
          <p:nvPr/>
        </p:nvSpPr>
        <p:spPr>
          <a:xfrm>
            <a:off x="644652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注文・在庫・クレジットは原子的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二重注文・在庫ズレなし</a:t>
            </a:r>
          </a:p>
        </p:txBody>
      </p:sp>
      <p:sp>
        <p:nvSpPr>
          <p:cNvPr id="38" name="sec7"/>
          <p:cNvSpPr/>
          <p:nvPr/>
        </p:nvSpPr>
        <p:spPr>
          <a:xfrm>
            <a:off x="9052560" y="122529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c7-bg"/>
          <p:cNvSpPr/>
          <p:nvPr/>
        </p:nvSpPr>
        <p:spPr>
          <a:xfrm>
            <a:off x="9281160" y="1248156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sec7-ic" descr="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1977" y="12622377"/>
            <a:ext cx="358446" cy="358446"/>
          </a:xfrm>
          <a:prstGeom prst="rect">
            <a:avLst/>
          </a:prstGeom>
        </p:spPr>
      </p:pic>
      <p:sp>
        <p:nvSpPr>
          <p:cNvPr id="41" name="sec7-t"/>
          <p:cNvSpPr txBox="1"/>
          <p:nvPr/>
        </p:nvSpPr>
        <p:spPr>
          <a:xfrm>
            <a:off x="9281160" y="132130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在庫台帳と自動検知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すべての変動を記録、ズレを警告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セキュリティと法令対応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Аюулгүй байдал, хуулийн нийцэл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08 / 10</a:t>
            </a:r>
          </a:p>
        </p:txBody>
      </p:sp>
      <p:sp>
        <p:nvSpPr>
          <p:cNvPr id="10" name="sec0"/>
          <p:cNvSpPr/>
          <p:nvPr/>
        </p:nvSpPr>
        <p:spPr>
          <a:xfrm>
            <a:off x="54864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c0-bg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ec0-ic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7" y="2152497"/>
            <a:ext cx="358446" cy="358446"/>
          </a:xfrm>
          <a:prstGeom prst="rect">
            <a:avLst/>
          </a:prstGeom>
        </p:spPr>
      </p:pic>
      <p:sp>
        <p:nvSpPr>
          <p:cNvPr id="13" name="sec0-t"/>
          <p:cNvSpPr txBox="1"/>
          <p:nvPr/>
        </p:nvSpPr>
        <p:spPr>
          <a:xfrm>
            <a:off x="77724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SQLインジェクション不可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全クエリをバインド、sqlmapで検証済み</a:t>
            </a:r>
          </a:p>
        </p:txBody>
      </p:sp>
      <p:sp>
        <p:nvSpPr>
          <p:cNvPr id="14" name="sec1"/>
          <p:cNvSpPr/>
          <p:nvPr/>
        </p:nvSpPr>
        <p:spPr>
          <a:xfrm>
            <a:off x="338328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c1-bg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ec1-ic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97" y="2152497"/>
            <a:ext cx="358446" cy="358446"/>
          </a:xfrm>
          <a:prstGeom prst="rect">
            <a:avLst/>
          </a:prstGeom>
        </p:spPr>
      </p:pic>
      <p:sp>
        <p:nvSpPr>
          <p:cNvPr id="17" name="sec1-t"/>
          <p:cNvSpPr txBox="1"/>
          <p:nvPr/>
        </p:nvSpPr>
        <p:spPr>
          <a:xfrm>
            <a:off x="361188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CSRF・CSP・レート制限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スキャナーボットは自動遮断</a:t>
            </a:r>
          </a:p>
        </p:txBody>
      </p:sp>
      <p:sp>
        <p:nvSpPr>
          <p:cNvPr id="18" name="sec2"/>
          <p:cNvSpPr/>
          <p:nvPr/>
        </p:nvSpPr>
        <p:spPr>
          <a:xfrm>
            <a:off x="621792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c2-bg"/>
          <p:cNvSpPr/>
          <p:nvPr/>
        </p:nvSpPr>
        <p:spPr>
          <a:xfrm>
            <a:off x="6446520" y="201168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ec2-ic" descr="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7337" y="2152497"/>
            <a:ext cx="358446" cy="358446"/>
          </a:xfrm>
          <a:prstGeom prst="rect">
            <a:avLst/>
          </a:prstGeom>
        </p:spPr>
      </p:pic>
      <p:sp>
        <p:nvSpPr>
          <p:cNvPr id="21" name="sec2-t"/>
          <p:cNvSpPr txBox="1"/>
          <p:nvPr/>
        </p:nvSpPr>
        <p:spPr>
          <a:xfrm>
            <a:off x="644652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管理画面は OTP＋顔認証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25分無操作で自動ロック</a:t>
            </a:r>
          </a:p>
        </p:txBody>
      </p:sp>
      <p:sp>
        <p:nvSpPr>
          <p:cNvPr id="22" name="sec3"/>
          <p:cNvSpPr/>
          <p:nvPr/>
        </p:nvSpPr>
        <p:spPr>
          <a:xfrm>
            <a:off x="9052560" y="17830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c3-bg"/>
          <p:cNvSpPr/>
          <p:nvPr/>
        </p:nvSpPr>
        <p:spPr>
          <a:xfrm>
            <a:off x="9281160" y="20116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sec3-ic" descr="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1977" y="2152497"/>
            <a:ext cx="358446" cy="358446"/>
          </a:xfrm>
          <a:prstGeom prst="rect">
            <a:avLst/>
          </a:prstGeom>
        </p:spPr>
      </p:pic>
      <p:sp>
        <p:nvSpPr>
          <p:cNvPr id="25" name="sec3-t"/>
          <p:cNvSpPr txBox="1"/>
          <p:nvPr/>
        </p:nvSpPr>
        <p:spPr>
          <a:xfrm>
            <a:off x="9281160" y="274320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決済は必ず再照会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二重支払い・過少支払いを排除</a:t>
            </a:r>
          </a:p>
        </p:txBody>
      </p:sp>
      <p:sp>
        <p:nvSpPr>
          <p:cNvPr id="26" name="sec4"/>
          <p:cNvSpPr/>
          <p:nvPr/>
        </p:nvSpPr>
        <p:spPr>
          <a:xfrm>
            <a:off x="54864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c4-bg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sec4-ic" descr="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57" y="4392777"/>
            <a:ext cx="358446" cy="358446"/>
          </a:xfrm>
          <a:prstGeom prst="rect">
            <a:avLst/>
          </a:prstGeom>
        </p:spPr>
      </p:pic>
      <p:sp>
        <p:nvSpPr>
          <p:cNvPr id="29" name="sec4-t"/>
          <p:cNvSpPr txBox="1"/>
          <p:nvPr/>
        </p:nvSpPr>
        <p:spPr>
          <a:xfrm>
            <a:off x="77724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個人情報保護法に準拠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退会・データ削除・Cookie同意</a:t>
            </a:r>
          </a:p>
        </p:txBody>
      </p:sp>
      <p:sp>
        <p:nvSpPr>
          <p:cNvPr id="30" name="sec5"/>
          <p:cNvSpPr/>
          <p:nvPr/>
        </p:nvSpPr>
        <p:spPr>
          <a:xfrm>
            <a:off x="338328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ec5-bg"/>
          <p:cNvSpPr/>
          <p:nvPr/>
        </p:nvSpPr>
        <p:spPr>
          <a:xfrm>
            <a:off x="3611880" y="4251960"/>
            <a:ext cx="640080" cy="640080"/>
          </a:xfrm>
          <a:prstGeom prst="ellipse">
            <a:avLst/>
          </a:prstGeom>
          <a:solidFill>
            <a:srgbClr val="C993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sec5-ic" descr="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697" y="4392777"/>
            <a:ext cx="358446" cy="358446"/>
          </a:xfrm>
          <a:prstGeom prst="rect">
            <a:avLst/>
          </a:prstGeom>
        </p:spPr>
      </p:pic>
      <p:sp>
        <p:nvSpPr>
          <p:cNvPr id="33" name="sec5-t"/>
          <p:cNvSpPr txBox="1"/>
          <p:nvPr/>
        </p:nvSpPr>
        <p:spPr>
          <a:xfrm>
            <a:off x="361188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不適切コメントを自動排除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多言語フィルター＋画像チェック</a:t>
            </a:r>
          </a:p>
        </p:txBody>
      </p:sp>
      <p:sp>
        <p:nvSpPr>
          <p:cNvPr id="34" name="sec6"/>
          <p:cNvSpPr/>
          <p:nvPr/>
        </p:nvSpPr>
        <p:spPr>
          <a:xfrm>
            <a:off x="621792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ec6-bg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2F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sec6-ic" descr="lay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7337" y="4392777"/>
            <a:ext cx="358446" cy="358446"/>
          </a:xfrm>
          <a:prstGeom prst="rect">
            <a:avLst/>
          </a:prstGeom>
        </p:spPr>
      </p:pic>
      <p:sp>
        <p:nvSpPr>
          <p:cNvPr id="37" name="sec6-t"/>
          <p:cNvSpPr txBox="1"/>
          <p:nvPr/>
        </p:nvSpPr>
        <p:spPr>
          <a:xfrm>
            <a:off x="644652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注文・在庫・クレジットは原子的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二重注文・在庫ズレなし</a:t>
            </a:r>
          </a:p>
        </p:txBody>
      </p:sp>
      <p:sp>
        <p:nvSpPr>
          <p:cNvPr id="38" name="sec7"/>
          <p:cNvSpPr/>
          <p:nvPr/>
        </p:nvSpPr>
        <p:spPr>
          <a:xfrm>
            <a:off x="9052560" y="402336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04800" dist="762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c7-bg"/>
          <p:cNvSpPr/>
          <p:nvPr/>
        </p:nvSpPr>
        <p:spPr>
          <a:xfrm>
            <a:off x="9281160" y="425196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sec7-ic" descr="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1977" y="4392777"/>
            <a:ext cx="358446" cy="358446"/>
          </a:xfrm>
          <a:prstGeom prst="rect">
            <a:avLst/>
          </a:prstGeom>
        </p:spPr>
      </p:pic>
      <p:sp>
        <p:nvSpPr>
          <p:cNvPr id="41" name="sec7-t"/>
          <p:cNvSpPr txBox="1"/>
          <p:nvPr/>
        </p:nvSpPr>
        <p:spPr>
          <a:xfrm>
            <a:off x="9281160" y="4983480"/>
            <a:ext cx="219456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在庫台帳と自動検知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6B7076"/>
                </a:solidFill>
                <a:latin typeface="Yu Gothic UI"/>
              </a:rPr>
              <a:t>すべての変動を記録、ズレを警告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現状の数字（2026年9月14日、本番システム計測）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Одоогийн тоо баримт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09 / 10</a:t>
            </a:r>
          </a:p>
        </p:txBody>
      </p:sp>
      <p:sp>
        <p:nvSpPr>
          <p:cNvPr id="10" name="stat0"/>
          <p:cNvSpPr/>
          <p:nvPr/>
        </p:nvSpPr>
        <p:spPr>
          <a:xfrm>
            <a:off x="157734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1"/>
          <p:cNvSpPr/>
          <p:nvPr/>
        </p:nvSpPr>
        <p:spPr>
          <a:xfrm>
            <a:off x="441198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2"/>
          <p:cNvSpPr/>
          <p:nvPr/>
        </p:nvSpPr>
        <p:spPr>
          <a:xfrm>
            <a:off x="724662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3"/>
          <p:cNvSpPr/>
          <p:nvPr/>
        </p:nvSpPr>
        <p:spPr>
          <a:xfrm>
            <a:off x="10081260" y="265176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4"/>
          <p:cNvSpPr/>
          <p:nvPr/>
        </p:nvSpPr>
        <p:spPr>
          <a:xfrm>
            <a:off x="157734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5"/>
          <p:cNvSpPr/>
          <p:nvPr/>
        </p:nvSpPr>
        <p:spPr>
          <a:xfrm>
            <a:off x="441198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t6"/>
          <p:cNvSpPr/>
          <p:nvPr/>
        </p:nvSpPr>
        <p:spPr>
          <a:xfrm>
            <a:off x="724662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7"/>
          <p:cNvSpPr/>
          <p:nvPr/>
        </p:nvSpPr>
        <p:spPr>
          <a:xfrm>
            <a:off x="10081260" y="4846320"/>
            <a:ext cx="54864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現状の数字（2026年9月14日、本番システム計測）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Одоогийн тоо баримт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09 / 10</a:t>
            </a:r>
          </a:p>
        </p:txBody>
      </p:sp>
      <p:sp>
        <p:nvSpPr>
          <p:cNvPr id="10" name="stat0"/>
          <p:cNvSpPr/>
          <p:nvPr/>
        </p:nvSpPr>
        <p:spPr>
          <a:xfrm>
            <a:off x="54864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0-v"/>
          <p:cNvSpPr txBox="1"/>
          <p:nvPr/>
        </p:nvSpPr>
        <p:spPr>
          <a:xfrm>
            <a:off x="54864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C8102E"/>
                </a:solidFill>
                <a:latin typeface="Segoe UI"/>
              </a:rPr>
              <a:t>980</a:t>
            </a:r>
          </a:p>
        </p:txBody>
      </p:sp>
      <p:sp>
        <p:nvSpPr>
          <p:cNvPr id="12" name="stat0-t"/>
          <p:cNvSpPr txBox="1"/>
          <p:nvPr/>
        </p:nvSpPr>
        <p:spPr>
          <a:xfrm>
            <a:off x="54864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掲載商品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Нийтлэгдсэн бараа</a:t>
            </a:r>
          </a:p>
        </p:txBody>
      </p:sp>
      <p:sp>
        <p:nvSpPr>
          <p:cNvPr id="13" name="stat1"/>
          <p:cNvSpPr/>
          <p:nvPr/>
        </p:nvSpPr>
        <p:spPr>
          <a:xfrm>
            <a:off x="338328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t1-v"/>
          <p:cNvSpPr txBox="1"/>
          <p:nvPr/>
        </p:nvSpPr>
        <p:spPr>
          <a:xfrm>
            <a:off x="338328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4+1</a:t>
            </a:r>
          </a:p>
        </p:txBody>
      </p:sp>
      <p:sp>
        <p:nvSpPr>
          <p:cNvPr id="15" name="stat1-t"/>
          <p:cNvSpPr txBox="1"/>
          <p:nvPr/>
        </p:nvSpPr>
        <p:spPr>
          <a:xfrm>
            <a:off x="338328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店舗＋倉庫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Салбар + агуулах</a:t>
            </a:r>
          </a:p>
        </p:txBody>
      </p:sp>
      <p:sp>
        <p:nvSpPr>
          <p:cNvPr id="16" name="stat2"/>
          <p:cNvSpPr/>
          <p:nvPr/>
        </p:nvSpPr>
        <p:spPr>
          <a:xfrm>
            <a:off x="621792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t2-v"/>
          <p:cNvSpPr txBox="1"/>
          <p:nvPr/>
        </p:nvSpPr>
        <p:spPr>
          <a:xfrm>
            <a:off x="621792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C8102E"/>
                </a:solidFill>
                <a:latin typeface="Segoe UI"/>
              </a:rPr>
              <a:t>3</a:t>
            </a:r>
          </a:p>
        </p:txBody>
      </p:sp>
      <p:sp>
        <p:nvSpPr>
          <p:cNvPr id="18" name="stat2-t"/>
          <p:cNvSpPr txBox="1"/>
          <p:nvPr/>
        </p:nvSpPr>
        <p:spPr>
          <a:xfrm>
            <a:off x="621792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対応言語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Хэл</a:t>
            </a:r>
          </a:p>
        </p:txBody>
      </p:sp>
      <p:sp>
        <p:nvSpPr>
          <p:cNvPr id="19" name="stat3"/>
          <p:cNvSpPr/>
          <p:nvPr/>
        </p:nvSpPr>
        <p:spPr>
          <a:xfrm>
            <a:off x="9052560" y="192024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t3-v"/>
          <p:cNvSpPr txBox="1"/>
          <p:nvPr/>
        </p:nvSpPr>
        <p:spPr>
          <a:xfrm>
            <a:off x="9052560" y="201168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935</a:t>
            </a:r>
          </a:p>
        </p:txBody>
      </p:sp>
      <p:sp>
        <p:nvSpPr>
          <p:cNvPr id="21" name="stat3-t"/>
          <p:cNvSpPr txBox="1"/>
          <p:nvPr/>
        </p:nvSpPr>
        <p:spPr>
          <a:xfrm>
            <a:off x="9052560" y="288036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自動テスト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Автомат тест</a:t>
            </a:r>
          </a:p>
        </p:txBody>
      </p:sp>
      <p:sp>
        <p:nvSpPr>
          <p:cNvPr id="22" name="stat4"/>
          <p:cNvSpPr/>
          <p:nvPr/>
        </p:nvSpPr>
        <p:spPr>
          <a:xfrm>
            <a:off x="54864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4-v"/>
          <p:cNvSpPr txBox="1"/>
          <p:nvPr/>
        </p:nvSpPr>
        <p:spPr>
          <a:xfrm>
            <a:off x="54864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C8102E"/>
                </a:solidFill>
                <a:latin typeface="Segoe UI"/>
              </a:rPr>
              <a:t>61</a:t>
            </a:r>
          </a:p>
        </p:txBody>
      </p:sp>
      <p:sp>
        <p:nvSpPr>
          <p:cNvPr id="24" name="stat4-t"/>
          <p:cNvSpPr txBox="1"/>
          <p:nvPr/>
        </p:nvSpPr>
        <p:spPr>
          <a:xfrm>
            <a:off x="54864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DBテーブル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Хүснэгт</a:t>
            </a:r>
          </a:p>
        </p:txBody>
      </p:sp>
      <p:sp>
        <p:nvSpPr>
          <p:cNvPr id="25" name="stat5"/>
          <p:cNvSpPr/>
          <p:nvPr/>
        </p:nvSpPr>
        <p:spPr>
          <a:xfrm>
            <a:off x="338328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t5-v"/>
          <p:cNvSpPr txBox="1"/>
          <p:nvPr/>
        </p:nvSpPr>
        <p:spPr>
          <a:xfrm>
            <a:off x="338328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&lt;0.2s</a:t>
            </a:r>
          </a:p>
        </p:txBody>
      </p:sp>
      <p:sp>
        <p:nvSpPr>
          <p:cNvPr id="27" name="stat5-t"/>
          <p:cNvSpPr txBox="1"/>
          <p:nvPr/>
        </p:nvSpPr>
        <p:spPr>
          <a:xfrm>
            <a:off x="338328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ページ応答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Хуудасны хариу</a:t>
            </a:r>
          </a:p>
        </p:txBody>
      </p:sp>
      <p:sp>
        <p:nvSpPr>
          <p:cNvPr id="28" name="stat6"/>
          <p:cNvSpPr/>
          <p:nvPr/>
        </p:nvSpPr>
        <p:spPr>
          <a:xfrm>
            <a:off x="621792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t6-v"/>
          <p:cNvSpPr txBox="1"/>
          <p:nvPr/>
        </p:nvSpPr>
        <p:spPr>
          <a:xfrm>
            <a:off x="621792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C8102E"/>
                </a:solidFill>
                <a:latin typeface="Segoe UI"/>
              </a:rPr>
              <a:t>30日</a:t>
            </a:r>
          </a:p>
        </p:txBody>
      </p:sp>
      <p:sp>
        <p:nvSpPr>
          <p:cNvPr id="30" name="stat6-t"/>
          <p:cNvSpPr txBox="1"/>
          <p:nvPr/>
        </p:nvSpPr>
        <p:spPr>
          <a:xfrm>
            <a:off x="621792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バックアップ保持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Backup</a:t>
            </a:r>
          </a:p>
        </p:txBody>
      </p:sp>
      <p:sp>
        <p:nvSpPr>
          <p:cNvPr id="31" name="stat7"/>
          <p:cNvSpPr/>
          <p:nvPr/>
        </p:nvSpPr>
        <p:spPr>
          <a:xfrm>
            <a:off x="9052560" y="411480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55600" dist="101600" dir="5400000" algn="ctr" rotWithShape="0">
              <a:srgbClr val="1A14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t7-v"/>
          <p:cNvSpPr txBox="1"/>
          <p:nvPr/>
        </p:nvSpPr>
        <p:spPr>
          <a:xfrm>
            <a:off x="9052560" y="420624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2F6FB3"/>
                </a:solidFill>
                <a:latin typeface="Segoe UI"/>
              </a:rPr>
              <a:t>0</a:t>
            </a:r>
          </a:p>
        </p:txBody>
      </p:sp>
      <p:sp>
        <p:nvSpPr>
          <p:cNvPr id="33" name="stat7-t"/>
          <p:cNvSpPr txBox="1"/>
          <p:nvPr/>
        </p:nvSpPr>
        <p:spPr>
          <a:xfrm>
            <a:off x="9052560" y="507492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14161A"/>
                </a:solidFill>
                <a:latin typeface="Yu Gothic UI"/>
              </a:rPr>
              <a:t>AA コントラスト違反</a:t>
            </a:r>
          </a:p>
          <a:p>
            <a:pPr algn="ctr">
              <a:spcAft>
                <a:spcPts val="100"/>
              </a:spcAft>
            </a:pPr>
            <a:r>
              <a:rPr sz="1000" b="0">
                <a:solidFill>
                  <a:srgbClr val="6B7076"/>
                </a:solidFill>
                <a:latin typeface="Segoe UI"/>
              </a:rPr>
              <a:t>Контрастын алдаа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Дараагийн алхам, хамтын ажиллагаа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10 / 10</a:t>
            </a:r>
          </a:p>
        </p:txBody>
      </p:sp>
      <p:sp>
        <p:nvSpPr>
          <p:cNvPr id="10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2026 Q4</a:t>
            </a:r>
          </a:p>
        </p:txBody>
      </p:sp>
      <p:sp>
        <p:nvSpPr>
          <p:cNvPr id="13" name="road0"/>
          <p:cNvSpPr txBox="1"/>
          <p:nvPr/>
        </p:nvSpPr>
        <p:spPr>
          <a:xfrm>
            <a:off x="54864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4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C99312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2027 Q1</a:t>
            </a:r>
          </a:p>
        </p:txBody>
      </p:sp>
      <p:sp>
        <p:nvSpPr>
          <p:cNvPr id="16" name="road1"/>
          <p:cNvSpPr txBox="1"/>
          <p:nvPr/>
        </p:nvSpPr>
        <p:spPr>
          <a:xfrm>
            <a:off x="224028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7" name="dot2"/>
          <p:cNvSpPr/>
          <p:nvPr/>
        </p:nvSpPr>
        <p:spPr>
          <a:xfrm>
            <a:off x="4480560" y="108356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2"/>
          <p:cNvSpPr txBox="1"/>
          <p:nvPr/>
        </p:nvSpPr>
        <p:spPr>
          <a:xfrm>
            <a:off x="3931920" y="100126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19" name="road2"/>
          <p:cNvSpPr txBox="1"/>
          <p:nvPr/>
        </p:nvSpPr>
        <p:spPr>
          <a:xfrm>
            <a:off x="3931920" y="114300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20" name="dot3"/>
          <p:cNvSpPr/>
          <p:nvPr/>
        </p:nvSpPr>
        <p:spPr>
          <a:xfrm>
            <a:off x="6172200" y="10835640"/>
            <a:ext cx="411480" cy="41148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q3"/>
          <p:cNvSpPr txBox="1"/>
          <p:nvPr/>
        </p:nvSpPr>
        <p:spPr>
          <a:xfrm>
            <a:off x="5623560" y="100126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2027 H2</a:t>
            </a:r>
          </a:p>
        </p:txBody>
      </p:sp>
      <p:sp>
        <p:nvSpPr>
          <p:cNvPr id="22" name="road3"/>
          <p:cNvSpPr txBox="1"/>
          <p:nvPr/>
        </p:nvSpPr>
        <p:spPr>
          <a:xfrm>
            <a:off x="5623560" y="114300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3" name="rs0-tile"/>
          <p:cNvSpPr/>
          <p:nvPr/>
        </p:nvSpPr>
        <p:spPr>
          <a:xfrm>
            <a:off x="68580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rs0-img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13202107"/>
            <a:ext cx="844906" cy="844906"/>
          </a:xfrm>
          <a:prstGeom prst="rect">
            <a:avLst/>
          </a:prstGeom>
        </p:spPr>
      </p:pic>
      <p:sp>
        <p:nvSpPr>
          <p:cNvPr id="25" name="rs1-tile"/>
          <p:cNvSpPr/>
          <p:nvPr/>
        </p:nvSpPr>
        <p:spPr>
          <a:xfrm>
            <a:off x="178308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rs1-img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547" y="13202107"/>
            <a:ext cx="844906" cy="844906"/>
          </a:xfrm>
          <a:prstGeom prst="rect">
            <a:avLst/>
          </a:prstGeom>
        </p:spPr>
      </p:pic>
      <p:sp>
        <p:nvSpPr>
          <p:cNvPr id="27" name="rs2-tile"/>
          <p:cNvSpPr/>
          <p:nvPr/>
        </p:nvSpPr>
        <p:spPr>
          <a:xfrm>
            <a:off x="288036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s2-img" descr="s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27" y="13202107"/>
            <a:ext cx="844906" cy="844906"/>
          </a:xfrm>
          <a:prstGeom prst="rect">
            <a:avLst/>
          </a:prstGeom>
        </p:spPr>
      </p:pic>
      <p:sp>
        <p:nvSpPr>
          <p:cNvPr id="29" name="rs3-tile"/>
          <p:cNvSpPr/>
          <p:nvPr/>
        </p:nvSpPr>
        <p:spPr>
          <a:xfrm>
            <a:off x="397764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rs3-img" descr="s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107" y="13202107"/>
            <a:ext cx="844906" cy="844906"/>
          </a:xfrm>
          <a:prstGeom prst="rect">
            <a:avLst/>
          </a:prstGeom>
        </p:spPr>
      </p:pic>
      <p:sp>
        <p:nvSpPr>
          <p:cNvPr id="31" name="rs4-tile"/>
          <p:cNvSpPr/>
          <p:nvPr/>
        </p:nvSpPr>
        <p:spPr>
          <a:xfrm>
            <a:off x="507492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rs4-img" descr="s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387" y="13202107"/>
            <a:ext cx="844906" cy="844906"/>
          </a:xfrm>
          <a:prstGeom prst="rect">
            <a:avLst/>
          </a:prstGeom>
        </p:spPr>
      </p:pic>
      <p:sp>
        <p:nvSpPr>
          <p:cNvPr id="33" name="rs5-tile"/>
          <p:cNvSpPr/>
          <p:nvPr/>
        </p:nvSpPr>
        <p:spPr>
          <a:xfrm>
            <a:off x="6172200" y="131216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rs5-img" descr="s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667" y="13202107"/>
            <a:ext cx="844906" cy="844906"/>
          </a:xfrm>
          <a:prstGeom prst="rect">
            <a:avLst/>
          </a:prstGeom>
        </p:spPr>
      </p:pic>
      <p:sp>
        <p:nvSpPr>
          <p:cNvPr id="35" name="ask"/>
          <p:cNvSpPr/>
          <p:nvPr/>
        </p:nvSpPr>
        <p:spPr>
          <a:xfrm>
            <a:off x="7680960" y="99669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61A"/>
          </a:solidFill>
          <a:ln>
            <a:noFill/>
          </a:ln>
          <a:effectLst>
            <a:outerShdw blurRad="457200" dist="127000" dir="5400000" algn="ctr" rotWithShape="0">
              <a:srgbClr val="1A14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sk-bg"/>
          <p:cNvSpPr/>
          <p:nvPr/>
        </p:nvSpPr>
        <p:spPr>
          <a:xfrm>
            <a:off x="7955279" y="1019556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ask-ic" descr="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213" y="10356494"/>
            <a:ext cx="409652" cy="409652"/>
          </a:xfrm>
          <a:prstGeom prst="rect">
            <a:avLst/>
          </a:prstGeom>
        </p:spPr>
      </p:pic>
      <p:sp>
        <p:nvSpPr>
          <p:cNvPr id="38" name="ask-t"/>
          <p:cNvSpPr txBox="1"/>
          <p:nvPr/>
        </p:nvSpPr>
        <p:spPr>
          <a:xfrm>
            <a:off x="7955279" y="11018520"/>
            <a:ext cx="3474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Логистик, төлбөрт хөрөнгө оруулалт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C94C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Дараагийн алхам, хамтын ажиллагаа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10 / 10</a:t>
            </a:r>
          </a:p>
        </p:txBody>
      </p:sp>
      <p:sp>
        <p:nvSpPr>
          <p:cNvPr id="10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2026 Q4</a:t>
            </a:r>
          </a:p>
        </p:txBody>
      </p:sp>
      <p:sp>
        <p:nvSpPr>
          <p:cNvPr id="13" name="road0"/>
          <p:cNvSpPr txBox="1"/>
          <p:nvPr/>
        </p:nvSpPr>
        <p:spPr>
          <a:xfrm>
            <a:off x="54864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4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C99312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2027 Q1</a:t>
            </a:r>
          </a:p>
        </p:txBody>
      </p:sp>
      <p:sp>
        <p:nvSpPr>
          <p:cNvPr id="16" name="road1"/>
          <p:cNvSpPr txBox="1"/>
          <p:nvPr/>
        </p:nvSpPr>
        <p:spPr>
          <a:xfrm>
            <a:off x="224028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7" name="dot2"/>
          <p:cNvSpPr/>
          <p:nvPr/>
        </p:nvSpPr>
        <p:spPr>
          <a:xfrm>
            <a:off x="4480560" y="26060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2"/>
          <p:cNvSpPr txBox="1"/>
          <p:nvPr/>
        </p:nvSpPr>
        <p:spPr>
          <a:xfrm>
            <a:off x="393192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19" name="road2"/>
          <p:cNvSpPr txBox="1"/>
          <p:nvPr/>
        </p:nvSpPr>
        <p:spPr>
          <a:xfrm>
            <a:off x="393192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20" name="dot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q3"/>
          <p:cNvSpPr txBox="1"/>
          <p:nvPr/>
        </p:nvSpPr>
        <p:spPr>
          <a:xfrm>
            <a:off x="562356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2027 H2</a:t>
            </a:r>
          </a:p>
        </p:txBody>
      </p:sp>
      <p:sp>
        <p:nvSpPr>
          <p:cNvPr id="22" name="road3"/>
          <p:cNvSpPr txBox="1"/>
          <p:nvPr/>
        </p:nvSpPr>
        <p:spPr>
          <a:xfrm>
            <a:off x="562356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3" name="rs0-tile"/>
          <p:cNvSpPr/>
          <p:nvPr/>
        </p:nvSpPr>
        <p:spPr>
          <a:xfrm>
            <a:off x="6858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rs0-img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4972507"/>
            <a:ext cx="844906" cy="844906"/>
          </a:xfrm>
          <a:prstGeom prst="rect">
            <a:avLst/>
          </a:prstGeom>
        </p:spPr>
      </p:pic>
      <p:sp>
        <p:nvSpPr>
          <p:cNvPr id="25" name="rs1-tile"/>
          <p:cNvSpPr/>
          <p:nvPr/>
        </p:nvSpPr>
        <p:spPr>
          <a:xfrm>
            <a:off x="178308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rs1-img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547" y="4972507"/>
            <a:ext cx="844906" cy="844906"/>
          </a:xfrm>
          <a:prstGeom prst="rect">
            <a:avLst/>
          </a:prstGeom>
        </p:spPr>
      </p:pic>
      <p:sp>
        <p:nvSpPr>
          <p:cNvPr id="27" name="rs2-tile"/>
          <p:cNvSpPr/>
          <p:nvPr/>
        </p:nvSpPr>
        <p:spPr>
          <a:xfrm>
            <a:off x="288036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s2-img" descr="s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27" y="4972507"/>
            <a:ext cx="844906" cy="844906"/>
          </a:xfrm>
          <a:prstGeom prst="rect">
            <a:avLst/>
          </a:prstGeom>
        </p:spPr>
      </p:pic>
      <p:sp>
        <p:nvSpPr>
          <p:cNvPr id="29" name="rs3-tile"/>
          <p:cNvSpPr/>
          <p:nvPr/>
        </p:nvSpPr>
        <p:spPr>
          <a:xfrm>
            <a:off x="397764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rs3-img" descr="s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107" y="4972507"/>
            <a:ext cx="844906" cy="844906"/>
          </a:xfrm>
          <a:prstGeom prst="rect">
            <a:avLst/>
          </a:prstGeom>
        </p:spPr>
      </p:pic>
      <p:sp>
        <p:nvSpPr>
          <p:cNvPr id="31" name="rs4-tile"/>
          <p:cNvSpPr/>
          <p:nvPr/>
        </p:nvSpPr>
        <p:spPr>
          <a:xfrm>
            <a:off x="507492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rs4-img" descr="s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387" y="4972507"/>
            <a:ext cx="844906" cy="844906"/>
          </a:xfrm>
          <a:prstGeom prst="rect">
            <a:avLst/>
          </a:prstGeom>
        </p:spPr>
      </p:pic>
      <p:sp>
        <p:nvSpPr>
          <p:cNvPr id="33" name="rs5-tile"/>
          <p:cNvSpPr/>
          <p:nvPr/>
        </p:nvSpPr>
        <p:spPr>
          <a:xfrm>
            <a:off x="61722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rs5-img" descr="s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667" y="4972507"/>
            <a:ext cx="844906" cy="844906"/>
          </a:xfrm>
          <a:prstGeom prst="rect">
            <a:avLst/>
          </a:prstGeom>
        </p:spPr>
      </p:pic>
      <p:sp>
        <p:nvSpPr>
          <p:cNvPr id="35" name="ask"/>
          <p:cNvSpPr/>
          <p:nvPr/>
        </p:nvSpPr>
        <p:spPr>
          <a:xfrm>
            <a:off x="7680960" y="99669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61A"/>
          </a:solidFill>
          <a:ln>
            <a:noFill/>
          </a:ln>
          <a:effectLst>
            <a:outerShdw blurRad="457200" dist="127000" dir="5400000" algn="ctr" rotWithShape="0">
              <a:srgbClr val="1A14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sk-bg"/>
          <p:cNvSpPr/>
          <p:nvPr/>
        </p:nvSpPr>
        <p:spPr>
          <a:xfrm>
            <a:off x="7955279" y="1019556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ask-ic" descr="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213" y="10356494"/>
            <a:ext cx="409652" cy="409652"/>
          </a:xfrm>
          <a:prstGeom prst="rect">
            <a:avLst/>
          </a:prstGeom>
        </p:spPr>
      </p:pic>
      <p:sp>
        <p:nvSpPr>
          <p:cNvPr id="38" name="ask-t"/>
          <p:cNvSpPr txBox="1"/>
          <p:nvPr/>
        </p:nvSpPr>
        <p:spPr>
          <a:xfrm>
            <a:off x="7955279" y="11018520"/>
            <a:ext cx="3474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Логистик, төлбөрт хөрөнгө оруулалт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C94C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BFAF7"/>
              </a:gs>
              <a:gs pos="100000">
                <a:srgbClr val="F1EE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-bar"/>
          <p:cNvSpPr/>
          <p:nvPr/>
        </p:nvSpPr>
        <p:spPr>
          <a:xfrm>
            <a:off x="548640" y="566928"/>
            <a:ext cx="82296" cy="822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dr-jp"/>
          <p:cNvSpPr txBox="1"/>
          <p:nvPr/>
        </p:nvSpPr>
        <p:spPr>
          <a:xfrm>
            <a:off x="777240" y="457200"/>
            <a:ext cx="8778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4161A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5" name="hdr-mn"/>
          <p:cNvSpPr txBox="1"/>
          <p:nvPr/>
        </p:nvSpPr>
        <p:spPr>
          <a:xfrm>
            <a:off x="777240" y="1051560"/>
            <a:ext cx="8778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076"/>
                </a:solidFill>
                <a:latin typeface="Segoe UI"/>
              </a:rPr>
              <a:t>Дараагийн алхам, хамтын ажиллагаа</a:t>
            </a:r>
          </a:p>
        </p:txBody>
      </p:sp>
      <p:pic>
        <p:nvPicPr>
          <p:cNvPr id="6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6" y="475488"/>
            <a:ext cx="1874519" cy="282046"/>
          </a:xfrm>
          <a:prstGeom prst="rect">
            <a:avLst/>
          </a:prstGeom>
        </p:spPr>
      </p:pic>
      <p:sp>
        <p:nvSpPr>
          <p:cNvPr id="7" name="foot-rule"/>
          <p:cNvSpPr/>
          <p:nvPr/>
        </p:nvSpPr>
        <p:spPr>
          <a:xfrm>
            <a:off x="548640" y="6355080"/>
            <a:ext cx="11094415" cy="10972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dr-foot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SUGI ASAYAKE Mongolia · 2026年9月 · 事業説明資料</a:t>
            </a:r>
          </a:p>
        </p:txBody>
      </p:sp>
      <p:sp>
        <p:nvSpPr>
          <p:cNvPr id="9" name="hdr-n"/>
          <p:cNvSpPr txBox="1"/>
          <p:nvPr/>
        </p:nvSpPr>
        <p:spPr>
          <a:xfrm>
            <a:off x="10424160" y="6400800"/>
            <a:ext cx="1234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1">
                <a:solidFill>
                  <a:srgbClr val="C8102E"/>
                </a:solidFill>
                <a:latin typeface="Segoe UI"/>
              </a:rPr>
              <a:t>10 / 10</a:t>
            </a:r>
          </a:p>
        </p:txBody>
      </p:sp>
      <p:sp>
        <p:nvSpPr>
          <p:cNvPr id="10" name="tl"/>
          <p:cNvSpPr/>
          <p:nvPr/>
        </p:nvSpPr>
        <p:spPr>
          <a:xfrm>
            <a:off x="822960" y="2788920"/>
            <a:ext cx="6400800" cy="45720"/>
          </a:xfrm>
          <a:prstGeom prst="rect">
            <a:avLst/>
          </a:prstGeom>
          <a:solidFill>
            <a:srgbClr val="D8D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0"/>
          <p:cNvSpPr/>
          <p:nvPr/>
        </p:nvSpPr>
        <p:spPr>
          <a:xfrm>
            <a:off x="1097280" y="2606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0"/>
          <p:cNvSpPr txBox="1"/>
          <p:nvPr/>
        </p:nvSpPr>
        <p:spPr>
          <a:xfrm>
            <a:off x="54864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102E"/>
                </a:solidFill>
                <a:latin typeface="Segoe UI"/>
              </a:rPr>
              <a:t>2026 Q4</a:t>
            </a:r>
          </a:p>
        </p:txBody>
      </p:sp>
      <p:sp>
        <p:nvSpPr>
          <p:cNvPr id="13" name="road0"/>
          <p:cNvSpPr txBox="1"/>
          <p:nvPr/>
        </p:nvSpPr>
        <p:spPr>
          <a:xfrm>
            <a:off x="54864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QPay・StorePay 本番接続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eBarimt 電子領収書連携</a:t>
            </a:r>
          </a:p>
        </p:txBody>
      </p:sp>
      <p:sp>
        <p:nvSpPr>
          <p:cNvPr id="14" name="dot1"/>
          <p:cNvSpPr/>
          <p:nvPr/>
        </p:nvSpPr>
        <p:spPr>
          <a:xfrm>
            <a:off x="2788920" y="2606040"/>
            <a:ext cx="411480" cy="411480"/>
          </a:xfrm>
          <a:prstGeom prst="ellipse">
            <a:avLst/>
          </a:prstGeom>
          <a:solidFill>
            <a:srgbClr val="C99312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q1"/>
          <p:cNvSpPr txBox="1"/>
          <p:nvPr/>
        </p:nvSpPr>
        <p:spPr>
          <a:xfrm>
            <a:off x="224028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99312"/>
                </a:solidFill>
                <a:latin typeface="Segoe UI"/>
              </a:rPr>
              <a:t>2027 Q1</a:t>
            </a:r>
          </a:p>
        </p:txBody>
      </p:sp>
      <p:sp>
        <p:nvSpPr>
          <p:cNvPr id="16" name="road1"/>
          <p:cNvSpPr txBox="1"/>
          <p:nvPr/>
        </p:nvSpPr>
        <p:spPr>
          <a:xfrm>
            <a:off x="224028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配送パートナー・自社ドメイン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全商品の写真撮影</a:t>
            </a:r>
          </a:p>
        </p:txBody>
      </p:sp>
      <p:sp>
        <p:nvSpPr>
          <p:cNvPr id="17" name="dot2"/>
          <p:cNvSpPr/>
          <p:nvPr/>
        </p:nvSpPr>
        <p:spPr>
          <a:xfrm>
            <a:off x="4480560" y="2606040"/>
            <a:ext cx="411480" cy="411480"/>
          </a:xfrm>
          <a:prstGeom prst="ellipse">
            <a:avLst/>
          </a:prstGeom>
          <a:solidFill>
            <a:srgbClr val="2F6FB3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q2"/>
          <p:cNvSpPr txBox="1"/>
          <p:nvPr/>
        </p:nvSpPr>
        <p:spPr>
          <a:xfrm>
            <a:off x="393192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F6FB3"/>
                </a:solidFill>
                <a:latin typeface="Segoe UI"/>
              </a:rPr>
              <a:t>2027 Q2</a:t>
            </a:r>
          </a:p>
        </p:txBody>
      </p:sp>
      <p:sp>
        <p:nvSpPr>
          <p:cNvPr id="19" name="road2"/>
          <p:cNvSpPr txBox="1"/>
          <p:nvPr/>
        </p:nvSpPr>
        <p:spPr>
          <a:xfrm>
            <a:off x="393192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広告計測・レビュー特典・紹介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Google / Meta 計測開始</a:t>
            </a:r>
          </a:p>
        </p:txBody>
      </p:sp>
      <p:sp>
        <p:nvSpPr>
          <p:cNvPr id="20" name="dot3"/>
          <p:cNvSpPr/>
          <p:nvPr/>
        </p:nvSpPr>
        <p:spPr>
          <a:xfrm>
            <a:off x="6172200" y="2606040"/>
            <a:ext cx="411480" cy="411480"/>
          </a:xfrm>
          <a:prstGeom prst="ellipse">
            <a:avLst/>
          </a:prstGeom>
          <a:solidFill>
            <a:srgbClr val="2E8B57"/>
          </a:solidFill>
          <a:ln>
            <a:noFill/>
          </a:ln>
          <a:effectLst>
            <a:outerShdw blurRad="177800" dist="38100" dir="5400000" algn="ctr" rotWithShape="0">
              <a:srgbClr val="1A14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q3"/>
          <p:cNvSpPr txBox="1"/>
          <p:nvPr/>
        </p:nvSpPr>
        <p:spPr>
          <a:xfrm>
            <a:off x="5623560" y="1783080"/>
            <a:ext cx="1600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Segoe UI"/>
              </a:rPr>
              <a:t>2027 H2</a:t>
            </a:r>
          </a:p>
        </p:txBody>
      </p:sp>
      <p:sp>
        <p:nvSpPr>
          <p:cNvPr id="22" name="road3"/>
          <p:cNvSpPr txBox="1"/>
          <p:nvPr/>
        </p:nvSpPr>
        <p:spPr>
          <a:xfrm>
            <a:off x="5623560" y="3200400"/>
            <a:ext cx="160020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4161A"/>
                </a:solidFill>
                <a:latin typeface="Yu Gothic UI"/>
              </a:rPr>
              <a:t>本社データとのAPI連携</a:t>
            </a:r>
          </a:p>
          <a:p>
            <a:pPr algn="ctr">
              <a:spcAft>
                <a:spcPts val="200"/>
              </a:spcAft>
            </a:pPr>
            <a:r>
              <a:rPr sz="950" b="0">
                <a:solidFill>
                  <a:srgbClr val="6B7076"/>
                </a:solidFill>
                <a:latin typeface="Yu Gothic UI"/>
              </a:rPr>
              <a:t>在庫・商品マスター</a:t>
            </a:r>
          </a:p>
        </p:txBody>
      </p:sp>
      <p:sp>
        <p:nvSpPr>
          <p:cNvPr id="23" name="rs0-tile"/>
          <p:cNvSpPr/>
          <p:nvPr/>
        </p:nvSpPr>
        <p:spPr>
          <a:xfrm>
            <a:off x="6858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rs0-img" descr="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" y="4972507"/>
            <a:ext cx="844906" cy="844906"/>
          </a:xfrm>
          <a:prstGeom prst="rect">
            <a:avLst/>
          </a:prstGeom>
        </p:spPr>
      </p:pic>
      <p:sp>
        <p:nvSpPr>
          <p:cNvPr id="25" name="rs1-tile"/>
          <p:cNvSpPr/>
          <p:nvPr/>
        </p:nvSpPr>
        <p:spPr>
          <a:xfrm>
            <a:off x="178308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rs1-img" descr="s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547" y="4972507"/>
            <a:ext cx="844906" cy="844906"/>
          </a:xfrm>
          <a:prstGeom prst="rect">
            <a:avLst/>
          </a:prstGeom>
        </p:spPr>
      </p:pic>
      <p:sp>
        <p:nvSpPr>
          <p:cNvPr id="27" name="rs2-tile"/>
          <p:cNvSpPr/>
          <p:nvPr/>
        </p:nvSpPr>
        <p:spPr>
          <a:xfrm>
            <a:off x="288036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rs2-img" descr="s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827" y="4972507"/>
            <a:ext cx="844906" cy="844906"/>
          </a:xfrm>
          <a:prstGeom prst="rect">
            <a:avLst/>
          </a:prstGeom>
        </p:spPr>
      </p:pic>
      <p:sp>
        <p:nvSpPr>
          <p:cNvPr id="29" name="rs3-tile"/>
          <p:cNvSpPr/>
          <p:nvPr/>
        </p:nvSpPr>
        <p:spPr>
          <a:xfrm>
            <a:off x="397764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rs3-img" descr="s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107" y="4972507"/>
            <a:ext cx="844906" cy="844906"/>
          </a:xfrm>
          <a:prstGeom prst="rect">
            <a:avLst/>
          </a:prstGeom>
        </p:spPr>
      </p:pic>
      <p:sp>
        <p:nvSpPr>
          <p:cNvPr id="31" name="rs4-tile"/>
          <p:cNvSpPr/>
          <p:nvPr/>
        </p:nvSpPr>
        <p:spPr>
          <a:xfrm>
            <a:off x="507492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rs4-img" descr="s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5387" y="4972507"/>
            <a:ext cx="844906" cy="844906"/>
          </a:xfrm>
          <a:prstGeom prst="rect">
            <a:avLst/>
          </a:prstGeom>
        </p:spPr>
      </p:pic>
      <p:sp>
        <p:nvSpPr>
          <p:cNvPr id="33" name="rs5-tile"/>
          <p:cNvSpPr/>
          <p:nvPr/>
        </p:nvSpPr>
        <p:spPr>
          <a:xfrm>
            <a:off x="6172200" y="4892040"/>
            <a:ext cx="100584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2DA"/>
            </a:solidFill>
          </a:ln>
          <a:effectLst>
            <a:outerShdw blurRad="330200" dist="88900" dir="5400000" algn="ctr" rotWithShape="0">
              <a:srgbClr val="1A14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rs5-img" descr="s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667" y="4972507"/>
            <a:ext cx="844906" cy="844906"/>
          </a:xfrm>
          <a:prstGeom prst="rect">
            <a:avLst/>
          </a:prstGeom>
        </p:spPr>
      </p:pic>
      <p:sp>
        <p:nvSpPr>
          <p:cNvPr id="35" name="ask"/>
          <p:cNvSpPr/>
          <p:nvPr/>
        </p:nvSpPr>
        <p:spPr>
          <a:xfrm>
            <a:off x="7680960" y="1737360"/>
            <a:ext cx="3977639" cy="4343400"/>
          </a:xfrm>
          <a:prstGeom prst="roundRect">
            <a:avLst>
              <a:gd name="adj" fmla="val 6000"/>
            </a:avLst>
          </a:prstGeom>
          <a:solidFill>
            <a:srgbClr val="14161A"/>
          </a:solidFill>
          <a:ln>
            <a:noFill/>
          </a:ln>
          <a:effectLst>
            <a:outerShdw blurRad="457200" dist="127000" dir="5400000" algn="ctr" rotWithShape="0">
              <a:srgbClr val="1A14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sk-bg"/>
          <p:cNvSpPr/>
          <p:nvPr/>
        </p:nvSpPr>
        <p:spPr>
          <a:xfrm>
            <a:off x="7955279" y="1965960"/>
            <a:ext cx="731520" cy="7315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ask-ic" descr="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6213" y="2126894"/>
            <a:ext cx="409652" cy="409652"/>
          </a:xfrm>
          <a:prstGeom prst="rect">
            <a:avLst/>
          </a:prstGeom>
        </p:spPr>
      </p:pic>
      <p:sp>
        <p:nvSpPr>
          <p:cNvPr id="38" name="ask-t"/>
          <p:cNvSpPr txBox="1"/>
          <p:nvPr/>
        </p:nvSpPr>
        <p:spPr>
          <a:xfrm>
            <a:off x="7955279" y="2788920"/>
            <a:ext cx="347472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・商品マスター（成分・内容量・使用期限）の提供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Барааны мэдээллийн сан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Тайлбар, албан ёсны зураг ашиглах зөвшөөрөл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Yu Gothic UI"/>
              </a:rPr>
              <a:t>・物流・決済立ち上げへの投資と提携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B8BDC4"/>
                </a:solidFill>
                <a:latin typeface="Segoe UI"/>
              </a:rPr>
              <a:t>　Логистик, төлбөрт хөрөнгө оруулалт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2C94C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9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